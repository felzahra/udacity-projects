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77" r:id="rId13"/>
    <p:sldId id="267" r:id="rId14"/>
    <p:sldId id="268" r:id="rId15"/>
    <p:sldId id="269" r:id="rId16"/>
    <p:sldId id="270" r:id="rId17"/>
    <p:sldId id="278" r:id="rId18"/>
    <p:sldId id="271" r:id="rId19"/>
    <p:sldId id="272" r:id="rId20"/>
    <p:sldId id="273" r:id="rId21"/>
    <p:sldId id="274" r:id="rId22"/>
    <p:sldId id="275" r:id="rId23"/>
    <p:sldId id="276" r:id="rId24"/>
  </p:sldIdLst>
  <p:sldSz cx="7772400" cy="10058400"/>
  <p:notesSz cx="6858000" cy="9144000"/>
  <p:embeddedFontLst>
    <p:embeddedFont>
      <p:font typeface="Helvetica Neue" panose="020B0604020202020204" charset="0"/>
      <p:regular r:id="rId26"/>
      <p:bold r:id="rId27"/>
      <p:italic r:id="rId28"/>
      <p:boldItalic r:id="rId29"/>
    </p:embeddedFont>
    <p:embeddedFont>
      <p:font typeface="Open Sans Light" panose="020B0306030504020204" pitchFamily="34" charset="0"/>
      <p:regular r:id="rId30"/>
      <p:bold r:id="rId31"/>
      <p:italic r:id="rId32"/>
      <p:boldItalic r:id="rId33"/>
    </p:embeddedFont>
    <p:embeddedFont>
      <p:font typeface="Open Sans" panose="020B060603050402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A72D16B-5AA9-4E4A-B3CA-297A1D49E447}">
  <a:tblStyle styleId="{1A72D16B-5AA9-4E4A-B3CA-297A1D49E44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672" y="62"/>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2cd1c77ac7f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2cd1c77ac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2cd1c77ac7f_0_63: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2cd1c77ac7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2e0aaececd1_0_1: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2e0aaececd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e061ad7875_0_4: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2e061ad787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e0aaececd1_0_8: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e0aaececd1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abe88b6f23_0_45: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abe88b6f2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e0aaececd1_0_1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e0aaececd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e0aaececd1_0_2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e0aaececd1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e0aaececd1_0_3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e0aaececd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e0aaececd1_0_43: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e0aaececd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e0aaececd1_0_4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e0aaececd1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e0aaececd1_0_6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e0aaececd1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e0aaececd1_0_7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e0aaececd1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e0aaececd1_0_8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e0aaececd1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e0aaececd1_0_9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e0aaececd1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e0aaececd1_0_10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e0aaececd1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d29931d42e_0_4: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29931d42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e0aaececd1_0_10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e0aaececd1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e0aaececd1_0_117: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e0aaececd1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e0aaececd1_0_12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e0aaececd1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e0aaececd1_0_135: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e0aaececd1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2B3E4"/>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600">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 name="Google Shape;12;p2"/>
          <p:cNvSpPr txBox="1">
            <a:spLocks noGrp="1"/>
          </p:cNvSpPr>
          <p:nvPr>
            <p:ph type="title" idx="2"/>
          </p:nvPr>
        </p:nvSpPr>
        <p:spPr>
          <a:xfrm>
            <a:off x="264895" y="8409771"/>
            <a:ext cx="7242600" cy="1119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600">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 name="Google Shape;13;p2"/>
          <p:cNvPicPr preferRelativeResize="0"/>
          <p:nvPr/>
        </p:nvPicPr>
        <p:blipFill>
          <a:blip r:embed="rId2">
            <a:alphaModFix/>
          </a:blip>
          <a:stretch>
            <a:fillRect/>
          </a:stretch>
        </p:blipFill>
        <p:spPr>
          <a:xfrm>
            <a:off x="0" y="0"/>
            <a:ext cx="7772401" cy="870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_HEADER_1">
    <p:bg>
      <p:bgPr>
        <a:solidFill>
          <a:srgbClr val="2D3D49"/>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64900" y="2160200"/>
            <a:ext cx="7242600" cy="255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400"/>
              <a:buFont typeface="Open Sans Light"/>
              <a:buNone/>
              <a:defRPr sz="4400">
                <a:solidFill>
                  <a:schemeClr val="lt1"/>
                </a:solidFill>
                <a:latin typeface="Open Sans Light"/>
                <a:ea typeface="Open Sans Light"/>
                <a:cs typeface="Open Sans Light"/>
                <a:sym typeface="Open Sans Light"/>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pic>
        <p:nvPicPr>
          <p:cNvPr id="16" name="Google Shape;16;p3"/>
          <p:cNvPicPr preferRelativeResize="0"/>
          <p:nvPr/>
        </p:nvPicPr>
        <p:blipFill>
          <a:blip r:embed="rId2">
            <a:alphaModFix/>
          </a:blip>
          <a:stretch>
            <a:fillRect/>
          </a:stretch>
        </p:blipFill>
        <p:spPr>
          <a:xfrm>
            <a:off x="7020199" y="154300"/>
            <a:ext cx="530400" cy="530400"/>
          </a:xfrm>
          <a:prstGeom prst="rect">
            <a:avLst/>
          </a:prstGeom>
          <a:noFill/>
          <a:ln>
            <a:noFill/>
          </a:ln>
        </p:spPr>
      </p:pic>
      <p:pic>
        <p:nvPicPr>
          <p:cNvPr id="17" name="Google Shape;17;p3"/>
          <p:cNvPicPr preferRelativeResize="0"/>
          <p:nvPr/>
        </p:nvPicPr>
        <p:blipFill>
          <a:blip r:embed="rId3">
            <a:alphaModFix/>
          </a:blip>
          <a:stretch>
            <a:fillRect/>
          </a:stretch>
        </p:blipFill>
        <p:spPr>
          <a:xfrm>
            <a:off x="837125" y="4561700"/>
            <a:ext cx="1047750" cy="1524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move slide">
  <p:cSld name="SECTION_HEADER_1_1">
    <p:bg>
      <p:bgPr>
        <a:solidFill>
          <a:schemeClr val="lt1"/>
        </a:solid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3200">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p:nvPr/>
        </p:nvSpPr>
        <p:spPr>
          <a:xfrm>
            <a:off x="884150" y="7891976"/>
            <a:ext cx="6004200" cy="1749300"/>
          </a:xfrm>
          <a:prstGeom prst="rect">
            <a:avLst/>
          </a:prstGeom>
          <a:solidFill>
            <a:srgbClr val="DBE2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b="1" i="1">
                <a:solidFill>
                  <a:srgbClr val="15C26B"/>
                </a:solidFill>
                <a:latin typeface="Open Sans"/>
                <a:ea typeface="Open Sans"/>
                <a:cs typeface="Open Sans"/>
                <a:sym typeface="Open Sans"/>
              </a:rPr>
              <a:t>Remove this slide </a:t>
            </a:r>
            <a:endParaRPr sz="3600" b="1" i="1">
              <a:solidFill>
                <a:srgbClr val="15C26B"/>
              </a:solidFill>
              <a:latin typeface="Open Sans"/>
              <a:ea typeface="Open Sans"/>
              <a:cs typeface="Open Sans"/>
              <a:sym typeface="Open Sans"/>
            </a:endParaRPr>
          </a:p>
        </p:txBody>
      </p:sp>
      <p:sp>
        <p:nvSpPr>
          <p:cNvPr id="21" name="Google Shape;21;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914400" lvl="1"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2pPr>
            <a:lvl3pPr marL="1371600" lvl="2"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3pPr>
            <a:lvl4pPr marL="1828800" lvl="3"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4pPr>
            <a:lvl5pPr marL="2286000" lvl="4"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5pPr>
            <a:lvl6pPr marL="2743200" lvl="5"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6pPr>
            <a:lvl7pPr marL="3200400" lvl="6"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7pPr>
            <a:lvl8pPr marL="3657600" lvl="7"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8pPr>
            <a:lvl9pPr marL="4114800" lvl="8" indent="-342900" rtl="0">
              <a:spcBef>
                <a:spcPts val="1600"/>
              </a:spcBef>
              <a:spcAft>
                <a:spcPts val="1600"/>
              </a:spcAft>
              <a:buSzPts val="1800"/>
              <a:buFont typeface="Open Sans Light"/>
              <a:buChar char="■"/>
              <a:defRPr sz="1800">
                <a:latin typeface="Open Sans Light"/>
                <a:ea typeface="Open Sans Light"/>
                <a:cs typeface="Open Sans Light"/>
                <a:sym typeface="Open Sans Light"/>
              </a:defRPr>
            </a:lvl9pPr>
          </a:lstStyle>
          <a:p>
            <a:endParaRPr/>
          </a:p>
        </p:txBody>
      </p:sp>
      <p:pic>
        <p:nvPicPr>
          <p:cNvPr id="22" name="Google Shape;22;p4"/>
          <p:cNvPicPr preferRelativeResize="0"/>
          <p:nvPr/>
        </p:nvPicPr>
        <p:blipFill rotWithShape="1">
          <a:blip r:embed="rId2">
            <a:alphaModFix/>
          </a:blip>
          <a:srcRect/>
          <a:stretch/>
        </p:blipFill>
        <p:spPr>
          <a:xfrm>
            <a:off x="7020199" y="154300"/>
            <a:ext cx="530400" cy="5304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fo Slide">
  <p:cSld name="SECTION_HEADER_1_1_2">
    <p:bg>
      <p:bgPr>
        <a:solidFill>
          <a:schemeClr val="lt1"/>
        </a:solidFill>
        <a:effectLst/>
      </p:bgPr>
    </p:bg>
    <p:spTree>
      <p:nvGrpSpPr>
        <p:cNvPr id="1" name="Shape 23"/>
        <p:cNvGrpSpPr/>
        <p:nvPr/>
      </p:nvGrpSpPr>
      <p:grpSpPr>
        <a:xfrm>
          <a:off x="0" y="0"/>
          <a:ext cx="0" cy="0"/>
          <a:chOff x="0" y="0"/>
          <a:chExt cx="0" cy="0"/>
        </a:xfrm>
      </p:grpSpPr>
      <p:sp>
        <p:nvSpPr>
          <p:cNvPr id="24" name="Google Shape;24;p5"/>
          <p:cNvSpPr txBox="1"/>
          <p:nvPr/>
        </p:nvSpPr>
        <p:spPr>
          <a:xfrm>
            <a:off x="0" y="0"/>
            <a:ext cx="7772400" cy="795900"/>
          </a:xfrm>
          <a:prstGeom prst="rect">
            <a:avLst/>
          </a:prstGeom>
          <a:solidFill>
            <a:srgbClr val="DBE2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i="1">
                <a:solidFill>
                  <a:srgbClr val="15C26B"/>
                </a:solidFill>
                <a:latin typeface="Open Sans"/>
                <a:ea typeface="Open Sans"/>
                <a:cs typeface="Open Sans"/>
                <a:sym typeface="Open Sans"/>
              </a:rPr>
              <a:t>Project Information Slide</a:t>
            </a:r>
            <a:endParaRPr sz="2200" b="1" i="1">
              <a:solidFill>
                <a:srgbClr val="15C26B"/>
              </a:solidFill>
              <a:latin typeface="Open Sans"/>
              <a:ea typeface="Open Sans"/>
              <a:cs typeface="Open Sans"/>
              <a:sym typeface="Open Sans"/>
            </a:endParaRPr>
          </a:p>
        </p:txBody>
      </p:sp>
      <p:sp>
        <p:nvSpPr>
          <p:cNvPr id="25" name="Google Shape;25;p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3200">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914400" lvl="1"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2pPr>
            <a:lvl3pPr marL="1371600" lvl="2"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3pPr>
            <a:lvl4pPr marL="1828800" lvl="3"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4pPr>
            <a:lvl5pPr marL="2286000" lvl="4"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5pPr>
            <a:lvl6pPr marL="2743200" lvl="5"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6pPr>
            <a:lvl7pPr marL="3200400" lvl="6"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7pPr>
            <a:lvl8pPr marL="3657600" lvl="7"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8pPr>
            <a:lvl9pPr marL="4114800" lvl="8" indent="-342900" rtl="0">
              <a:spcBef>
                <a:spcPts val="1600"/>
              </a:spcBef>
              <a:spcAft>
                <a:spcPts val="1600"/>
              </a:spcAft>
              <a:buSzPts val="1800"/>
              <a:buFont typeface="Open Sans Light"/>
              <a:buChar char="■"/>
              <a:defRPr sz="1800">
                <a:latin typeface="Open Sans Light"/>
                <a:ea typeface="Open Sans Light"/>
                <a:cs typeface="Open Sans Light"/>
                <a:sym typeface="Open Sans Ligh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tudent work slide">
  <p:cSld name="SECTION_HEADER_1_1_2_1">
    <p:bg>
      <p:bgPr>
        <a:solidFill>
          <a:schemeClr val="lt1"/>
        </a:solidFill>
        <a:effectLst/>
      </p:bgPr>
    </p:bg>
    <p:spTree>
      <p:nvGrpSpPr>
        <p:cNvPr id="1" name="Shape 27"/>
        <p:cNvGrpSpPr/>
        <p:nvPr/>
      </p:nvGrpSpPr>
      <p:grpSpPr>
        <a:xfrm>
          <a:off x="0" y="0"/>
          <a:ext cx="0" cy="0"/>
          <a:chOff x="0" y="0"/>
          <a:chExt cx="0" cy="0"/>
        </a:xfrm>
      </p:grpSpPr>
      <p:sp>
        <p:nvSpPr>
          <p:cNvPr id="28" name="Google Shape;28;p6"/>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42900" rtl="0">
              <a:spcBef>
                <a:spcPts val="1600"/>
              </a:spcBef>
              <a:spcAft>
                <a:spcPts val="0"/>
              </a:spcAft>
              <a:buSzPts val="1800"/>
              <a:buChar char="○"/>
              <a:defRPr sz="1800"/>
            </a:lvl2pPr>
            <a:lvl3pPr marL="1371600" lvl="2" indent="-342900" rtl="0">
              <a:spcBef>
                <a:spcPts val="1600"/>
              </a:spcBef>
              <a:spcAft>
                <a:spcPts val="0"/>
              </a:spcAft>
              <a:buSzPts val="1800"/>
              <a:buChar char="■"/>
              <a:defRPr sz="1800"/>
            </a:lvl3pPr>
            <a:lvl4pPr marL="1828800" lvl="3" indent="-342900" rtl="0">
              <a:spcBef>
                <a:spcPts val="1600"/>
              </a:spcBef>
              <a:spcAft>
                <a:spcPts val="0"/>
              </a:spcAft>
              <a:buSzPts val="1800"/>
              <a:buChar char="●"/>
              <a:defRPr sz="1800"/>
            </a:lvl4pPr>
            <a:lvl5pPr marL="2286000" lvl="4" indent="-342900" rtl="0">
              <a:spcBef>
                <a:spcPts val="1600"/>
              </a:spcBef>
              <a:spcAft>
                <a:spcPts val="0"/>
              </a:spcAft>
              <a:buSzPts val="1800"/>
              <a:buChar char="○"/>
              <a:defRPr sz="1800"/>
            </a:lvl5pPr>
            <a:lvl6pPr marL="2743200" lvl="5" indent="-342900" rtl="0">
              <a:spcBef>
                <a:spcPts val="1600"/>
              </a:spcBef>
              <a:spcAft>
                <a:spcPts val="0"/>
              </a:spcAft>
              <a:buSzPts val="1800"/>
              <a:buChar char="■"/>
              <a:defRPr sz="1800"/>
            </a:lvl6pPr>
            <a:lvl7pPr marL="3200400" lvl="6" indent="-342900" rtl="0">
              <a:spcBef>
                <a:spcPts val="1600"/>
              </a:spcBef>
              <a:spcAft>
                <a:spcPts val="0"/>
              </a:spcAft>
              <a:buSzPts val="1800"/>
              <a:buChar char="●"/>
              <a:defRPr sz="1800"/>
            </a:lvl7pPr>
            <a:lvl8pPr marL="3657600" lvl="7" indent="-342900" rtl="0">
              <a:spcBef>
                <a:spcPts val="1600"/>
              </a:spcBef>
              <a:spcAft>
                <a:spcPts val="0"/>
              </a:spcAft>
              <a:buSzPts val="1800"/>
              <a:buChar char="○"/>
              <a:defRPr sz="1800"/>
            </a:lvl8pPr>
            <a:lvl9pPr marL="4114800" lvl="8" indent="-342900" rtl="0">
              <a:spcBef>
                <a:spcPts val="1600"/>
              </a:spcBef>
              <a:spcAft>
                <a:spcPts val="1600"/>
              </a:spcAft>
              <a:buSzPts val="1800"/>
              <a:buChar char="■"/>
              <a:defRPr sz="1800"/>
            </a:lvl9pPr>
          </a:lstStyle>
          <a:p>
            <a:endParaRPr/>
          </a:p>
        </p:txBody>
      </p:sp>
      <p:pic>
        <p:nvPicPr>
          <p:cNvPr id="29" name="Google Shape;29;p6"/>
          <p:cNvPicPr preferRelativeResize="0"/>
          <p:nvPr/>
        </p:nvPicPr>
        <p:blipFill rotWithShape="1">
          <a:blip r:embed="rId2">
            <a:alphaModFix/>
          </a:blip>
          <a:srcRect/>
          <a:stretch/>
        </p:blipFill>
        <p:spPr>
          <a:xfrm>
            <a:off x="7020199" y="154300"/>
            <a:ext cx="530400" cy="530400"/>
          </a:xfrm>
          <a:prstGeom prst="rect">
            <a:avLst/>
          </a:prstGeom>
          <a:noFill/>
          <a:ln>
            <a:noFill/>
          </a:ln>
        </p:spPr>
      </p:pic>
      <p:sp>
        <p:nvSpPr>
          <p:cNvPr id="30" name="Google Shape;30;p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2B3E4"/>
              </a:buClr>
              <a:buSzPts val="3200"/>
              <a:buFont typeface="Open Sans Light"/>
              <a:buNone/>
              <a:defRPr sz="3200">
                <a:solidFill>
                  <a:srgbClr val="02B3E4"/>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3" name="Google Shape;33;p7"/>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p:nvPr/>
        </p:nvSpPr>
        <p:spPr>
          <a:xfrm>
            <a:off x="-11" y="964431"/>
            <a:ext cx="32400" cy="9315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264945" y="1000171"/>
            <a:ext cx="7242600" cy="111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Responding to a </a:t>
            </a:r>
            <a:endParaRPr sz="4000"/>
          </a:p>
          <a:p>
            <a:pPr marL="0" lvl="0" indent="0" algn="ctr" rtl="0">
              <a:spcBef>
                <a:spcPts val="0"/>
              </a:spcBef>
              <a:spcAft>
                <a:spcPts val="0"/>
              </a:spcAft>
              <a:buNone/>
            </a:pPr>
            <a:r>
              <a:rPr lang="en" sz="4000"/>
              <a:t>Nation-State Cyber Attack</a:t>
            </a:r>
            <a:endParaRPr sz="4000"/>
          </a:p>
        </p:txBody>
      </p:sp>
      <p:sp>
        <p:nvSpPr>
          <p:cNvPr id="39" name="Google Shape;39;p8"/>
          <p:cNvSpPr txBox="1">
            <a:spLocks noGrp="1"/>
          </p:cNvSpPr>
          <p:nvPr>
            <p:ph type="title"/>
          </p:nvPr>
        </p:nvSpPr>
        <p:spPr>
          <a:xfrm>
            <a:off x="264950" y="8268001"/>
            <a:ext cx="7242600" cy="151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b="1" i="1" dirty="0" smtClean="0">
                <a:latin typeface="Open Sans"/>
                <a:ea typeface="Open Sans"/>
                <a:cs typeface="Open Sans"/>
                <a:sym typeface="Open Sans"/>
              </a:rPr>
              <a:t>[fatma agery]</a:t>
            </a:r>
            <a:endParaRPr sz="4000" b="1" i="1" dirty="0">
              <a:latin typeface="Open Sans"/>
              <a:ea typeface="Open Sans"/>
              <a:cs typeface="Open Sans"/>
              <a:sym typeface="Open Sans"/>
            </a:endParaRPr>
          </a:p>
          <a:p>
            <a:pPr marL="0" lvl="0" indent="0" algn="ctr" rtl="0">
              <a:spcBef>
                <a:spcPts val="0"/>
              </a:spcBef>
              <a:spcAft>
                <a:spcPts val="0"/>
              </a:spcAft>
              <a:buNone/>
            </a:pPr>
            <a:r>
              <a:rPr lang="en" sz="4000" b="1" i="1" smtClean="0">
                <a:latin typeface="Open Sans"/>
                <a:ea typeface="Open Sans"/>
                <a:cs typeface="Open Sans"/>
                <a:sym typeface="Open Sans"/>
              </a:rPr>
              <a:t>2026</a:t>
            </a:r>
            <a:endParaRPr sz="4000" b="1" i="1" dirty="0">
              <a:latin typeface="Open Sans"/>
              <a:ea typeface="Open Sans"/>
              <a:cs typeface="Open Sans"/>
              <a:sym typeface="Open Sans"/>
            </a:endParaRPr>
          </a:p>
        </p:txBody>
      </p:sp>
      <p:pic>
        <p:nvPicPr>
          <p:cNvPr id="40" name="Google Shape;40;p8"/>
          <p:cNvPicPr preferRelativeResize="0"/>
          <p:nvPr/>
        </p:nvPicPr>
        <p:blipFill rotWithShape="1">
          <a:blip r:embed="rId3">
            <a:alphaModFix/>
          </a:blip>
          <a:srcRect t="9548" b="8065"/>
          <a:stretch/>
        </p:blipFill>
        <p:spPr>
          <a:xfrm>
            <a:off x="439899" y="2589075"/>
            <a:ext cx="6892700" cy="5678935"/>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to Use this Template</a:t>
            </a:r>
            <a:endParaRPr/>
          </a:p>
        </p:txBody>
      </p:sp>
      <p:sp>
        <p:nvSpPr>
          <p:cNvPr id="46" name="Google Shape;46;p9"/>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We have provided these slides as a guide to ensure you submit all the required components to complete your project successfully.</a:t>
            </a:r>
            <a:endParaRPr/>
          </a:p>
          <a:p>
            <a:pPr marL="457200" lvl="0" indent="-342900" algn="l" rtl="0">
              <a:spcBef>
                <a:spcPts val="0"/>
              </a:spcBef>
              <a:spcAft>
                <a:spcPts val="0"/>
              </a:spcAft>
              <a:buSzPts val="1800"/>
              <a:buChar char="●"/>
            </a:pPr>
            <a:r>
              <a:rPr lang="en"/>
              <a:t>When presenting your project, remember that these slides are merely a guide. We strongly encourage you to embrace your creative freedom and make changes that reflect your unique vision as long as the required information is present.</a:t>
            </a:r>
            <a:endParaRPr/>
          </a:p>
          <a:p>
            <a:pPr marL="457200" lvl="0" indent="-342900" algn="l" rtl="0">
              <a:spcBef>
                <a:spcPts val="0"/>
              </a:spcBef>
              <a:spcAft>
                <a:spcPts val="0"/>
              </a:spcAft>
              <a:buSzPts val="1800"/>
              <a:buChar char="●"/>
            </a:pPr>
            <a:r>
              <a:rPr lang="en"/>
              <a:t>You can add slides to the template when your answers or screenshots do not fit on the previously provided pages.</a:t>
            </a:r>
            <a:endParaRPr/>
          </a:p>
          <a:p>
            <a:pPr marL="457200" lvl="0" indent="-342900" algn="l" rtl="0">
              <a:spcBef>
                <a:spcPts val="0"/>
              </a:spcBef>
              <a:spcAft>
                <a:spcPts val="0"/>
              </a:spcAft>
              <a:buSzPts val="1800"/>
              <a:buChar char="●"/>
            </a:pPr>
            <a:r>
              <a:rPr lang="en"/>
              <a:t>Delete this and the next slide before submitting your project.</a:t>
            </a:r>
            <a:endParaRPr/>
          </a:p>
          <a:p>
            <a:pPr marL="457200" lvl="0" indent="-342900" algn="l" rtl="0">
              <a:spcBef>
                <a:spcPts val="0"/>
              </a:spcBef>
              <a:spcAft>
                <a:spcPts val="0"/>
              </a:spcAft>
              <a:buSzPts val="1800"/>
              <a:buFont typeface="Open Sans"/>
              <a:buChar char="●"/>
            </a:pPr>
            <a:r>
              <a:rPr lang="en" b="1">
                <a:latin typeface="Open Sans"/>
                <a:ea typeface="Open Sans"/>
                <a:cs typeface="Open Sans"/>
                <a:sym typeface="Open Sans"/>
              </a:rPr>
              <a:t>Remember to add your name and the date to the cover page.</a:t>
            </a:r>
            <a:endParaRPr b="1">
              <a:latin typeface="Open Sans"/>
              <a:ea typeface="Open Sans"/>
              <a:cs typeface="Open Sans"/>
              <a:sym typeface="Open Sans"/>
            </a:endParaRPr>
          </a:p>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0"/>
          <p:cNvSpPr txBox="1">
            <a:spLocks noGrp="1"/>
          </p:cNvSpPr>
          <p:nvPr>
            <p:ph type="title"/>
          </p:nvPr>
        </p:nvSpPr>
        <p:spPr>
          <a:xfrm>
            <a:off x="264900" y="2160200"/>
            <a:ext cx="7242600" cy="2553900"/>
          </a:xfrm>
          <a:prstGeom prst="rect">
            <a:avLst/>
          </a:prstGeom>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en"/>
              <a:t>Project Scenario</a:t>
            </a:r>
            <a:endParaRPr/>
          </a:p>
        </p:txBody>
      </p:sp>
      <p:sp>
        <p:nvSpPr>
          <p:cNvPr id="52" name="Google Shape;52;p10"/>
          <p:cNvSpPr txBox="1">
            <a:spLocks noGrp="1"/>
          </p:cNvSpPr>
          <p:nvPr>
            <p:ph type="title" idx="4294967295"/>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Digital Project Management</a:t>
            </a: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Are We Doing?</a:t>
            </a:r>
            <a:endParaRPr/>
          </a:p>
        </p:txBody>
      </p:sp>
      <p:sp>
        <p:nvSpPr>
          <p:cNvPr id="58" name="Google Shape;58;p11"/>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p>
            <a:pPr marL="0" marR="0" lvl="0" indent="0" algn="l" rtl="0">
              <a:lnSpc>
                <a:spcPct val="150000"/>
              </a:lnSpc>
              <a:spcBef>
                <a:spcPts val="0"/>
              </a:spcBef>
              <a:spcAft>
                <a:spcPts val="0"/>
              </a:spcAft>
              <a:buNone/>
            </a:pPr>
            <a:r>
              <a:rPr lang="en" b="1">
                <a:solidFill>
                  <a:schemeClr val="dk1"/>
                </a:solidFill>
                <a:latin typeface="Open Sans"/>
                <a:ea typeface="Open Sans"/>
                <a:cs typeface="Open Sans"/>
                <a:sym typeface="Open Sans"/>
              </a:rPr>
              <a:t>South Udan</a:t>
            </a:r>
            <a:r>
              <a:rPr lang="en">
                <a:solidFill>
                  <a:schemeClr val="dk1"/>
                </a:solidFill>
              </a:rPr>
              <a:t> is a small island nation that is a peaceful and technologically advanced nation! Because of its small size, the country believes in efficiently using its land and natural resources. Their scientists recently came up with a novel and cleaner means of performing nuclear fission of an element called Tridanium. This allows them to generate 100 times more energy and drastically reduce nuclear waste, thus making it the most efficient and clean way to generate electricity. This enabled them to generate cleaner and cheaper electricity, thus improving the lives of their citizens.</a:t>
            </a:r>
            <a:endParaRPr>
              <a:solidFill>
                <a:schemeClr val="dk1"/>
              </a:solidFill>
            </a:endParaRPr>
          </a:p>
          <a:p>
            <a:pPr marL="0" marR="0" lvl="0" indent="0" algn="l" rtl="0">
              <a:lnSpc>
                <a:spcPct val="150000"/>
              </a:lnSpc>
              <a:spcBef>
                <a:spcPts val="0"/>
              </a:spcBef>
              <a:spcAft>
                <a:spcPts val="0"/>
              </a:spcAft>
              <a:buNone/>
            </a:pPr>
            <a:endParaRPr>
              <a:solidFill>
                <a:schemeClr val="dk1"/>
              </a:solidFill>
            </a:endParaRPr>
          </a:p>
          <a:p>
            <a:pPr marL="0" marR="0" lvl="0" indent="0" algn="l" rtl="0">
              <a:lnSpc>
                <a:spcPct val="150000"/>
              </a:lnSpc>
              <a:spcBef>
                <a:spcPts val="0"/>
              </a:spcBef>
              <a:spcAft>
                <a:spcPts val="0"/>
              </a:spcAft>
              <a:buNone/>
            </a:pPr>
            <a:r>
              <a:rPr lang="en" b="1">
                <a:solidFill>
                  <a:schemeClr val="dk1"/>
                </a:solidFill>
                <a:latin typeface="Open Sans"/>
                <a:ea typeface="Open Sans"/>
                <a:cs typeface="Open Sans"/>
                <a:sym typeface="Open Sans"/>
              </a:rPr>
              <a:t>North Udan</a:t>
            </a:r>
            <a:r>
              <a:rPr lang="en">
                <a:solidFill>
                  <a:schemeClr val="dk1"/>
                </a:solidFill>
              </a:rPr>
              <a:t> was extremely jealous of the progress of their neighbors. They still rely on using coal and other fossil fuels which are known to speed up global warming. In order to disrupt South Udan program, the government of North Udan decides to launch a cyberattack on South Udan Tridanium processing plant and disrupt its operation.</a:t>
            </a:r>
            <a:endParaRPr>
              <a:solidFill>
                <a:schemeClr val="dk1"/>
              </a:solidFill>
            </a:endParaRPr>
          </a:p>
          <a:p>
            <a:pPr marL="0" marR="0" lvl="0" indent="0" algn="l" rtl="0">
              <a:lnSpc>
                <a:spcPct val="150000"/>
              </a:lnSpc>
              <a:spcBef>
                <a:spcPts val="0"/>
              </a:spcBef>
              <a:spcAft>
                <a:spcPts val="0"/>
              </a:spcAft>
              <a:buNone/>
            </a:pPr>
            <a:endParaRPr>
              <a:solidFill>
                <a:schemeClr val="dk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12"/>
          <p:cNvPicPr preferRelativeResize="0"/>
          <p:nvPr/>
        </p:nvPicPr>
        <p:blipFill>
          <a:blip r:embed="rId3">
            <a:alphaModFix/>
          </a:blip>
          <a:stretch>
            <a:fillRect/>
          </a:stretch>
        </p:blipFill>
        <p:spPr>
          <a:xfrm>
            <a:off x="753539" y="7515600"/>
            <a:ext cx="6265426" cy="2691750"/>
          </a:xfrm>
          <a:prstGeom prst="rect">
            <a:avLst/>
          </a:prstGeom>
          <a:noFill/>
          <a:ln>
            <a:noFill/>
          </a:ln>
        </p:spPr>
      </p:pic>
      <p:sp>
        <p:nvSpPr>
          <p:cNvPr id="64" name="Google Shape;64;p1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Are We Doing?</a:t>
            </a:r>
            <a:endParaRPr/>
          </a:p>
        </p:txBody>
      </p:sp>
      <p:sp>
        <p:nvSpPr>
          <p:cNvPr id="65" name="Google Shape;65;p12"/>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p>
            <a:pPr marL="0" marR="0" lvl="0" indent="0" algn="l" rtl="0">
              <a:lnSpc>
                <a:spcPct val="150000"/>
              </a:lnSpc>
              <a:spcBef>
                <a:spcPts val="0"/>
              </a:spcBef>
              <a:spcAft>
                <a:spcPts val="0"/>
              </a:spcAft>
              <a:buNone/>
            </a:pPr>
            <a:r>
              <a:rPr lang="en" b="1">
                <a:solidFill>
                  <a:schemeClr val="dk1"/>
                </a:solidFill>
                <a:latin typeface="Open Sans"/>
                <a:ea typeface="Open Sans"/>
                <a:cs typeface="Open Sans"/>
                <a:sym typeface="Open Sans"/>
              </a:rPr>
              <a:t>The National Peace Agency of North Udan</a:t>
            </a:r>
            <a:r>
              <a:rPr lang="en">
                <a:solidFill>
                  <a:schemeClr val="dk1"/>
                </a:solidFill>
              </a:rPr>
              <a:t>, which is an undercover organization that runs the nation-state espionage program, launches an attack during a national holiday in South Udan (the holiday marks 50 years of border separation of the two nations). They manage to compromise a linux server which serves as a jump host to connect the Tridanium processing plant to the internet. They attempted to brute force the password of an employee account which triggered a security alarm. You have been immediately called onboard to respond to the security alarm and contain the ongoing cyberattack. You will begin the investigation from the compromised jump box to detect and mitigate the threats. Since it's a mission-critical server, you are also tasked with immediately hardening the server to proactively defeat future attacks from North Udan.</a:t>
            </a:r>
            <a:endParaRPr>
              <a:solidFill>
                <a:schemeClr val="dk1"/>
              </a:solidFill>
            </a:endParaRPr>
          </a:p>
          <a:p>
            <a:pPr marL="0" marR="0" lvl="0" indent="0" algn="l" rtl="0">
              <a:lnSpc>
                <a:spcPct val="150000"/>
              </a:lnSpc>
              <a:spcBef>
                <a:spcPts val="0"/>
              </a:spcBef>
              <a:spcAft>
                <a:spcPts val="0"/>
              </a:spcAft>
              <a:buNone/>
            </a:pPr>
            <a:endParaRPr>
              <a:solidFill>
                <a:schemeClr val="dk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3"/>
          <p:cNvSpPr txBox="1">
            <a:spLocks noGrp="1"/>
          </p:cNvSpPr>
          <p:nvPr>
            <p:ph type="title"/>
          </p:nvPr>
        </p:nvSpPr>
        <p:spPr>
          <a:xfrm>
            <a:off x="264900" y="2160200"/>
            <a:ext cx="7242600" cy="255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 One:</a:t>
            </a:r>
            <a:endParaRPr/>
          </a:p>
          <a:p>
            <a:pPr marL="0" lvl="0" indent="0" algn="l" rtl="0">
              <a:lnSpc>
                <a:spcPct val="150000"/>
              </a:lnSpc>
              <a:spcBef>
                <a:spcPts val="0"/>
              </a:spcBef>
              <a:spcAft>
                <a:spcPts val="0"/>
              </a:spcAft>
              <a:buNone/>
            </a:pPr>
            <a:r>
              <a:rPr lang="en"/>
              <a:t>Detection</a:t>
            </a:r>
            <a:endParaRPr/>
          </a:p>
        </p:txBody>
      </p:sp>
      <p:sp>
        <p:nvSpPr>
          <p:cNvPr id="71" name="Google Shape;71;p13"/>
          <p:cNvSpPr txBox="1">
            <a:spLocks noGrp="1"/>
          </p:cNvSpPr>
          <p:nvPr>
            <p:ph type="title" idx="4294967295"/>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Digital Project Management</a:t>
            </a: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ClamAV Scan</a:t>
            </a:r>
            <a:endParaRPr/>
          </a:p>
        </p:txBody>
      </p:sp>
      <p:sp>
        <p:nvSpPr>
          <p:cNvPr id="77" name="Google Shape;77;p14"/>
          <p:cNvSpPr txBox="1">
            <a:spLocks noGrp="1"/>
          </p:cNvSpPr>
          <p:nvPr>
            <p:ph type="body" idx="1"/>
          </p:nvPr>
        </p:nvSpPr>
        <p:spPr>
          <a:xfrm>
            <a:off x="305275" y="1990177"/>
            <a:ext cx="7242600" cy="223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2"/>
                </a:solidFill>
                <a:latin typeface="Open Sans Light"/>
                <a:ea typeface="Open Sans Light"/>
                <a:cs typeface="Open Sans Light"/>
                <a:sym typeface="Open Sans Light"/>
              </a:rPr>
              <a:t>As a first threat detection measure, you will have to perform an antivirus scan on the system to determine the malware files planted by the National Peace Agency on the processing plant’s server. Launch ClamAV malware scanner and perform a scan on the ‘Downloads’ directory (/home/ubuntu/Downloads/). Paste the scan results below:</a:t>
            </a:r>
            <a:endParaRPr sz="2000" b="1" i="1"/>
          </a:p>
        </p:txBody>
      </p:sp>
      <p:graphicFrame>
        <p:nvGraphicFramePr>
          <p:cNvPr id="78" name="Google Shape;78;p14"/>
          <p:cNvGraphicFramePr/>
          <p:nvPr>
            <p:extLst>
              <p:ext uri="{D42A27DB-BD31-4B8C-83A1-F6EECF244321}">
                <p14:modId xmlns:p14="http://schemas.microsoft.com/office/powerpoint/2010/main" val="4029005681"/>
              </p:ext>
            </p:extLst>
          </p:nvPr>
        </p:nvGraphicFramePr>
        <p:xfrm>
          <a:off x="305275" y="4229975"/>
          <a:ext cx="7242600" cy="5375900"/>
        </p:xfrm>
        <a:graphic>
          <a:graphicData uri="http://schemas.openxmlformats.org/drawingml/2006/table">
            <a:tbl>
              <a:tblPr>
                <a:noFill/>
                <a:tableStyleId>{1A72D16B-5AA9-4E4A-B3CA-297A1D49E447}</a:tableStyleId>
              </a:tblPr>
              <a:tblGrid>
                <a:gridCol w="7242600">
                  <a:extLst>
                    <a:ext uri="{9D8B030D-6E8A-4147-A177-3AD203B41FA5}">
                      <a16:colId xmlns:a16="http://schemas.microsoft.com/office/drawing/2014/main" val="20000"/>
                    </a:ext>
                  </a:extLst>
                </a:gridCol>
              </a:tblGrid>
              <a:tr h="5375900">
                <a:tc>
                  <a:txBody>
                    <a:bodyPr/>
                    <a:lstStyle/>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#report all the detected filenames and the malware names identified by </a:t>
                      </a:r>
                      <a:r>
                        <a:rPr lang="en-US" sz="1800" i="1" dirty="0" err="1" smtClean="0">
                          <a:solidFill>
                            <a:schemeClr val="dk2"/>
                          </a:solidFill>
                          <a:latin typeface="Open Sans Light"/>
                          <a:ea typeface="Open Sans Light"/>
                          <a:cs typeface="Open Sans Light"/>
                          <a:sym typeface="Open Sans Light"/>
                        </a:rPr>
                        <a:t>ClamAV</a:t>
                      </a:r>
                      <a:r>
                        <a:rPr lang="en-US" sz="1800" i="1" dirty="0" smtClean="0">
                          <a:solidFill>
                            <a:schemeClr val="dk2"/>
                          </a:solidFill>
                          <a:latin typeface="Open Sans Light"/>
                          <a:ea typeface="Open Sans Light"/>
                          <a:cs typeface="Open Sans Light"/>
                          <a:sym typeface="Open Sans Light"/>
                        </a:rPr>
                        <a:t>.</a:t>
                      </a:r>
                    </a:p>
                    <a:p>
                      <a:pPr marL="0" lvl="0" indent="0" algn="l" rtl="0">
                        <a:spcBef>
                          <a:spcPts val="0"/>
                        </a:spcBef>
                        <a:spcAft>
                          <a:spcPts val="0"/>
                        </a:spcAft>
                        <a:buNone/>
                      </a:pPr>
                      <a:endParaRPr lang="en-US" sz="1800" i="1" dirty="0" smtClean="0">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Filename		Detection name </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ft32			Unix.Malware.Agent-6774375-0</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ft64			Unix.Malware.Agent-6774336-0</a:t>
                      </a:r>
                    </a:p>
                    <a:p>
                      <a:pPr marL="0" lvl="0" indent="0" algn="l" rtl="0">
                        <a:spcBef>
                          <a:spcPts val="0"/>
                        </a:spcBef>
                        <a:spcAft>
                          <a:spcPts val="0"/>
                        </a:spcAft>
                        <a:buNone/>
                      </a:pPr>
                      <a:r>
                        <a:rPr lang="en-US" sz="1800" i="1" dirty="0" err="1" smtClean="0">
                          <a:solidFill>
                            <a:schemeClr val="dk2"/>
                          </a:solidFill>
                          <a:latin typeface="Open Sans Light"/>
                          <a:ea typeface="Open Sans Light"/>
                          <a:cs typeface="Open Sans Light"/>
                          <a:sym typeface="Open Sans Light"/>
                        </a:rPr>
                        <a:t>wipefs</a:t>
                      </a:r>
                      <a:r>
                        <a:rPr lang="en-US" sz="1800" i="1" dirty="0" smtClean="0">
                          <a:solidFill>
                            <a:schemeClr val="dk2"/>
                          </a:solidFill>
                          <a:latin typeface="Open Sans Light"/>
                          <a:ea typeface="Open Sans Light"/>
                          <a:cs typeface="Open Sans Light"/>
                          <a:sym typeface="Open Sans Light"/>
                        </a:rPr>
                        <a:t>			Unix.Tool.Miner-6443173-0</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Suspicious File Identification</a:t>
            </a:r>
            <a:endParaRPr/>
          </a:p>
        </p:txBody>
      </p:sp>
      <p:sp>
        <p:nvSpPr>
          <p:cNvPr id="84" name="Google Shape;84;p15"/>
          <p:cNvSpPr txBox="1">
            <a:spLocks noGrp="1"/>
          </p:cNvSpPr>
          <p:nvPr>
            <p:ph type="body" idx="1"/>
          </p:nvPr>
        </p:nvSpPr>
        <p:spPr>
          <a:xfrm>
            <a:off x="305275" y="1990177"/>
            <a:ext cx="7242600" cy="223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2"/>
                </a:solidFill>
                <a:latin typeface="Open Sans Light"/>
                <a:ea typeface="Open Sans Light"/>
                <a:cs typeface="Open Sans Light"/>
                <a:sym typeface="Open Sans Light"/>
              </a:rPr>
              <a:t>You know that the National Peace Agency has an advanced infiltration group. As a curious investigator, you still want to explore other files available in the Downloads folder, despite the ClamAV scan detecting some files as malware. Can you spot one more suspicious file which should have been a cause of infection but managed to defeat your ClamAV scan? Find this filename and the embedded callout URLs hardcoded in this file. This callout domain is the Command &amp; control server of the National Peace agency. </a:t>
            </a:r>
            <a:endParaRPr>
              <a:solidFill>
                <a:schemeClr val="dk2"/>
              </a:solidFill>
              <a:latin typeface="Open Sans Light"/>
              <a:ea typeface="Open Sans Light"/>
              <a:cs typeface="Open Sans Light"/>
              <a:sym typeface="Open Sans Light"/>
            </a:endParaRPr>
          </a:p>
        </p:txBody>
      </p:sp>
      <p:graphicFrame>
        <p:nvGraphicFramePr>
          <p:cNvPr id="85" name="Google Shape;85;p15"/>
          <p:cNvGraphicFramePr/>
          <p:nvPr>
            <p:extLst>
              <p:ext uri="{D42A27DB-BD31-4B8C-83A1-F6EECF244321}">
                <p14:modId xmlns:p14="http://schemas.microsoft.com/office/powerpoint/2010/main" val="1173977007"/>
              </p:ext>
            </p:extLst>
          </p:nvPr>
        </p:nvGraphicFramePr>
        <p:xfrm>
          <a:off x="305275" y="5029200"/>
          <a:ext cx="7202300" cy="1835043"/>
        </p:xfrm>
        <a:graphic>
          <a:graphicData uri="http://schemas.openxmlformats.org/drawingml/2006/table">
            <a:tbl>
              <a:tblPr>
                <a:noFill/>
                <a:tableStyleId>{1A72D16B-5AA9-4E4A-B3CA-297A1D49E447}</a:tableStyleId>
              </a:tblPr>
              <a:tblGrid>
                <a:gridCol w="2588350">
                  <a:extLst>
                    <a:ext uri="{9D8B030D-6E8A-4147-A177-3AD203B41FA5}">
                      <a16:colId xmlns:a16="http://schemas.microsoft.com/office/drawing/2014/main" val="20000"/>
                    </a:ext>
                  </a:extLst>
                </a:gridCol>
                <a:gridCol w="4613950">
                  <a:extLst>
                    <a:ext uri="{9D8B030D-6E8A-4147-A177-3AD203B41FA5}">
                      <a16:colId xmlns:a16="http://schemas.microsoft.com/office/drawing/2014/main" val="20001"/>
                    </a:ext>
                  </a:extLst>
                </a:gridCol>
              </a:tblGrid>
              <a:tr h="0">
                <a:tc>
                  <a:txBody>
                    <a:bodyPr/>
                    <a:lstStyle/>
                    <a:p>
                      <a:pPr marL="0" lvl="0" indent="0" algn="l" rtl="0">
                        <a:lnSpc>
                          <a:spcPct val="115000"/>
                        </a:lnSpc>
                        <a:spcBef>
                          <a:spcPts val="0"/>
                        </a:spcBef>
                        <a:spcAft>
                          <a:spcPts val="1600"/>
                        </a:spcAft>
                        <a:buClr>
                          <a:schemeClr val="dk1"/>
                        </a:buClr>
                        <a:buSzPts val="1100"/>
                        <a:buFont typeface="Arial"/>
                        <a:buNone/>
                      </a:pPr>
                      <a:r>
                        <a:rPr lang="en" sz="1800">
                          <a:solidFill>
                            <a:schemeClr val="dk2"/>
                          </a:solidFill>
                          <a:latin typeface="Open Sans"/>
                          <a:ea typeface="Open Sans"/>
                          <a:cs typeface="Open Sans"/>
                          <a:sym typeface="Open Sans"/>
                        </a:rPr>
                        <a:t>Suspicious file name:</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SSH-One</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1336725">
                <a:tc>
                  <a:txBody>
                    <a:bodyPr/>
                    <a:lstStyle/>
                    <a:p>
                      <a:pPr marL="0" lvl="0" indent="0" algn="l" rtl="0">
                        <a:spcBef>
                          <a:spcPts val="0"/>
                        </a:spcBef>
                        <a:spcAft>
                          <a:spcPts val="0"/>
                        </a:spcAft>
                        <a:buNone/>
                      </a:pPr>
                      <a:r>
                        <a:rPr lang="en" sz="1800">
                          <a:solidFill>
                            <a:schemeClr val="dk2"/>
                          </a:solidFill>
                          <a:latin typeface="Open Sans"/>
                          <a:ea typeface="Open Sans"/>
                          <a:cs typeface="Open Sans"/>
                          <a:sym typeface="Open Sans"/>
                        </a:rPr>
                        <a:t>Callout URLs:</a:t>
                      </a:r>
                      <a:endParaRPr>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http://darkl0rd.com:7758</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Yara Rule Creation</a:t>
            </a:r>
            <a:endParaRPr/>
          </a:p>
        </p:txBody>
      </p:sp>
      <p:sp>
        <p:nvSpPr>
          <p:cNvPr id="91" name="Google Shape;91;p16"/>
          <p:cNvSpPr txBox="1">
            <a:spLocks noGrp="1"/>
          </p:cNvSpPr>
          <p:nvPr>
            <p:ph type="body" idx="1"/>
          </p:nvPr>
        </p:nvSpPr>
        <p:spPr>
          <a:xfrm>
            <a:off x="305275" y="1990177"/>
            <a:ext cx="7242600" cy="223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2"/>
                </a:solidFill>
                <a:latin typeface="Open Sans Light"/>
                <a:ea typeface="Open Sans Light"/>
                <a:cs typeface="Open Sans Light"/>
                <a:sym typeface="Open Sans Light"/>
              </a:rPr>
              <a:t>Once you have ensured the presence of a unique malware file that could not be detected through ClamAV scan, you also want to ensure that there is a signature or rule in place so that you can scan your other servers for the presence of the same file. Create a Yara rule file that can be compiled with ClamAV to detect the unique malware you have identified in the task above. Paste the Yara rule below:</a:t>
            </a:r>
            <a:endParaRPr sz="2000" b="1" i="1"/>
          </a:p>
        </p:txBody>
      </p:sp>
      <p:graphicFrame>
        <p:nvGraphicFramePr>
          <p:cNvPr id="92" name="Google Shape;92;p16"/>
          <p:cNvGraphicFramePr/>
          <p:nvPr>
            <p:extLst>
              <p:ext uri="{D42A27DB-BD31-4B8C-83A1-F6EECF244321}">
                <p14:modId xmlns:p14="http://schemas.microsoft.com/office/powerpoint/2010/main" val="2673274627"/>
              </p:ext>
            </p:extLst>
          </p:nvPr>
        </p:nvGraphicFramePr>
        <p:xfrm>
          <a:off x="305275" y="4463325"/>
          <a:ext cx="7242600" cy="5142550"/>
        </p:xfrm>
        <a:graphic>
          <a:graphicData uri="http://schemas.openxmlformats.org/drawingml/2006/table">
            <a:tbl>
              <a:tblPr>
                <a:noFill/>
                <a:tableStyleId>{1A72D16B-5AA9-4E4A-B3CA-297A1D49E447}</a:tableStyleId>
              </a:tblPr>
              <a:tblGrid>
                <a:gridCol w="7242600">
                  <a:extLst>
                    <a:ext uri="{9D8B030D-6E8A-4147-A177-3AD203B41FA5}">
                      <a16:colId xmlns:a16="http://schemas.microsoft.com/office/drawing/2014/main" val="20000"/>
                    </a:ext>
                  </a:extLst>
                </a:gridCol>
              </a:tblGrid>
              <a:tr h="5142550">
                <a:tc>
                  <a:txBody>
                    <a:bodyPr/>
                    <a:lstStyle/>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rule </a:t>
                      </a:r>
                      <a:r>
                        <a:rPr lang="en-US" sz="1800" i="1" dirty="0" err="1" smtClean="0">
                          <a:solidFill>
                            <a:schemeClr val="dk2"/>
                          </a:solidFill>
                          <a:latin typeface="Open Sans Light"/>
                          <a:ea typeface="Open Sans Light"/>
                          <a:cs typeface="Open Sans Light"/>
                          <a:sym typeface="Open Sans Light"/>
                        </a:rPr>
                        <a:t>unknown_threat</a:t>
                      </a:r>
                      <a:r>
                        <a:rPr lang="en-US" sz="1800" i="1" dirty="0" smtClean="0">
                          <a:solidFill>
                            <a:schemeClr val="dk2"/>
                          </a:solidFill>
                          <a:latin typeface="Open Sans Light"/>
                          <a:ea typeface="Open Sans Light"/>
                          <a:cs typeface="Open Sans Light"/>
                          <a:sym typeface="Open Sans Light"/>
                        </a:rPr>
                        <a:t> {</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meta:</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Author = "@</a:t>
                      </a:r>
                      <a:r>
                        <a:rPr lang="en-US" sz="1800" i="1" dirty="0" err="1" smtClean="0">
                          <a:solidFill>
                            <a:schemeClr val="dk2"/>
                          </a:solidFill>
                          <a:latin typeface="Open Sans Light"/>
                          <a:ea typeface="Open Sans Light"/>
                          <a:cs typeface="Open Sans Light"/>
                          <a:sym typeface="Open Sans Light"/>
                        </a:rPr>
                        <a:t>islam</a:t>
                      </a:r>
                      <a:r>
                        <a:rPr lang="en-US" sz="1800" i="1" dirty="0" smtClean="0">
                          <a:solidFill>
                            <a:schemeClr val="dk2"/>
                          </a:solidFill>
                          <a:latin typeface="Open Sans Light"/>
                          <a:ea typeface="Open Sans Light"/>
                          <a:cs typeface="Open Sans Light"/>
                          <a:sym typeface="Open Sans Light"/>
                        </a:rPr>
                        <a:t>"</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Description = "the rule detects one more malware "</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strings:</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$coma = "</a:t>
                      </a:r>
                      <a:r>
                        <a:rPr lang="en-US" sz="1800" i="1" dirty="0" err="1" smtClean="0">
                          <a:solidFill>
                            <a:schemeClr val="dk2"/>
                          </a:solidFill>
                          <a:latin typeface="Open Sans Light"/>
                          <a:ea typeface="Open Sans Light"/>
                          <a:cs typeface="Open Sans Light"/>
                          <a:sym typeface="Open Sans Light"/>
                        </a:rPr>
                        <a:t>chkconfig</a:t>
                      </a:r>
                      <a:r>
                        <a:rPr lang="en-US" sz="1800" i="1" dirty="0" smtClean="0">
                          <a:solidFill>
                            <a:schemeClr val="dk2"/>
                          </a:solidFill>
                          <a:latin typeface="Open Sans Light"/>
                          <a:ea typeface="Open Sans Light"/>
                          <a:cs typeface="Open Sans Light"/>
                          <a:sym typeface="Open Sans Light"/>
                        </a:rPr>
                        <a:t> </a:t>
                      </a:r>
                      <a:r>
                        <a:rPr lang="en-US" sz="1800" i="1" dirty="0" err="1" smtClean="0">
                          <a:solidFill>
                            <a:schemeClr val="dk2"/>
                          </a:solidFill>
                          <a:latin typeface="Open Sans Light"/>
                          <a:ea typeface="Open Sans Light"/>
                          <a:cs typeface="Open Sans Light"/>
                          <a:sym typeface="Open Sans Light"/>
                        </a:rPr>
                        <a:t>iptables</a:t>
                      </a:r>
                      <a:r>
                        <a:rPr lang="en-US" sz="1800" i="1" dirty="0" smtClean="0">
                          <a:solidFill>
                            <a:schemeClr val="dk2"/>
                          </a:solidFill>
                          <a:latin typeface="Open Sans Light"/>
                          <a:ea typeface="Open Sans Light"/>
                          <a:cs typeface="Open Sans Light"/>
                          <a:sym typeface="Open Sans Light"/>
                        </a:rPr>
                        <a:t> off"</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$mode = "</a:t>
                      </a:r>
                      <a:r>
                        <a:rPr lang="en-US" sz="1800" i="1" dirty="0" err="1" smtClean="0">
                          <a:solidFill>
                            <a:schemeClr val="dk2"/>
                          </a:solidFill>
                          <a:latin typeface="Open Sans Light"/>
                          <a:ea typeface="Open Sans Light"/>
                          <a:cs typeface="Open Sans Light"/>
                          <a:sym typeface="Open Sans Light"/>
                        </a:rPr>
                        <a:t>chmod</a:t>
                      </a:r>
                      <a:r>
                        <a:rPr lang="en-US" sz="1800" i="1" dirty="0" smtClean="0">
                          <a:solidFill>
                            <a:schemeClr val="dk2"/>
                          </a:solidFill>
                          <a:latin typeface="Open Sans Light"/>
                          <a:ea typeface="Open Sans Light"/>
                          <a:cs typeface="Open Sans Light"/>
                          <a:sym typeface="Open Sans Light"/>
                        </a:rPr>
                        <a:t> +x /</a:t>
                      </a:r>
                      <a:r>
                        <a:rPr lang="en-US" sz="1800" i="1" dirty="0" err="1" smtClean="0">
                          <a:solidFill>
                            <a:schemeClr val="dk2"/>
                          </a:solidFill>
                          <a:latin typeface="Open Sans Light"/>
                          <a:ea typeface="Open Sans Light"/>
                          <a:cs typeface="Open Sans Light"/>
                          <a:sym typeface="Open Sans Light"/>
                        </a:rPr>
                        <a:t>tmp</a:t>
                      </a:r>
                      <a:r>
                        <a:rPr lang="en-US" sz="1800" i="1" dirty="0" smtClean="0">
                          <a:solidFill>
                            <a:schemeClr val="dk2"/>
                          </a:solidFill>
                          <a:latin typeface="Open Sans Light"/>
                          <a:ea typeface="Open Sans Light"/>
                          <a:cs typeface="Open Sans Light"/>
                          <a:sym typeface="Open Sans Light"/>
                        </a:rPr>
                        <a:t>/SSH-T"</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$domain = "http://darkl0rd.com:7758"</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condition:</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all of them</a:t>
                      </a:r>
                    </a:p>
                    <a:p>
                      <a:pPr marL="0" lvl="0" indent="0" algn="l" rtl="0">
                        <a:spcBef>
                          <a:spcPts val="0"/>
                        </a:spcBef>
                        <a:spcAft>
                          <a:spcPts val="0"/>
                        </a:spcAft>
                        <a:buNone/>
                      </a:pPr>
                      <a:endParaRPr lang="en-US" sz="1800" i="1" dirty="0" smtClean="0">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a:t>
                      </a:r>
                      <a:endParaRPr lang="en-US" sz="1800" i="1" dirty="0">
                        <a:solidFill>
                          <a:schemeClr val="dk2"/>
                        </a:solidFill>
                        <a:latin typeface="Open Sans Light"/>
                        <a:ea typeface="Open Sans Light"/>
                        <a:cs typeface="Open Sans Light"/>
                        <a:sym typeface="Open Sans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title"/>
          </p:nvPr>
        </p:nvSpPr>
        <p:spPr>
          <a:xfrm>
            <a:off x="264900" y="2160200"/>
            <a:ext cx="7242600" cy="255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 Two:</a:t>
            </a:r>
            <a:endParaRPr/>
          </a:p>
          <a:p>
            <a:pPr marL="0" lvl="0" indent="0" algn="l" rtl="0">
              <a:lnSpc>
                <a:spcPct val="150000"/>
              </a:lnSpc>
              <a:spcBef>
                <a:spcPts val="0"/>
              </a:spcBef>
              <a:spcAft>
                <a:spcPts val="0"/>
              </a:spcAft>
              <a:buNone/>
            </a:pPr>
            <a:r>
              <a:rPr lang="en"/>
              <a:t>Mitigation</a:t>
            </a:r>
            <a:endParaRPr/>
          </a:p>
        </p:txBody>
      </p:sp>
      <p:sp>
        <p:nvSpPr>
          <p:cNvPr id="98" name="Google Shape;98;p17"/>
          <p:cNvSpPr txBox="1">
            <a:spLocks noGrp="1"/>
          </p:cNvSpPr>
          <p:nvPr>
            <p:ph type="title" idx="4294967295"/>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Digital Project Management</a:t>
            </a:r>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Implement HIDS</a:t>
            </a:r>
            <a:endParaRPr/>
          </a:p>
        </p:txBody>
      </p:sp>
      <p:sp>
        <p:nvSpPr>
          <p:cNvPr id="104" name="Google Shape;104;p18"/>
          <p:cNvSpPr txBox="1">
            <a:spLocks noGrp="1"/>
          </p:cNvSpPr>
          <p:nvPr>
            <p:ph type="body" idx="1"/>
          </p:nvPr>
        </p:nvSpPr>
        <p:spPr>
          <a:xfrm>
            <a:off x="305275" y="1990177"/>
            <a:ext cx="7242600" cy="223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a:solidFill>
                  <a:schemeClr val="dk2"/>
                </a:solidFill>
                <a:latin typeface="Open Sans Light"/>
                <a:ea typeface="Open Sans Light"/>
                <a:cs typeface="Open Sans Light"/>
                <a:sym typeface="Open Sans Light"/>
              </a:rPr>
              <a:t>The first security alarm about the ongoing cyberattack came from the Host-Based Intrusion Detection System is about multiple failed login attempts from a foreign IP address. Launch the host IDS and analyze the logs and events captured in the system. To verify that the IDS is up and working, try connecting to the virtual machine via SSH and notice the new login entry created in the IDS web UI. Take a snapshot of the newly created log lines and paste it below.</a:t>
            </a:r>
            <a:endParaRPr dirty="0">
              <a:solidFill>
                <a:schemeClr val="dk2"/>
              </a:solidFill>
              <a:latin typeface="Open Sans Light"/>
              <a:ea typeface="Open Sans Light"/>
              <a:cs typeface="Open Sans Light"/>
              <a:sym typeface="Open Sans 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75" y="4686933"/>
            <a:ext cx="7772400" cy="436984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97480"/>
            <a:ext cx="7772400" cy="4663440"/>
          </a:xfrm>
          <a:prstGeom prst="rect">
            <a:avLst/>
          </a:prstGeom>
        </p:spPr>
      </p:pic>
    </p:spTree>
    <p:extLst>
      <p:ext uri="{BB962C8B-B14F-4D97-AF65-F5344CB8AC3E}">
        <p14:creationId xmlns:p14="http://schemas.microsoft.com/office/powerpoint/2010/main" val="22601445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Locate Suspicious IP</a:t>
            </a:r>
            <a:endParaRPr/>
          </a:p>
        </p:txBody>
      </p:sp>
      <p:sp>
        <p:nvSpPr>
          <p:cNvPr id="111" name="Google Shape;111;p19"/>
          <p:cNvSpPr txBox="1">
            <a:spLocks noGrp="1"/>
          </p:cNvSpPr>
          <p:nvPr>
            <p:ph type="body" idx="1"/>
          </p:nvPr>
        </p:nvSpPr>
        <p:spPr>
          <a:xfrm>
            <a:off x="305275" y="1990173"/>
            <a:ext cx="7242600" cy="4324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2"/>
                </a:solidFill>
                <a:latin typeface="Open Sans Light"/>
                <a:ea typeface="Open Sans Light"/>
                <a:cs typeface="Open Sans Light"/>
                <a:sym typeface="Open Sans Light"/>
              </a:rPr>
              <a:t>Once you have verified that the IDS is working fine, you are now required to collect the next indicator of compromise(IoC), which is the IP address that attempted to break into the system. This IoC will prove significant in attributing the threat actors behind the cyber attack. You were told that the initial security alarm consisted of multiple failed login attempts on the jump host server. To verify that, filter the IDS alerts to specifically look for failed logins followed by a successful one. To further disrupt the network after a successful login, the attackers execute a command to elevate their privilege to system root. Your goal is to identify that IP address which made the logon attempts and then performed privilege escalation to the ‘root’ user. Since the attack happened in 2020, you should search in that year.</a:t>
            </a:r>
            <a:endParaRPr>
              <a:solidFill>
                <a:schemeClr val="dk2"/>
              </a:solidFill>
              <a:latin typeface="Open Sans Light"/>
              <a:ea typeface="Open Sans Light"/>
              <a:cs typeface="Open Sans Light"/>
              <a:sym typeface="Open Sans Light"/>
            </a:endParaRPr>
          </a:p>
        </p:txBody>
      </p:sp>
      <p:graphicFrame>
        <p:nvGraphicFramePr>
          <p:cNvPr id="112" name="Google Shape;112;p19"/>
          <p:cNvGraphicFramePr/>
          <p:nvPr>
            <p:extLst>
              <p:ext uri="{D42A27DB-BD31-4B8C-83A1-F6EECF244321}">
                <p14:modId xmlns:p14="http://schemas.microsoft.com/office/powerpoint/2010/main" val="166956717"/>
              </p:ext>
            </p:extLst>
          </p:nvPr>
        </p:nvGraphicFramePr>
        <p:xfrm>
          <a:off x="285050" y="6374550"/>
          <a:ext cx="7202300" cy="457170"/>
        </p:xfrm>
        <a:graphic>
          <a:graphicData uri="http://schemas.openxmlformats.org/drawingml/2006/table">
            <a:tbl>
              <a:tblPr>
                <a:noFill/>
                <a:tableStyleId>{1A72D16B-5AA9-4E4A-B3CA-297A1D49E447}</a:tableStyleId>
              </a:tblPr>
              <a:tblGrid>
                <a:gridCol w="2211050">
                  <a:extLst>
                    <a:ext uri="{9D8B030D-6E8A-4147-A177-3AD203B41FA5}">
                      <a16:colId xmlns:a16="http://schemas.microsoft.com/office/drawing/2014/main" val="20000"/>
                    </a:ext>
                  </a:extLst>
                </a:gridCol>
                <a:gridCol w="4991250">
                  <a:extLst>
                    <a:ext uri="{9D8B030D-6E8A-4147-A177-3AD203B41FA5}">
                      <a16:colId xmlns:a16="http://schemas.microsoft.com/office/drawing/2014/main" val="20001"/>
                    </a:ext>
                  </a:extLst>
                </a:gridCol>
              </a:tblGrid>
              <a:tr h="412450">
                <a:tc>
                  <a:txBody>
                    <a:bodyPr/>
                    <a:lstStyle/>
                    <a:p>
                      <a:pPr marL="0" lvl="0" indent="0" algn="l" rtl="0">
                        <a:spcBef>
                          <a:spcPts val="0"/>
                        </a:spcBef>
                        <a:spcAft>
                          <a:spcPts val="0"/>
                        </a:spcAft>
                        <a:buNone/>
                      </a:pPr>
                      <a:r>
                        <a:rPr lang="en" sz="1800">
                          <a:solidFill>
                            <a:schemeClr val="dk2"/>
                          </a:solidFill>
                          <a:latin typeface="Open Sans"/>
                          <a:ea typeface="Open Sans"/>
                          <a:cs typeface="Open Sans"/>
                          <a:sym typeface="Open Sans"/>
                        </a:rPr>
                        <a:t>The attacker’s IP:</a:t>
                      </a:r>
                      <a:endParaRPr sz="1800">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800" i="1" dirty="0" smtClean="0">
                          <a:solidFill>
                            <a:schemeClr val="dk2"/>
                          </a:solidFill>
                          <a:latin typeface="Open Sans Light"/>
                          <a:ea typeface="Open Sans Light"/>
                          <a:cs typeface="Open Sans Light"/>
                          <a:sym typeface="Open Sans Light"/>
                        </a:rPr>
                        <a:t>192.168.56.1</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IPtables Rule</a:t>
            </a:r>
            <a:endParaRPr/>
          </a:p>
        </p:txBody>
      </p:sp>
      <p:sp>
        <p:nvSpPr>
          <p:cNvPr id="118" name="Google Shape;118;p20"/>
          <p:cNvSpPr txBox="1">
            <a:spLocks noGrp="1"/>
          </p:cNvSpPr>
          <p:nvPr>
            <p:ph type="body" idx="1"/>
          </p:nvPr>
        </p:nvSpPr>
        <p:spPr>
          <a:xfrm>
            <a:off x="305275" y="1990177"/>
            <a:ext cx="7242600" cy="223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2"/>
                </a:solidFill>
                <a:latin typeface="Open Sans Light"/>
                <a:ea typeface="Open Sans Light"/>
                <a:cs typeface="Open Sans Light"/>
                <a:sym typeface="Open Sans Light"/>
              </a:rPr>
              <a:t>Once you have identified the attacking IP address, you are now required to create an IPtables rule to make sure that any SSH connection requests from this host are blocked in the future. Hopefully, this will stop this agent from the so-called National Peace Agency from connecting again. Report your IP table rule below that will deny SSH access to the attacking IP.</a:t>
            </a:r>
            <a:endParaRPr>
              <a:solidFill>
                <a:schemeClr val="dk2"/>
              </a:solidFill>
              <a:latin typeface="Open Sans Light"/>
              <a:ea typeface="Open Sans Light"/>
              <a:cs typeface="Open Sans Light"/>
              <a:sym typeface="Open Sans Light"/>
            </a:endParaRPr>
          </a:p>
        </p:txBody>
      </p:sp>
      <p:graphicFrame>
        <p:nvGraphicFramePr>
          <p:cNvPr id="119" name="Google Shape;119;p20"/>
          <p:cNvGraphicFramePr/>
          <p:nvPr>
            <p:extLst>
              <p:ext uri="{D42A27DB-BD31-4B8C-83A1-F6EECF244321}">
                <p14:modId xmlns:p14="http://schemas.microsoft.com/office/powerpoint/2010/main" val="933749552"/>
              </p:ext>
            </p:extLst>
          </p:nvPr>
        </p:nvGraphicFramePr>
        <p:xfrm>
          <a:off x="285050" y="4229975"/>
          <a:ext cx="7222500" cy="731490"/>
        </p:xfrm>
        <a:graphic>
          <a:graphicData uri="http://schemas.openxmlformats.org/drawingml/2006/table">
            <a:tbl>
              <a:tblPr>
                <a:noFill/>
                <a:tableStyleId>{1A72D16B-5AA9-4E4A-B3CA-297A1D49E447}</a:tableStyleId>
              </a:tblPr>
              <a:tblGrid>
                <a:gridCol w="1651275">
                  <a:extLst>
                    <a:ext uri="{9D8B030D-6E8A-4147-A177-3AD203B41FA5}">
                      <a16:colId xmlns:a16="http://schemas.microsoft.com/office/drawing/2014/main" val="20000"/>
                    </a:ext>
                  </a:extLst>
                </a:gridCol>
                <a:gridCol w="5571225">
                  <a:extLst>
                    <a:ext uri="{9D8B030D-6E8A-4147-A177-3AD203B41FA5}">
                      <a16:colId xmlns:a16="http://schemas.microsoft.com/office/drawing/2014/main" val="20001"/>
                    </a:ext>
                  </a:extLst>
                </a:gridCol>
              </a:tblGrid>
              <a:tr h="412450">
                <a:tc>
                  <a:txBody>
                    <a:bodyPr/>
                    <a:lstStyle/>
                    <a:p>
                      <a:pPr marL="0" lvl="0" indent="0" algn="l" rtl="0">
                        <a:spcBef>
                          <a:spcPts val="0"/>
                        </a:spcBef>
                        <a:spcAft>
                          <a:spcPts val="0"/>
                        </a:spcAft>
                        <a:buNone/>
                      </a:pPr>
                      <a:r>
                        <a:rPr lang="en" sz="1800">
                          <a:solidFill>
                            <a:schemeClr val="dk2"/>
                          </a:solidFill>
                          <a:latin typeface="Open Sans"/>
                          <a:ea typeface="Open Sans"/>
                          <a:cs typeface="Open Sans"/>
                          <a:sym typeface="Open Sans"/>
                        </a:rPr>
                        <a:t>IPtables rule:</a:t>
                      </a:r>
                      <a:endParaRPr sz="1800">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i="1" dirty="0" err="1" smtClean="0">
                          <a:solidFill>
                            <a:schemeClr val="dk2"/>
                          </a:solidFill>
                          <a:latin typeface="Open Sans Light"/>
                          <a:ea typeface="Open Sans Light"/>
                          <a:cs typeface="Open Sans Light"/>
                          <a:sym typeface="Open Sans Light"/>
                        </a:rPr>
                        <a:t>iptables</a:t>
                      </a:r>
                      <a:r>
                        <a:rPr lang="en-US" sz="1800" i="1" dirty="0" smtClean="0">
                          <a:solidFill>
                            <a:schemeClr val="dk2"/>
                          </a:solidFill>
                          <a:latin typeface="Open Sans Light"/>
                          <a:ea typeface="Open Sans Light"/>
                          <a:cs typeface="Open Sans Light"/>
                          <a:sym typeface="Open Sans Light"/>
                        </a:rPr>
                        <a:t> -I INPUT -s 192.168.56.1 -p </a:t>
                      </a:r>
                      <a:r>
                        <a:rPr lang="en-US" sz="1800" i="1" dirty="0" err="1" smtClean="0">
                          <a:solidFill>
                            <a:schemeClr val="dk2"/>
                          </a:solidFill>
                          <a:latin typeface="Open Sans Light"/>
                          <a:ea typeface="Open Sans Light"/>
                          <a:cs typeface="Open Sans Light"/>
                          <a:sym typeface="Open Sans Light"/>
                        </a:rPr>
                        <a:t>tcp</a:t>
                      </a:r>
                      <a:r>
                        <a:rPr lang="en-US" sz="1800" i="1" dirty="0" smtClean="0">
                          <a:solidFill>
                            <a:schemeClr val="dk2"/>
                          </a:solidFill>
                          <a:latin typeface="Open Sans Light"/>
                          <a:ea typeface="Open Sans Light"/>
                          <a:cs typeface="Open Sans Light"/>
                          <a:sym typeface="Open Sans Light"/>
                        </a:rPr>
                        <a:t> --</a:t>
                      </a:r>
                      <a:r>
                        <a:rPr lang="en-US" sz="1800" i="1" dirty="0" err="1" smtClean="0">
                          <a:solidFill>
                            <a:schemeClr val="dk2"/>
                          </a:solidFill>
                          <a:latin typeface="Open Sans Light"/>
                          <a:ea typeface="Open Sans Light"/>
                          <a:cs typeface="Open Sans Light"/>
                          <a:sym typeface="Open Sans Light"/>
                        </a:rPr>
                        <a:t>dport</a:t>
                      </a:r>
                      <a:r>
                        <a:rPr lang="en-US" sz="1800" i="1" dirty="0" smtClean="0">
                          <a:solidFill>
                            <a:schemeClr val="dk2"/>
                          </a:solidFill>
                          <a:latin typeface="Open Sans Light"/>
                          <a:ea typeface="Open Sans Light"/>
                          <a:cs typeface="Open Sans Light"/>
                          <a:sym typeface="Open Sans Light"/>
                        </a:rPr>
                        <a:t> </a:t>
                      </a:r>
                      <a:r>
                        <a:rPr lang="en-US" sz="1800" i="1" dirty="0" err="1" smtClean="0">
                          <a:solidFill>
                            <a:schemeClr val="dk2"/>
                          </a:solidFill>
                          <a:latin typeface="Open Sans Light"/>
                          <a:ea typeface="Open Sans Light"/>
                          <a:cs typeface="Open Sans Light"/>
                          <a:sym typeface="Open Sans Light"/>
                        </a:rPr>
                        <a:t>ssh</a:t>
                      </a:r>
                      <a:r>
                        <a:rPr lang="en-US" sz="1800" i="1" dirty="0" smtClean="0">
                          <a:solidFill>
                            <a:schemeClr val="dk2"/>
                          </a:solidFill>
                          <a:latin typeface="Open Sans Light"/>
                          <a:ea typeface="Open Sans Light"/>
                          <a:cs typeface="Open Sans Light"/>
                          <a:sym typeface="Open Sans Light"/>
                        </a:rPr>
                        <a:t> -j DROP</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Detect Username, Process &amp; Port</a:t>
            </a:r>
            <a:endParaRPr/>
          </a:p>
        </p:txBody>
      </p:sp>
      <p:sp>
        <p:nvSpPr>
          <p:cNvPr id="125" name="Google Shape;125;p21"/>
          <p:cNvSpPr txBox="1">
            <a:spLocks noGrp="1"/>
          </p:cNvSpPr>
          <p:nvPr>
            <p:ph type="body" idx="1"/>
          </p:nvPr>
        </p:nvSpPr>
        <p:spPr>
          <a:xfrm>
            <a:off x="305275" y="1990171"/>
            <a:ext cx="7242600" cy="612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Open Sans Light"/>
                <a:ea typeface="Open Sans Light"/>
                <a:cs typeface="Open Sans Light"/>
                <a:sym typeface="Open Sans Light"/>
              </a:rPr>
              <a:t>Once the attackers managed to break into the system, they created a backdoor username and launched a process that allows them to log in through a non-standard port number. This is a common tactic implemented by nation-state actors to ensure continuous access to the compromised system. Your goal is:</a:t>
            </a:r>
            <a:endParaRPr>
              <a:solidFill>
                <a:schemeClr val="dk2"/>
              </a:solidFill>
              <a:latin typeface="Open Sans Light"/>
              <a:ea typeface="Open Sans Light"/>
              <a:cs typeface="Open Sans Light"/>
              <a:sym typeface="Open Sans Light"/>
            </a:endParaRPr>
          </a:p>
          <a:p>
            <a:pPr marL="457200" lvl="0" indent="-298450" algn="l" rtl="0">
              <a:spcBef>
                <a:spcPts val="1600"/>
              </a:spcBef>
              <a:spcAft>
                <a:spcPts val="0"/>
              </a:spcAft>
              <a:buClr>
                <a:srgbClr val="0B0B0B"/>
              </a:buClr>
              <a:buSzPts val="1100"/>
              <a:buChar char="●"/>
            </a:pPr>
            <a:r>
              <a:rPr lang="en" b="1">
                <a:solidFill>
                  <a:schemeClr val="dk2"/>
                </a:solidFill>
              </a:rPr>
              <a:t>Identify the rogue username:</a:t>
            </a:r>
            <a:r>
              <a:rPr lang="en">
                <a:solidFill>
                  <a:schemeClr val="dk2"/>
                </a:solidFill>
                <a:latin typeface="Open Sans Light"/>
                <a:ea typeface="Open Sans Light"/>
                <a:cs typeface="Open Sans Light"/>
                <a:sym typeface="Open Sans Light"/>
              </a:rPr>
              <a:t> Analyze the logs to find the rogue user added to the system. Once you have the username, you'd want to view the /var/log/auth.log to check for the authorization events. Next, fetch all processes that are currently running for that user.</a:t>
            </a:r>
            <a:endParaRPr>
              <a:solidFill>
                <a:schemeClr val="dk2"/>
              </a:solidFill>
              <a:latin typeface="Open Sans Light"/>
              <a:ea typeface="Open Sans Light"/>
              <a:cs typeface="Open Sans Light"/>
              <a:sym typeface="Open Sans Light"/>
            </a:endParaRPr>
          </a:p>
          <a:p>
            <a:pPr marL="457200" lvl="0" indent="-298450" algn="l" rtl="0">
              <a:spcBef>
                <a:spcPts val="0"/>
              </a:spcBef>
              <a:spcAft>
                <a:spcPts val="0"/>
              </a:spcAft>
              <a:buClr>
                <a:srgbClr val="0B0B0B"/>
              </a:buClr>
              <a:buSzPts val="1100"/>
              <a:buChar char="●"/>
            </a:pPr>
            <a:r>
              <a:rPr lang="en" b="1">
                <a:solidFill>
                  <a:schemeClr val="dk2"/>
                </a:solidFill>
              </a:rPr>
              <a:t>Locate the malicious process: </a:t>
            </a:r>
            <a:r>
              <a:rPr lang="en">
                <a:solidFill>
                  <a:schemeClr val="dk2"/>
                </a:solidFill>
                <a:latin typeface="Open Sans Light"/>
                <a:ea typeface="Open Sans Light"/>
                <a:cs typeface="Open Sans Light"/>
                <a:sym typeface="Open Sans Light"/>
              </a:rPr>
              <a:t>Consider that the newly created rogue user has sufficient permissions to use the root credentials to run the backdoor process. Therefore, you will not find a process running in the name of the rogue user. Instead, </a:t>
            </a:r>
            <a:r>
              <a:rPr lang="en" b="1" i="1">
                <a:solidFill>
                  <a:schemeClr val="dk2"/>
                </a:solidFill>
              </a:rPr>
              <a:t>the backdoor process will be running as root</a:t>
            </a:r>
            <a:r>
              <a:rPr lang="en" i="1">
                <a:solidFill>
                  <a:schemeClr val="dk2"/>
                </a:solidFill>
                <a:latin typeface="Open Sans Light"/>
                <a:ea typeface="Open Sans Light"/>
                <a:cs typeface="Open Sans Light"/>
                <a:sym typeface="Open Sans Light"/>
              </a:rPr>
              <a:t>.</a:t>
            </a:r>
            <a:r>
              <a:rPr lang="en">
                <a:solidFill>
                  <a:schemeClr val="dk2"/>
                </a:solidFill>
                <a:latin typeface="Open Sans Light"/>
                <a:ea typeface="Open Sans Light"/>
                <a:cs typeface="Open Sans Light"/>
                <a:sym typeface="Open Sans Light"/>
              </a:rPr>
              <a:t> Analyze the currently running processes to find that suspicious process.</a:t>
            </a:r>
            <a:endParaRPr>
              <a:solidFill>
                <a:schemeClr val="dk2"/>
              </a:solidFill>
              <a:latin typeface="Open Sans Light"/>
              <a:ea typeface="Open Sans Light"/>
              <a:cs typeface="Open Sans Light"/>
              <a:sym typeface="Open Sans Light"/>
            </a:endParaRPr>
          </a:p>
          <a:p>
            <a:pPr marL="457200" lvl="0" indent="-298450" algn="l" rtl="0">
              <a:spcBef>
                <a:spcPts val="0"/>
              </a:spcBef>
              <a:spcAft>
                <a:spcPts val="0"/>
              </a:spcAft>
              <a:buClr>
                <a:srgbClr val="0B0B0B"/>
              </a:buClr>
              <a:buSzPts val="1100"/>
              <a:buChar char="●"/>
            </a:pPr>
            <a:r>
              <a:rPr lang="en" b="1">
                <a:solidFill>
                  <a:schemeClr val="dk2"/>
                </a:solidFill>
              </a:rPr>
              <a:t>IP address/port:</a:t>
            </a:r>
            <a:r>
              <a:rPr lang="en">
                <a:solidFill>
                  <a:schemeClr val="dk2"/>
                </a:solidFill>
                <a:latin typeface="Open Sans Light"/>
                <a:ea typeface="Open Sans Light"/>
                <a:cs typeface="Open Sans Light"/>
                <a:sym typeface="Open Sans Light"/>
              </a:rPr>
              <a:t> Once you have the process name with you, find the "non-standard" port it is listening on.</a:t>
            </a:r>
            <a:endParaRPr>
              <a:solidFill>
                <a:schemeClr val="dk2"/>
              </a:solidFill>
              <a:latin typeface="Open Sans Light"/>
              <a:ea typeface="Open Sans Light"/>
              <a:cs typeface="Open Sans Light"/>
              <a:sym typeface="Open Sans Light"/>
            </a:endParaRPr>
          </a:p>
          <a:p>
            <a:pPr marL="0" lvl="0" indent="0" algn="l" rtl="0">
              <a:spcBef>
                <a:spcPts val="0"/>
              </a:spcBef>
              <a:spcAft>
                <a:spcPts val="1600"/>
              </a:spcAft>
              <a:buNone/>
            </a:pPr>
            <a:endParaRPr>
              <a:solidFill>
                <a:schemeClr val="dk2"/>
              </a:solidFill>
              <a:latin typeface="Open Sans Light"/>
              <a:ea typeface="Open Sans Light"/>
              <a:cs typeface="Open Sans Light"/>
              <a:sym typeface="Open Sans Light"/>
            </a:endParaRPr>
          </a:p>
        </p:txBody>
      </p:sp>
      <p:graphicFrame>
        <p:nvGraphicFramePr>
          <p:cNvPr id="126" name="Google Shape;126;p21"/>
          <p:cNvGraphicFramePr/>
          <p:nvPr>
            <p:extLst>
              <p:ext uri="{D42A27DB-BD31-4B8C-83A1-F6EECF244321}">
                <p14:modId xmlns:p14="http://schemas.microsoft.com/office/powerpoint/2010/main" val="460915324"/>
              </p:ext>
            </p:extLst>
          </p:nvPr>
        </p:nvGraphicFramePr>
        <p:xfrm>
          <a:off x="315325" y="8191775"/>
          <a:ext cx="7242600" cy="1875430"/>
        </p:xfrm>
        <a:graphic>
          <a:graphicData uri="http://schemas.openxmlformats.org/drawingml/2006/table">
            <a:tbl>
              <a:tblPr>
                <a:noFill/>
                <a:tableStyleId>{1A72D16B-5AA9-4E4A-B3CA-297A1D49E447}</a:tableStyleId>
              </a:tblPr>
              <a:tblGrid>
                <a:gridCol w="3006250">
                  <a:extLst>
                    <a:ext uri="{9D8B030D-6E8A-4147-A177-3AD203B41FA5}">
                      <a16:colId xmlns:a16="http://schemas.microsoft.com/office/drawing/2014/main" val="20000"/>
                    </a:ext>
                  </a:extLst>
                </a:gridCol>
                <a:gridCol w="4236350">
                  <a:extLst>
                    <a:ext uri="{9D8B030D-6E8A-4147-A177-3AD203B41FA5}">
                      <a16:colId xmlns:a16="http://schemas.microsoft.com/office/drawing/2014/main" val="20001"/>
                    </a:ext>
                  </a:extLst>
                </a:gridCol>
              </a:tblGrid>
              <a:tr h="412450">
                <a:tc>
                  <a:txBody>
                    <a:bodyPr/>
                    <a:lstStyle/>
                    <a:p>
                      <a:pPr marL="0" lvl="0" indent="0" algn="l" rtl="0">
                        <a:spcBef>
                          <a:spcPts val="0"/>
                        </a:spcBef>
                        <a:spcAft>
                          <a:spcPts val="0"/>
                        </a:spcAft>
                        <a:buNone/>
                      </a:pPr>
                      <a:r>
                        <a:rPr lang="en" sz="1200">
                          <a:solidFill>
                            <a:schemeClr val="dk2"/>
                          </a:solidFill>
                          <a:latin typeface="Open Sans"/>
                          <a:ea typeface="Open Sans"/>
                          <a:cs typeface="Open Sans"/>
                          <a:sym typeface="Open Sans"/>
                        </a:rPr>
                        <a:t>Backdoor user:</a:t>
                      </a:r>
                      <a:endParaRPr sz="1200">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200" i="1" dirty="0" err="1" smtClean="0">
                          <a:solidFill>
                            <a:schemeClr val="dk2"/>
                          </a:solidFill>
                          <a:latin typeface="Open Sans Light"/>
                          <a:ea typeface="Open Sans Light"/>
                          <a:cs typeface="Open Sans Light"/>
                          <a:sym typeface="Open Sans Light"/>
                        </a:rPr>
                        <a:t>darklord</a:t>
                      </a:r>
                      <a:endParaRPr sz="12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12450">
                <a:tc>
                  <a:txBody>
                    <a:bodyPr/>
                    <a:lstStyle/>
                    <a:p>
                      <a:pPr marL="0" lvl="0" indent="0" algn="l" rtl="0">
                        <a:spcBef>
                          <a:spcPts val="0"/>
                        </a:spcBef>
                        <a:spcAft>
                          <a:spcPts val="0"/>
                        </a:spcAft>
                        <a:buNone/>
                      </a:pPr>
                      <a:r>
                        <a:rPr lang="en" sz="1200" dirty="0">
                          <a:solidFill>
                            <a:schemeClr val="dk2"/>
                          </a:solidFill>
                          <a:latin typeface="Open Sans"/>
                          <a:ea typeface="Open Sans"/>
                          <a:cs typeface="Open Sans"/>
                          <a:sym typeface="Open Sans"/>
                        </a:rPr>
                        <a:t>Backdoor process name:</a:t>
                      </a:r>
                      <a:endParaRPr sz="1200" dirty="0">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200" i="1" dirty="0" err="1" smtClean="0">
                          <a:solidFill>
                            <a:schemeClr val="dk2"/>
                          </a:solidFill>
                          <a:latin typeface="Open Sans Light"/>
                          <a:ea typeface="Open Sans Light"/>
                          <a:cs typeface="Open Sans Light"/>
                          <a:sym typeface="Open Sans Light"/>
                        </a:rPr>
                        <a:t>tmp</a:t>
                      </a:r>
                      <a:r>
                        <a:rPr lang="en-US" sz="1200" i="1" dirty="0" smtClean="0">
                          <a:solidFill>
                            <a:schemeClr val="dk2"/>
                          </a:solidFill>
                          <a:latin typeface="Open Sans Light"/>
                          <a:ea typeface="Open Sans Light"/>
                          <a:cs typeface="Open Sans Light"/>
                          <a:sym typeface="Open Sans Light"/>
                        </a:rPr>
                        <a:t>/</a:t>
                      </a:r>
                      <a:r>
                        <a:rPr lang="en-US" sz="1200" i="1" dirty="0" err="1" smtClean="0">
                          <a:solidFill>
                            <a:schemeClr val="dk2"/>
                          </a:solidFill>
                          <a:latin typeface="Open Sans Light"/>
                          <a:ea typeface="Open Sans Light"/>
                          <a:cs typeface="Open Sans Light"/>
                          <a:sym typeface="Open Sans Light"/>
                        </a:rPr>
                        <a:t>remotesec</a:t>
                      </a:r>
                      <a:r>
                        <a:rPr lang="en-US" sz="1200" i="1" dirty="0" smtClean="0">
                          <a:solidFill>
                            <a:schemeClr val="dk2"/>
                          </a:solidFill>
                          <a:latin typeface="Open Sans Light"/>
                          <a:ea typeface="Open Sans Light"/>
                          <a:cs typeface="Open Sans Light"/>
                          <a:sym typeface="Open Sans Light"/>
                        </a:rPr>
                        <a:t> -k -l 56565</a:t>
                      </a:r>
                      <a:br>
                        <a:rPr lang="en-US" sz="1200" i="1" dirty="0" smtClean="0">
                          <a:solidFill>
                            <a:schemeClr val="dk2"/>
                          </a:solidFill>
                          <a:latin typeface="Open Sans Light"/>
                          <a:ea typeface="Open Sans Light"/>
                          <a:cs typeface="Open Sans Light"/>
                          <a:sym typeface="Open Sans Light"/>
                        </a:rPr>
                      </a:br>
                      <a:r>
                        <a:rPr lang="nb-NO" sz="1200" i="1" dirty="0" smtClean="0">
                          <a:solidFill>
                            <a:schemeClr val="dk2"/>
                          </a:solidFill>
                          <a:latin typeface="Open Sans Light"/>
                          <a:ea typeface="Open Sans Light"/>
                          <a:cs typeface="Open Sans Light"/>
                          <a:sym typeface="Open Sans Light"/>
                        </a:rPr>
                        <a:t>to kill:</a:t>
                      </a:r>
                    </a:p>
                    <a:p>
                      <a:pPr marL="0" lvl="0" indent="0" algn="l" rtl="0">
                        <a:spcBef>
                          <a:spcPts val="0"/>
                        </a:spcBef>
                        <a:spcAft>
                          <a:spcPts val="0"/>
                        </a:spcAft>
                        <a:buNone/>
                      </a:pPr>
                      <a:r>
                        <a:rPr lang="nb-NO" sz="1200" i="1" dirty="0" smtClean="0">
                          <a:solidFill>
                            <a:schemeClr val="dk2"/>
                          </a:solidFill>
                          <a:latin typeface="Open Sans Light"/>
                          <a:ea typeface="Open Sans Light"/>
                          <a:cs typeface="Open Sans Light"/>
                          <a:sym typeface="Open Sans Light"/>
                        </a:rPr>
                        <a:t>root@ubuntu-VirtualBox:/home/ubuntu# userdel darklord</a:t>
                      </a:r>
                    </a:p>
                    <a:p>
                      <a:pPr marL="0" lvl="0" indent="0" algn="l" rtl="0">
                        <a:spcBef>
                          <a:spcPts val="0"/>
                        </a:spcBef>
                        <a:spcAft>
                          <a:spcPts val="0"/>
                        </a:spcAft>
                        <a:buNone/>
                      </a:pPr>
                      <a:r>
                        <a:rPr lang="nb-NO" sz="1200" i="1" dirty="0" smtClean="0">
                          <a:solidFill>
                            <a:schemeClr val="dk2"/>
                          </a:solidFill>
                          <a:latin typeface="Open Sans Light"/>
                          <a:ea typeface="Open Sans Light"/>
                          <a:cs typeface="Open Sans Light"/>
                          <a:sym typeface="Open Sans Light"/>
                        </a:rPr>
                        <a:t>root@ubuntu-VirtualBox:/home/ubuntu# kill 963</a:t>
                      </a:r>
                      <a:endParaRPr sz="12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412450">
                <a:tc>
                  <a:txBody>
                    <a:bodyPr/>
                    <a:lstStyle/>
                    <a:p>
                      <a:pPr marL="0" lvl="0" indent="0" algn="l" rtl="0">
                        <a:spcBef>
                          <a:spcPts val="0"/>
                        </a:spcBef>
                        <a:spcAft>
                          <a:spcPts val="0"/>
                        </a:spcAft>
                        <a:buNone/>
                      </a:pPr>
                      <a:r>
                        <a:rPr lang="en" sz="1200">
                          <a:solidFill>
                            <a:schemeClr val="dk2"/>
                          </a:solidFill>
                          <a:latin typeface="Open Sans"/>
                          <a:ea typeface="Open Sans"/>
                          <a:cs typeface="Open Sans"/>
                          <a:sym typeface="Open Sans"/>
                        </a:rPr>
                        <a:t>Backdoor process port:</a:t>
                      </a:r>
                      <a:endParaRPr sz="1200">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200" i="1" dirty="0" smtClean="0">
                          <a:solidFill>
                            <a:schemeClr val="dk2"/>
                          </a:solidFill>
                          <a:latin typeface="Open Sans Light"/>
                          <a:ea typeface="Open Sans Light"/>
                          <a:cs typeface="Open Sans Light"/>
                          <a:sym typeface="Open Sans Light"/>
                        </a:rPr>
                        <a:t>53626 and 56565 are not standard ports, however 56565 is sometimes used as a </a:t>
                      </a:r>
                      <a:r>
                        <a:rPr lang="en-US" sz="1200" i="1" dirty="0" err="1" smtClean="0">
                          <a:solidFill>
                            <a:schemeClr val="dk2"/>
                          </a:solidFill>
                          <a:latin typeface="Open Sans Light"/>
                          <a:ea typeface="Open Sans Light"/>
                          <a:cs typeface="Open Sans Light"/>
                          <a:sym typeface="Open Sans Light"/>
                        </a:rPr>
                        <a:t>trojan</a:t>
                      </a:r>
                      <a:r>
                        <a:rPr lang="en-US" sz="1200" i="1" dirty="0" smtClean="0">
                          <a:solidFill>
                            <a:schemeClr val="dk2"/>
                          </a:solidFill>
                          <a:latin typeface="Open Sans Light"/>
                          <a:ea typeface="Open Sans Light"/>
                          <a:cs typeface="Open Sans Light"/>
                          <a:sym typeface="Open Sans Light"/>
                        </a:rPr>
                        <a:t> port</a:t>
                      </a:r>
                      <a:endParaRPr sz="12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Disable SSH Root Access</a:t>
            </a:r>
            <a:endParaRPr/>
          </a:p>
        </p:txBody>
      </p:sp>
      <p:sp>
        <p:nvSpPr>
          <p:cNvPr id="132" name="Google Shape;132;p22"/>
          <p:cNvSpPr txBox="1">
            <a:spLocks noGrp="1"/>
          </p:cNvSpPr>
          <p:nvPr>
            <p:ph type="body" idx="1"/>
          </p:nvPr>
        </p:nvSpPr>
        <p:spPr>
          <a:xfrm>
            <a:off x="305275" y="1990173"/>
            <a:ext cx="7242600" cy="2279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2"/>
                </a:solidFill>
                <a:latin typeface="Open Sans Light"/>
                <a:ea typeface="Open Sans Light"/>
                <a:cs typeface="Open Sans Light"/>
                <a:sym typeface="Open Sans Light"/>
              </a:rPr>
              <a:t>So far, we have figured out that the attack was carried out through brute-forcing ssh login credentials. Can you update the SSH configuration file to ensure that root login through SSH is never allowed, even if the correct set of credentials have been used? Report your changes by modifying the respective configuration entry and providing a snapshot of the change you have made. Create a screenshot of the change, and paste it below.</a:t>
            </a:r>
            <a:endParaRPr>
              <a:solidFill>
                <a:schemeClr val="dk2"/>
              </a:solidFill>
              <a:latin typeface="Open Sans Light"/>
              <a:ea typeface="Open Sans Light"/>
              <a:cs typeface="Open Sans Light"/>
              <a:sym typeface="Open Sans Ligh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365938"/>
            <a:ext cx="7772400" cy="5692462"/>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48" y="1921625"/>
            <a:ext cx="7772400" cy="4663440"/>
          </a:xfrm>
          <a:prstGeom prst="rect">
            <a:avLst/>
          </a:prstGeom>
        </p:spPr>
      </p:pic>
    </p:spTree>
    <p:extLst>
      <p:ext uri="{BB962C8B-B14F-4D97-AF65-F5344CB8AC3E}">
        <p14:creationId xmlns:p14="http://schemas.microsoft.com/office/powerpoint/2010/main" val="22882699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Optional task</a:t>
            </a:r>
            <a:endParaRPr/>
          </a:p>
        </p:txBody>
      </p:sp>
      <p:sp>
        <p:nvSpPr>
          <p:cNvPr id="141" name="Google Shape;141;p23"/>
          <p:cNvSpPr txBox="1">
            <a:spLocks noGrp="1"/>
          </p:cNvSpPr>
          <p:nvPr>
            <p:ph type="body" idx="1"/>
          </p:nvPr>
        </p:nvSpPr>
        <p:spPr>
          <a:xfrm>
            <a:off x="305275" y="1990177"/>
            <a:ext cx="7242600" cy="223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dk2"/>
                </a:solidFill>
              </a:rPr>
              <a:t>As an optional stand out task,</a:t>
            </a:r>
            <a:r>
              <a:rPr lang="en">
                <a:solidFill>
                  <a:schemeClr val="dk2"/>
                </a:solidFill>
                <a:latin typeface="Open Sans Light"/>
                <a:ea typeface="Open Sans Light"/>
                <a:cs typeface="Open Sans Light"/>
                <a:sym typeface="Open Sans Light"/>
              </a:rPr>
              <a:t> you can also provide a set of best practice recommendations to the senior leadership about further securing the remote login process and password management in the organization. While you appreciate the job security, you also don't appreciate the National Peace Agency making you come in on your day off. Provide your recommendations below.</a:t>
            </a:r>
            <a:endParaRPr>
              <a:solidFill>
                <a:schemeClr val="dk2"/>
              </a:solidFill>
              <a:latin typeface="Open Sans Light"/>
              <a:ea typeface="Open Sans Light"/>
              <a:cs typeface="Open Sans Light"/>
              <a:sym typeface="Open Sans Light"/>
            </a:endParaRPr>
          </a:p>
        </p:txBody>
      </p:sp>
      <p:graphicFrame>
        <p:nvGraphicFramePr>
          <p:cNvPr id="142" name="Google Shape;142;p23"/>
          <p:cNvGraphicFramePr/>
          <p:nvPr>
            <p:extLst>
              <p:ext uri="{D42A27DB-BD31-4B8C-83A1-F6EECF244321}">
                <p14:modId xmlns:p14="http://schemas.microsoft.com/office/powerpoint/2010/main" val="4251724190"/>
              </p:ext>
            </p:extLst>
          </p:nvPr>
        </p:nvGraphicFramePr>
        <p:xfrm>
          <a:off x="305275" y="4463325"/>
          <a:ext cx="7242600" cy="5142550"/>
        </p:xfrm>
        <a:graphic>
          <a:graphicData uri="http://schemas.openxmlformats.org/drawingml/2006/table">
            <a:tbl>
              <a:tblPr>
                <a:noFill/>
                <a:tableStyleId>{1A72D16B-5AA9-4E4A-B3CA-297A1D49E447}</a:tableStyleId>
              </a:tblPr>
              <a:tblGrid>
                <a:gridCol w="7242600">
                  <a:extLst>
                    <a:ext uri="{9D8B030D-6E8A-4147-A177-3AD203B41FA5}">
                      <a16:colId xmlns:a16="http://schemas.microsoft.com/office/drawing/2014/main" val="20000"/>
                    </a:ext>
                  </a:extLst>
                </a:gridCol>
              </a:tblGrid>
              <a:tr h="5142550">
                <a:tc>
                  <a:txBody>
                    <a:bodyPr/>
                    <a:lstStyle/>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SSH:</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*vim /</a:t>
                      </a:r>
                      <a:r>
                        <a:rPr lang="en-US" sz="1800" i="1" dirty="0" err="1" smtClean="0">
                          <a:solidFill>
                            <a:schemeClr val="dk2"/>
                          </a:solidFill>
                          <a:latin typeface="Open Sans Light"/>
                          <a:ea typeface="Open Sans Light"/>
                          <a:cs typeface="Open Sans Light"/>
                          <a:sym typeface="Open Sans Light"/>
                        </a:rPr>
                        <a:t>etc</a:t>
                      </a:r>
                      <a:r>
                        <a:rPr lang="en-US" sz="1800" i="1" dirty="0" smtClean="0">
                          <a:solidFill>
                            <a:schemeClr val="dk2"/>
                          </a:solidFill>
                          <a:latin typeface="Open Sans Light"/>
                          <a:ea typeface="Open Sans Light"/>
                          <a:cs typeface="Open Sans Light"/>
                          <a:sym typeface="Open Sans Light"/>
                        </a:rPr>
                        <a:t>/</a:t>
                      </a:r>
                      <a:r>
                        <a:rPr lang="en-US" sz="1800" i="1" dirty="0" err="1" smtClean="0">
                          <a:solidFill>
                            <a:schemeClr val="dk2"/>
                          </a:solidFill>
                          <a:latin typeface="Open Sans Light"/>
                          <a:ea typeface="Open Sans Light"/>
                          <a:cs typeface="Open Sans Light"/>
                          <a:sym typeface="Open Sans Light"/>
                        </a:rPr>
                        <a:t>ssh</a:t>
                      </a:r>
                      <a:r>
                        <a:rPr lang="en-US" sz="1800" i="1" dirty="0" smtClean="0">
                          <a:solidFill>
                            <a:schemeClr val="dk2"/>
                          </a:solidFill>
                          <a:latin typeface="Open Sans Light"/>
                          <a:ea typeface="Open Sans Light"/>
                          <a:cs typeface="Open Sans Light"/>
                          <a:sym typeface="Open Sans Light"/>
                        </a:rPr>
                        <a:t>/</a:t>
                      </a:r>
                      <a:r>
                        <a:rPr lang="en-US" sz="1800" i="1" dirty="0" err="1" smtClean="0">
                          <a:solidFill>
                            <a:schemeClr val="dk2"/>
                          </a:solidFill>
                          <a:latin typeface="Open Sans Light"/>
                          <a:ea typeface="Open Sans Light"/>
                          <a:cs typeface="Open Sans Light"/>
                          <a:sym typeface="Open Sans Light"/>
                        </a:rPr>
                        <a:t>sshd_config</a:t>
                      </a:r>
                      <a:endParaRPr lang="en-US" sz="1800" i="1" dirty="0" smtClean="0">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change port number</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change </a:t>
                      </a:r>
                      <a:r>
                        <a:rPr lang="en-US" sz="1800" i="1" dirty="0" err="1" smtClean="0">
                          <a:solidFill>
                            <a:schemeClr val="dk2"/>
                          </a:solidFill>
                          <a:latin typeface="Open Sans Light"/>
                          <a:ea typeface="Open Sans Light"/>
                          <a:cs typeface="Open Sans Light"/>
                          <a:sym typeface="Open Sans Light"/>
                        </a:rPr>
                        <a:t>PermitRootLogin</a:t>
                      </a:r>
                      <a:r>
                        <a:rPr lang="en-US" sz="1800" i="1" dirty="0" smtClean="0">
                          <a:solidFill>
                            <a:schemeClr val="dk2"/>
                          </a:solidFill>
                          <a:latin typeface="Open Sans Light"/>
                          <a:ea typeface="Open Sans Light"/>
                          <a:cs typeface="Open Sans Light"/>
                          <a:sym typeface="Open Sans Light"/>
                        </a:rPr>
                        <a:t> to no, </a:t>
                      </a:r>
                      <a:r>
                        <a:rPr lang="en-US" sz="1800" i="1" dirty="0" err="1" smtClean="0">
                          <a:solidFill>
                            <a:schemeClr val="dk2"/>
                          </a:solidFill>
                          <a:latin typeface="Open Sans Light"/>
                          <a:ea typeface="Open Sans Light"/>
                          <a:cs typeface="Open Sans Light"/>
                          <a:sym typeface="Open Sans Light"/>
                        </a:rPr>
                        <a:t>MaxAuthTries</a:t>
                      </a:r>
                      <a:r>
                        <a:rPr lang="en-US" sz="1800" i="1" dirty="0" smtClean="0">
                          <a:solidFill>
                            <a:schemeClr val="dk2"/>
                          </a:solidFill>
                          <a:latin typeface="Open Sans Light"/>
                          <a:ea typeface="Open Sans Light"/>
                          <a:cs typeface="Open Sans Light"/>
                          <a:sym typeface="Open Sans Light"/>
                        </a:rPr>
                        <a:t> to 3 and change/add the </a:t>
                      </a:r>
                      <a:r>
                        <a:rPr lang="en-US" sz="1800" i="1" dirty="0" err="1" smtClean="0">
                          <a:solidFill>
                            <a:schemeClr val="dk2"/>
                          </a:solidFill>
                          <a:latin typeface="Open Sans Light"/>
                          <a:ea typeface="Open Sans Light"/>
                          <a:cs typeface="Open Sans Light"/>
                          <a:sym typeface="Open Sans Light"/>
                        </a:rPr>
                        <a:t>AllowUsers</a:t>
                      </a:r>
                      <a:r>
                        <a:rPr lang="en-US" sz="1800" i="1" dirty="0" smtClean="0">
                          <a:solidFill>
                            <a:schemeClr val="dk2"/>
                          </a:solidFill>
                          <a:latin typeface="Open Sans Light"/>
                          <a:ea typeface="Open Sans Light"/>
                          <a:cs typeface="Open Sans Light"/>
                          <a:sym typeface="Open Sans Light"/>
                        </a:rPr>
                        <a:t> field to only the users using the protocol</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set </a:t>
                      </a:r>
                      <a:r>
                        <a:rPr lang="en-US" sz="1800" i="1" dirty="0" err="1" smtClean="0">
                          <a:solidFill>
                            <a:schemeClr val="dk2"/>
                          </a:solidFill>
                          <a:latin typeface="Open Sans Light"/>
                          <a:ea typeface="Open Sans Light"/>
                          <a:cs typeface="Open Sans Light"/>
                          <a:sym typeface="Open Sans Light"/>
                        </a:rPr>
                        <a:t>PasswordAuthentication</a:t>
                      </a:r>
                      <a:r>
                        <a:rPr lang="en-US" sz="1800" i="1" dirty="0" smtClean="0">
                          <a:solidFill>
                            <a:schemeClr val="dk2"/>
                          </a:solidFill>
                          <a:latin typeface="Open Sans Light"/>
                          <a:ea typeface="Open Sans Light"/>
                          <a:cs typeface="Open Sans Light"/>
                          <a:sym typeface="Open Sans Light"/>
                        </a:rPr>
                        <a:t> to no and </a:t>
                      </a:r>
                      <a:r>
                        <a:rPr lang="en-US" sz="1800" i="1" dirty="0" err="1" smtClean="0">
                          <a:solidFill>
                            <a:schemeClr val="dk2"/>
                          </a:solidFill>
                          <a:latin typeface="Open Sans Light"/>
                          <a:ea typeface="Open Sans Light"/>
                          <a:cs typeface="Open Sans Light"/>
                          <a:sym typeface="Open Sans Light"/>
                        </a:rPr>
                        <a:t>ClientAliveCountMax</a:t>
                      </a:r>
                      <a:r>
                        <a:rPr lang="en-US" sz="1800" i="1" dirty="0" smtClean="0">
                          <a:solidFill>
                            <a:schemeClr val="dk2"/>
                          </a:solidFill>
                          <a:latin typeface="Open Sans Light"/>
                          <a:ea typeface="Open Sans Light"/>
                          <a:cs typeface="Open Sans Light"/>
                          <a:sym typeface="Open Sans Light"/>
                        </a:rPr>
                        <a:t> to 300</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save the file and quit using :</a:t>
                      </a:r>
                      <a:r>
                        <a:rPr lang="en-US" sz="1800" i="1" dirty="0" err="1" smtClean="0">
                          <a:solidFill>
                            <a:schemeClr val="dk2"/>
                          </a:solidFill>
                          <a:latin typeface="Open Sans Light"/>
                          <a:ea typeface="Open Sans Light"/>
                          <a:cs typeface="Open Sans Light"/>
                          <a:sym typeface="Open Sans Light"/>
                        </a:rPr>
                        <a:t>wq</a:t>
                      </a:r>
                      <a:endParaRPr lang="en-US" sz="1800" i="1" dirty="0" smtClean="0">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a:t>
                      </a:r>
                      <a:r>
                        <a:rPr lang="en-US" sz="1800" i="1" dirty="0" err="1" smtClean="0">
                          <a:solidFill>
                            <a:schemeClr val="dk2"/>
                          </a:solidFill>
                          <a:latin typeface="Open Sans Light"/>
                          <a:ea typeface="Open Sans Light"/>
                          <a:cs typeface="Open Sans Light"/>
                          <a:sym typeface="Open Sans Light"/>
                        </a:rPr>
                        <a:t>systemctl</a:t>
                      </a:r>
                      <a:r>
                        <a:rPr lang="en-US" sz="1800" i="1" dirty="0" smtClean="0">
                          <a:solidFill>
                            <a:schemeClr val="dk2"/>
                          </a:solidFill>
                          <a:latin typeface="Open Sans Light"/>
                          <a:ea typeface="Open Sans Light"/>
                          <a:cs typeface="Open Sans Light"/>
                          <a:sym typeface="Open Sans Light"/>
                        </a:rPr>
                        <a:t> restart </a:t>
                      </a:r>
                      <a:r>
                        <a:rPr lang="en-US" sz="1800" i="1" dirty="0" err="1" smtClean="0">
                          <a:solidFill>
                            <a:schemeClr val="dk2"/>
                          </a:solidFill>
                          <a:latin typeface="Open Sans Light"/>
                          <a:ea typeface="Open Sans Light"/>
                          <a:cs typeface="Open Sans Light"/>
                          <a:sym typeface="Open Sans Light"/>
                        </a:rPr>
                        <a:t>sshd</a:t>
                      </a:r>
                      <a:endParaRPr lang="en-US" sz="1800" i="1" dirty="0" smtClean="0">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endParaRPr lang="en-US" sz="1800" i="1" dirty="0" smtClean="0">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Improving password policy:</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passwords should contain at least 12 characters</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passwords should include at least one lowercase letter, one uppercase letter, one number and one symbol</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	passwords expire after 30 days of use</a:t>
                      </a:r>
                      <a:endParaRPr sz="1800" dirty="0">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title"/>
          </p:nvPr>
        </p:nvSpPr>
        <p:spPr>
          <a:xfrm>
            <a:off x="264900" y="2160200"/>
            <a:ext cx="7242600" cy="255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 Three:</a:t>
            </a:r>
            <a:endParaRPr/>
          </a:p>
          <a:p>
            <a:pPr marL="0" lvl="0" indent="0" algn="l" rtl="0">
              <a:lnSpc>
                <a:spcPct val="150000"/>
              </a:lnSpc>
              <a:spcBef>
                <a:spcPts val="0"/>
              </a:spcBef>
              <a:spcAft>
                <a:spcPts val="0"/>
              </a:spcAft>
              <a:buNone/>
            </a:pPr>
            <a:r>
              <a:rPr lang="en"/>
              <a:t>Hardening</a:t>
            </a:r>
            <a:endParaRPr/>
          </a:p>
        </p:txBody>
      </p:sp>
      <p:sp>
        <p:nvSpPr>
          <p:cNvPr id="148" name="Google Shape;148;p24"/>
          <p:cNvSpPr txBox="1">
            <a:spLocks noGrp="1"/>
          </p:cNvSpPr>
          <p:nvPr>
            <p:ph type="title" idx="4294967295"/>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Digital Project Management</a:t>
            </a:r>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OpenVAS Scan</a:t>
            </a:r>
            <a:endParaRPr/>
          </a:p>
        </p:txBody>
      </p:sp>
      <p:sp>
        <p:nvSpPr>
          <p:cNvPr id="154" name="Google Shape;154;p25"/>
          <p:cNvSpPr txBox="1">
            <a:spLocks noGrp="1"/>
          </p:cNvSpPr>
          <p:nvPr>
            <p:ph type="body" idx="1"/>
          </p:nvPr>
        </p:nvSpPr>
        <p:spPr>
          <a:xfrm>
            <a:off x="305275" y="1990177"/>
            <a:ext cx="7242600" cy="223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2"/>
                </a:solidFill>
                <a:latin typeface="Open Sans Light"/>
                <a:ea typeface="Open Sans Light"/>
                <a:cs typeface="Open Sans Light"/>
                <a:sym typeface="Open Sans Light"/>
              </a:rPr>
              <a:t>Now that the cyber-attack has been successfully contained, you are also tasked with further hardening the jump host server. As a first step, perform an OpenVAS vulnerability scan on the system and provide a snapshot of the vulnerabilities identified by the scan below.</a:t>
            </a:r>
            <a:endParaRPr>
              <a:solidFill>
                <a:schemeClr val="dk2"/>
              </a:solidFill>
              <a:latin typeface="Open Sans Light"/>
              <a:ea typeface="Open Sans Light"/>
              <a:cs typeface="Open Sans Light"/>
              <a:sym typeface="Open Sans 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24138"/>
            <a:ext cx="7772400" cy="4701467"/>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Patching Apache</a:t>
            </a:r>
            <a:endParaRPr/>
          </a:p>
        </p:txBody>
      </p:sp>
      <p:sp>
        <p:nvSpPr>
          <p:cNvPr id="161" name="Google Shape;161;p26"/>
          <p:cNvSpPr txBox="1">
            <a:spLocks noGrp="1"/>
          </p:cNvSpPr>
          <p:nvPr>
            <p:ph type="body" idx="1"/>
          </p:nvPr>
        </p:nvSpPr>
        <p:spPr>
          <a:xfrm>
            <a:off x="305275" y="1990174"/>
            <a:ext cx="7242600" cy="3252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2"/>
                </a:solidFill>
                <a:latin typeface="Open Sans Light"/>
                <a:ea typeface="Open Sans Light"/>
                <a:cs typeface="Open Sans Light"/>
                <a:sym typeface="Open Sans Light"/>
              </a:rPr>
              <a:t>Once you have provided your report on the existing vulnerabilities on the system, you notice that the jump host is also running an Apache HTTP server which can be accessed from the internet and can serve as an attack point in future incidents. To harden the Apache server, you must remove the version banner from being publicly visible. This would make it difficult for an attacker to perform reconnaissance on the server and launch attacks. Your goal is to identify and report the current Apache server version and then the configuration change required to prevent the version number from being publicly accessible.</a:t>
            </a:r>
            <a:endParaRPr>
              <a:solidFill>
                <a:schemeClr val="dk2"/>
              </a:solidFill>
              <a:latin typeface="Open Sans Light"/>
              <a:ea typeface="Open Sans Light"/>
              <a:cs typeface="Open Sans Light"/>
              <a:sym typeface="Open Sans Light"/>
            </a:endParaRPr>
          </a:p>
        </p:txBody>
      </p:sp>
      <p:graphicFrame>
        <p:nvGraphicFramePr>
          <p:cNvPr id="162" name="Google Shape;162;p26"/>
          <p:cNvGraphicFramePr/>
          <p:nvPr>
            <p:extLst>
              <p:ext uri="{D42A27DB-BD31-4B8C-83A1-F6EECF244321}">
                <p14:modId xmlns:p14="http://schemas.microsoft.com/office/powerpoint/2010/main" val="4121174454"/>
              </p:ext>
            </p:extLst>
          </p:nvPr>
        </p:nvGraphicFramePr>
        <p:xfrm>
          <a:off x="305275" y="5421500"/>
          <a:ext cx="7242600" cy="2011620"/>
        </p:xfrm>
        <a:graphic>
          <a:graphicData uri="http://schemas.openxmlformats.org/drawingml/2006/table">
            <a:tbl>
              <a:tblPr>
                <a:noFill/>
                <a:tableStyleId>{1A72D16B-5AA9-4E4A-B3CA-297A1D49E447}</a:tableStyleId>
              </a:tblPr>
              <a:tblGrid>
                <a:gridCol w="2668650">
                  <a:extLst>
                    <a:ext uri="{9D8B030D-6E8A-4147-A177-3AD203B41FA5}">
                      <a16:colId xmlns:a16="http://schemas.microsoft.com/office/drawing/2014/main" val="20000"/>
                    </a:ext>
                  </a:extLst>
                </a:gridCol>
                <a:gridCol w="4573950">
                  <a:extLst>
                    <a:ext uri="{9D8B030D-6E8A-4147-A177-3AD203B41FA5}">
                      <a16:colId xmlns:a16="http://schemas.microsoft.com/office/drawing/2014/main" val="20001"/>
                    </a:ext>
                  </a:extLst>
                </a:gridCol>
              </a:tblGrid>
              <a:tr h="412450">
                <a:tc>
                  <a:txBody>
                    <a:bodyPr/>
                    <a:lstStyle/>
                    <a:p>
                      <a:pPr marL="0" lvl="0" indent="0" algn="l" rtl="0">
                        <a:spcBef>
                          <a:spcPts val="0"/>
                        </a:spcBef>
                        <a:spcAft>
                          <a:spcPts val="0"/>
                        </a:spcAft>
                        <a:buNone/>
                      </a:pPr>
                      <a:r>
                        <a:rPr lang="en" sz="1800">
                          <a:solidFill>
                            <a:schemeClr val="dk2"/>
                          </a:solidFill>
                          <a:latin typeface="Open Sans"/>
                          <a:ea typeface="Open Sans"/>
                          <a:cs typeface="Open Sans"/>
                          <a:sym typeface="Open Sans"/>
                        </a:rPr>
                        <a:t>Apache server version:</a:t>
                      </a:r>
                      <a:endParaRPr sz="1800">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Server version: Apache/2.4.7 (Ubuntu) </a:t>
                      </a:r>
                    </a:p>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Server built:   Apr  3 2019 18:04:59</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12450">
                <a:tc>
                  <a:txBody>
                    <a:bodyPr/>
                    <a:lstStyle/>
                    <a:p>
                      <a:pPr marL="0" lvl="0" indent="0" algn="l" rtl="0">
                        <a:spcBef>
                          <a:spcPts val="0"/>
                        </a:spcBef>
                        <a:spcAft>
                          <a:spcPts val="0"/>
                        </a:spcAft>
                        <a:buNone/>
                      </a:pPr>
                      <a:r>
                        <a:rPr lang="en" sz="1800">
                          <a:solidFill>
                            <a:schemeClr val="dk2"/>
                          </a:solidFill>
                          <a:latin typeface="Open Sans"/>
                          <a:ea typeface="Open Sans"/>
                          <a:cs typeface="Open Sans"/>
                          <a:sym typeface="Open Sans"/>
                        </a:rPr>
                        <a:t>Required changes:</a:t>
                      </a:r>
                      <a:endParaRPr sz="1800">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i="1" dirty="0" smtClean="0">
                          <a:solidFill>
                            <a:schemeClr val="dk2"/>
                          </a:solidFill>
                          <a:latin typeface="Open Sans Light"/>
                          <a:ea typeface="Open Sans Light"/>
                          <a:cs typeface="Open Sans Light"/>
                          <a:sym typeface="Open Sans Light"/>
                        </a:rPr>
                        <a:t>the change has to be made in /</a:t>
                      </a:r>
                      <a:r>
                        <a:rPr lang="en-US" sz="1800" i="1" dirty="0" err="1" smtClean="0">
                          <a:solidFill>
                            <a:schemeClr val="dk2"/>
                          </a:solidFill>
                          <a:latin typeface="Open Sans Light"/>
                          <a:ea typeface="Open Sans Light"/>
                          <a:cs typeface="Open Sans Light"/>
                          <a:sym typeface="Open Sans Light"/>
                        </a:rPr>
                        <a:t>etc</a:t>
                      </a:r>
                      <a:r>
                        <a:rPr lang="en-US" sz="1800" i="1" dirty="0" smtClean="0">
                          <a:solidFill>
                            <a:schemeClr val="dk2"/>
                          </a:solidFill>
                          <a:latin typeface="Open Sans Light"/>
                          <a:ea typeface="Open Sans Light"/>
                          <a:cs typeface="Open Sans Light"/>
                          <a:sym typeface="Open Sans Light"/>
                        </a:rPr>
                        <a:t>/apache2/</a:t>
                      </a:r>
                      <a:r>
                        <a:rPr lang="en-US" sz="1800" i="1" dirty="0" err="1" smtClean="0">
                          <a:solidFill>
                            <a:schemeClr val="dk2"/>
                          </a:solidFill>
                          <a:latin typeface="Open Sans Light"/>
                          <a:ea typeface="Open Sans Light"/>
                          <a:cs typeface="Open Sans Light"/>
                          <a:sym typeface="Open Sans Light"/>
                        </a:rPr>
                        <a:t>conf</a:t>
                      </a:r>
                      <a:r>
                        <a:rPr lang="en-US" sz="1800" i="1" dirty="0" smtClean="0">
                          <a:solidFill>
                            <a:schemeClr val="dk2"/>
                          </a:solidFill>
                          <a:latin typeface="Open Sans Light"/>
                          <a:ea typeface="Open Sans Light"/>
                          <a:cs typeface="Open Sans Light"/>
                          <a:sym typeface="Open Sans Light"/>
                        </a:rPr>
                        <a:t>-enabled/</a:t>
                      </a:r>
                      <a:r>
                        <a:rPr lang="en-US" sz="1800" i="1" dirty="0" err="1" smtClean="0">
                          <a:solidFill>
                            <a:schemeClr val="dk2"/>
                          </a:solidFill>
                          <a:latin typeface="Open Sans Light"/>
                          <a:ea typeface="Open Sans Light"/>
                          <a:cs typeface="Open Sans Light"/>
                          <a:sym typeface="Open Sans Light"/>
                        </a:rPr>
                        <a:t>security.conf</a:t>
                      </a:r>
                      <a:r>
                        <a:rPr lang="en-US" sz="1800" i="1" dirty="0" smtClean="0">
                          <a:solidFill>
                            <a:schemeClr val="dk2"/>
                          </a:solidFill>
                          <a:latin typeface="Open Sans Light"/>
                          <a:ea typeface="Open Sans Light"/>
                          <a:cs typeface="Open Sans Light"/>
                          <a:sym typeface="Open Sans Light"/>
                        </a:rPr>
                        <a:t>) </a:t>
                      </a:r>
                    </a:p>
                    <a:p>
                      <a:pPr marL="0" lvl="0" indent="0" algn="l" rtl="0">
                        <a:spcBef>
                          <a:spcPts val="0"/>
                        </a:spcBef>
                        <a:spcAft>
                          <a:spcPts val="0"/>
                        </a:spcAft>
                        <a:buNone/>
                      </a:pPr>
                      <a:endParaRPr lang="en-US" sz="1800" i="1" dirty="0" smtClean="0">
                        <a:solidFill>
                          <a:schemeClr val="dk2"/>
                        </a:solidFill>
                        <a:latin typeface="Open Sans Light"/>
                        <a:ea typeface="Open Sans Light"/>
                        <a:cs typeface="Open Sans Light"/>
                        <a:sym typeface="Open Sans Light"/>
                      </a:endParaRPr>
                    </a:p>
                    <a:p>
                      <a:pPr marL="0" lvl="0" indent="0" algn="l" rtl="0">
                        <a:spcBef>
                          <a:spcPts val="0"/>
                        </a:spcBef>
                        <a:spcAft>
                          <a:spcPts val="0"/>
                        </a:spcAft>
                        <a:buNone/>
                      </a:pPr>
                      <a:r>
                        <a:rPr lang="en-US" sz="1800" i="1" dirty="0" err="1" smtClean="0">
                          <a:solidFill>
                            <a:schemeClr val="dk2"/>
                          </a:solidFill>
                          <a:latin typeface="Open Sans Light"/>
                          <a:ea typeface="Open Sans Light"/>
                          <a:cs typeface="Open Sans Light"/>
                          <a:sym typeface="Open Sans Light"/>
                        </a:rPr>
                        <a:t>ServerSignature</a:t>
                      </a:r>
                      <a:r>
                        <a:rPr lang="en-US" sz="1800" i="1" dirty="0" smtClean="0">
                          <a:solidFill>
                            <a:schemeClr val="dk2"/>
                          </a:solidFill>
                          <a:latin typeface="Open Sans Light"/>
                          <a:ea typeface="Open Sans Light"/>
                          <a:cs typeface="Open Sans Light"/>
                          <a:sym typeface="Open Sans Light"/>
                        </a:rPr>
                        <a:t> Off</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De-Privilege Apache Account</a:t>
            </a:r>
            <a:endParaRPr/>
          </a:p>
        </p:txBody>
      </p:sp>
      <p:sp>
        <p:nvSpPr>
          <p:cNvPr id="168" name="Google Shape;168;p27"/>
          <p:cNvSpPr txBox="1">
            <a:spLocks noGrp="1"/>
          </p:cNvSpPr>
          <p:nvPr>
            <p:ph type="body" idx="1"/>
          </p:nvPr>
        </p:nvSpPr>
        <p:spPr>
          <a:xfrm>
            <a:off x="305275" y="1990174"/>
            <a:ext cx="7242600" cy="3252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2"/>
                </a:solidFill>
                <a:latin typeface="Open Sans Light"/>
                <a:ea typeface="Open Sans Light"/>
                <a:cs typeface="Open Sans Light"/>
                <a:sym typeface="Open Sans Light"/>
              </a:rPr>
              <a:t>As a final task of hardening the system, you want to ensure that Apache always runs as a low privileged user with restricted system access. To do that, create a new user group called “apache-group” and a new user account called “apache-user”. Provide the name of the configuration file and the exact lines that you would change to ensure that apache launches as the newly created user account. </a:t>
            </a:r>
            <a:endParaRPr>
              <a:solidFill>
                <a:schemeClr val="dk2"/>
              </a:solidFill>
              <a:latin typeface="Open Sans Light"/>
              <a:ea typeface="Open Sans Light"/>
              <a:cs typeface="Open Sans Light"/>
              <a:sym typeface="Open Sans Light"/>
            </a:endParaRPr>
          </a:p>
        </p:txBody>
      </p:sp>
      <p:graphicFrame>
        <p:nvGraphicFramePr>
          <p:cNvPr id="169" name="Google Shape;169;p27"/>
          <p:cNvGraphicFramePr/>
          <p:nvPr>
            <p:extLst>
              <p:ext uri="{D42A27DB-BD31-4B8C-83A1-F6EECF244321}">
                <p14:modId xmlns:p14="http://schemas.microsoft.com/office/powerpoint/2010/main" val="710796724"/>
              </p:ext>
            </p:extLst>
          </p:nvPr>
        </p:nvGraphicFramePr>
        <p:xfrm>
          <a:off x="264900" y="4210125"/>
          <a:ext cx="7242600" cy="1301436"/>
        </p:xfrm>
        <a:graphic>
          <a:graphicData uri="http://schemas.openxmlformats.org/drawingml/2006/table">
            <a:tbl>
              <a:tblPr>
                <a:noFill/>
                <a:tableStyleId>{1A72D16B-5AA9-4E4A-B3CA-297A1D49E447}</a:tableStyleId>
              </a:tblPr>
              <a:tblGrid>
                <a:gridCol w="2668650">
                  <a:extLst>
                    <a:ext uri="{9D8B030D-6E8A-4147-A177-3AD203B41FA5}">
                      <a16:colId xmlns:a16="http://schemas.microsoft.com/office/drawing/2014/main" val="20000"/>
                    </a:ext>
                  </a:extLst>
                </a:gridCol>
                <a:gridCol w="4573950">
                  <a:extLst>
                    <a:ext uri="{9D8B030D-6E8A-4147-A177-3AD203B41FA5}">
                      <a16:colId xmlns:a16="http://schemas.microsoft.com/office/drawing/2014/main" val="20001"/>
                    </a:ext>
                  </a:extLst>
                </a:gridCol>
              </a:tblGrid>
              <a:tr h="412450">
                <a:tc>
                  <a:txBody>
                    <a:bodyPr/>
                    <a:lstStyle/>
                    <a:p>
                      <a:pPr marL="0" lvl="0" indent="0" algn="l" rtl="0">
                        <a:lnSpc>
                          <a:spcPct val="115000"/>
                        </a:lnSpc>
                        <a:spcBef>
                          <a:spcPts val="0"/>
                        </a:spcBef>
                        <a:spcAft>
                          <a:spcPts val="1600"/>
                        </a:spcAft>
                        <a:buClr>
                          <a:schemeClr val="dk1"/>
                        </a:buClr>
                        <a:buSzPts val="1100"/>
                        <a:buFont typeface="Arial"/>
                        <a:buNone/>
                      </a:pPr>
                      <a:r>
                        <a:rPr lang="en" sz="1800">
                          <a:solidFill>
                            <a:schemeClr val="dk2"/>
                          </a:solidFill>
                          <a:latin typeface="Open Sans"/>
                          <a:ea typeface="Open Sans"/>
                          <a:cs typeface="Open Sans"/>
                          <a:sym typeface="Open Sans"/>
                        </a:rPr>
                        <a:t>Configuration file:</a:t>
                      </a:r>
                      <a:endParaRPr sz="1800">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dirty="0" smtClean="0"/>
                        <a:t>/</a:t>
                      </a:r>
                      <a:r>
                        <a:rPr lang="en-US" sz="1800" dirty="0" err="1" smtClean="0"/>
                        <a:t>etc</a:t>
                      </a:r>
                      <a:r>
                        <a:rPr lang="en-US" sz="1800" dirty="0" smtClean="0"/>
                        <a:t>/apache2/</a:t>
                      </a:r>
                      <a:r>
                        <a:rPr lang="en-US" sz="1800" dirty="0" err="1" smtClean="0"/>
                        <a:t>envvars</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12450">
                <a:tc>
                  <a:txBody>
                    <a:bodyPr/>
                    <a:lstStyle/>
                    <a:p>
                      <a:pPr marL="0" lvl="0" indent="0" algn="l" rtl="0">
                        <a:spcBef>
                          <a:spcPts val="0"/>
                        </a:spcBef>
                        <a:spcAft>
                          <a:spcPts val="0"/>
                        </a:spcAft>
                        <a:buNone/>
                      </a:pPr>
                      <a:r>
                        <a:rPr lang="en" sz="1800">
                          <a:solidFill>
                            <a:schemeClr val="dk2"/>
                          </a:solidFill>
                          <a:latin typeface="Open Sans"/>
                          <a:ea typeface="Open Sans"/>
                          <a:cs typeface="Open Sans"/>
                          <a:sym typeface="Open Sans"/>
                        </a:rPr>
                        <a:t>Lines to change:</a:t>
                      </a:r>
                      <a:endParaRPr sz="1800">
                        <a:solidFill>
                          <a:schemeClr val="dk2"/>
                        </a:solidFill>
                        <a:latin typeface="Open Sans"/>
                        <a:ea typeface="Open Sans"/>
                        <a:cs typeface="Open Sans"/>
                        <a:sym typeface="Open Sans"/>
                      </a:endParaRPr>
                    </a:p>
                  </a:txBody>
                  <a:tcPr marL="91425" marR="91425" marT="91425" marB="91425"/>
                </a:tc>
                <a:tc>
                  <a:txBody>
                    <a:bodyPr/>
                    <a:lstStyle/>
                    <a:p>
                      <a:r>
                        <a:rPr lang="en-US" sz="1400" dirty="0" smtClean="0"/>
                        <a:t>* export APACHE_RUN_USER=apache-user </a:t>
                      </a:r>
                    </a:p>
                    <a:p>
                      <a:endParaRPr lang="en-US" sz="1400" dirty="0" smtClean="0"/>
                    </a:p>
                    <a:p>
                      <a:r>
                        <a:rPr lang="en-US" sz="1400" dirty="0" smtClean="0"/>
                        <a:t>export APACHE_RUN_GROUP=apache-group</a:t>
                      </a:r>
                      <a:endParaRPr lang="en-US" sz="1400" dirty="0"/>
                    </a:p>
                  </a:txBody>
                  <a:tcPr marL="91425" marR="91425" marT="91425" marB="91425"/>
                </a:tc>
                <a:extLst>
                  <a:ext uri="{0D108BD9-81ED-4DB2-BD59-A6C34878D82A}">
                    <a16:rowId xmlns:a16="http://schemas.microsoft.com/office/drawing/2014/main" val="10001"/>
                  </a:ext>
                </a:extLst>
              </a:tr>
            </a:tbl>
          </a:graphicData>
        </a:graphic>
      </p:graphicFrame>
      <p:sp>
        <p:nvSpPr>
          <p:cNvPr id="3" name="Rectangle 2"/>
          <p:cNvSpPr/>
          <p:nvPr/>
        </p:nvSpPr>
        <p:spPr>
          <a:xfrm>
            <a:off x="428625" y="6293174"/>
            <a:ext cx="6972300" cy="738664"/>
          </a:xfrm>
          <a:prstGeom prst="rect">
            <a:avLst/>
          </a:prstGeom>
        </p:spPr>
        <p:txBody>
          <a:bodyPr wrap="square">
            <a:spAutoFit/>
          </a:bodyPr>
          <a:lstStyle/>
          <a:p>
            <a:r>
              <a:rPr lang="en-US" dirty="0"/>
              <a:t>To apply these changes, you can use the command </a:t>
            </a:r>
            <a:r>
              <a:rPr lang="en-US" dirty="0" err="1"/>
              <a:t>gedit</a:t>
            </a:r>
            <a:r>
              <a:rPr lang="en-US" dirty="0"/>
              <a:t> /</a:t>
            </a:r>
            <a:r>
              <a:rPr lang="en-US" dirty="0" err="1"/>
              <a:t>etc</a:t>
            </a:r>
            <a:r>
              <a:rPr lang="en-US" dirty="0"/>
              <a:t>/apache2/</a:t>
            </a:r>
            <a:r>
              <a:rPr lang="en-US" dirty="0" err="1"/>
              <a:t>envvars</a:t>
            </a:r>
            <a:r>
              <a:rPr lang="en-US" dirty="0"/>
              <a:t> to open the file and edit the APACHE_RUN_USER and APACHE_RUN_GROUP variables to the values specified above.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Optional task</a:t>
            </a:r>
            <a:endParaRPr/>
          </a:p>
        </p:txBody>
      </p:sp>
      <p:sp>
        <p:nvSpPr>
          <p:cNvPr id="175" name="Google Shape;175;p28"/>
          <p:cNvSpPr txBox="1">
            <a:spLocks noGrp="1"/>
          </p:cNvSpPr>
          <p:nvPr>
            <p:ph type="body" idx="1"/>
          </p:nvPr>
        </p:nvSpPr>
        <p:spPr>
          <a:xfrm>
            <a:off x="305275" y="1990177"/>
            <a:ext cx="7242600" cy="223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2"/>
                </a:solidFill>
                <a:latin typeface="Open Sans Light"/>
                <a:ea typeface="Open Sans Light"/>
                <a:cs typeface="Open Sans Light"/>
                <a:sym typeface="Open Sans Light"/>
              </a:rPr>
              <a:t>The head of security for South Udan is grateful to you for your services. They want to award you with a commendation, and you are asked to prepare an “Executive Summary” of the entire investigation and changes you have made to contain the threat. This executive summary will be used to brief the head of South Udan about the incident. </a:t>
            </a:r>
            <a:endParaRPr>
              <a:solidFill>
                <a:schemeClr val="dk2"/>
              </a:solidFill>
              <a:latin typeface="Open Sans Light"/>
              <a:ea typeface="Open Sans Light"/>
              <a:cs typeface="Open Sans Light"/>
              <a:sym typeface="Open Sans Light"/>
            </a:endParaRPr>
          </a:p>
        </p:txBody>
      </p:sp>
      <p:graphicFrame>
        <p:nvGraphicFramePr>
          <p:cNvPr id="176" name="Google Shape;176;p28"/>
          <p:cNvGraphicFramePr/>
          <p:nvPr/>
        </p:nvGraphicFramePr>
        <p:xfrm>
          <a:off x="305275" y="4086025"/>
          <a:ext cx="7242600" cy="5624125"/>
        </p:xfrm>
        <a:graphic>
          <a:graphicData uri="http://schemas.openxmlformats.org/drawingml/2006/table">
            <a:tbl>
              <a:tblPr>
                <a:noFill/>
                <a:tableStyleId>{1A72D16B-5AA9-4E4A-B3CA-297A1D49E447}</a:tableStyleId>
              </a:tblPr>
              <a:tblGrid>
                <a:gridCol w="7242600">
                  <a:extLst>
                    <a:ext uri="{9D8B030D-6E8A-4147-A177-3AD203B41FA5}">
                      <a16:colId xmlns:a16="http://schemas.microsoft.com/office/drawing/2014/main" val="20000"/>
                    </a:ext>
                  </a:extLst>
                </a:gridCol>
              </a:tblGrid>
              <a:tr h="5624125">
                <a:tc>
                  <a:txBody>
                    <a:bodyPr/>
                    <a:lstStyle/>
                    <a:p>
                      <a:pPr marL="0" lvl="0" indent="0" algn="l" rtl="0">
                        <a:spcBef>
                          <a:spcPts val="0"/>
                        </a:spcBef>
                        <a:spcAft>
                          <a:spcPts val="0"/>
                        </a:spcAft>
                        <a:buNone/>
                      </a:pPr>
                      <a:r>
                        <a:rPr lang="en" sz="1800" i="1">
                          <a:solidFill>
                            <a:schemeClr val="dk2"/>
                          </a:solidFill>
                          <a:latin typeface="Open Sans Light"/>
                          <a:ea typeface="Open Sans Light"/>
                          <a:cs typeface="Open Sans Light"/>
                          <a:sym typeface="Open Sans Light"/>
                        </a:rPr>
                        <a:t>[Write the executive summary here]</a:t>
                      </a:r>
                      <a:endParaRPr sz="1800">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2032</Words>
  <Application>Microsoft Office PowerPoint</Application>
  <PresentationFormat>Custom</PresentationFormat>
  <Paragraphs>117</Paragraphs>
  <Slides>23</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Helvetica Neue</vt:lpstr>
      <vt:lpstr>Open Sans Light</vt:lpstr>
      <vt:lpstr>Open Sans</vt:lpstr>
      <vt:lpstr>Arial</vt:lpstr>
      <vt:lpstr>Simple Light</vt:lpstr>
      <vt:lpstr>Responding to a  Nation-State Cyber Attack</vt:lpstr>
      <vt:lpstr>How to Use this Template</vt:lpstr>
      <vt:lpstr>Project Scenario</vt:lpstr>
      <vt:lpstr>What Are We Doing?</vt:lpstr>
      <vt:lpstr>What Are We Doing?</vt:lpstr>
      <vt:lpstr>Section One: Detection</vt:lpstr>
      <vt:lpstr>ClamAV Scan</vt:lpstr>
      <vt:lpstr>Suspicious File Identification</vt:lpstr>
      <vt:lpstr>Yara Rule Creation</vt:lpstr>
      <vt:lpstr>Section Two: Mitigation</vt:lpstr>
      <vt:lpstr>Implement HIDS</vt:lpstr>
      <vt:lpstr>PowerPoint Presentation</vt:lpstr>
      <vt:lpstr>Locate Suspicious IP</vt:lpstr>
      <vt:lpstr>IPtables Rule</vt:lpstr>
      <vt:lpstr>Detect Username, Process &amp; Port</vt:lpstr>
      <vt:lpstr>Disable SSH Root Access</vt:lpstr>
      <vt:lpstr>PowerPoint Presentation</vt:lpstr>
      <vt:lpstr>Optional task</vt:lpstr>
      <vt:lpstr>Section Three: Hardening</vt:lpstr>
      <vt:lpstr>OpenVAS Scan</vt:lpstr>
      <vt:lpstr>Patching Apache</vt:lpstr>
      <vt:lpstr>De-Privilege Apache Account</vt:lpstr>
      <vt:lpstr>Optional 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Responding to a  Nation-State Cyber Attack</dc:title>
  <cp:lastModifiedBy>Fatma Alzahra Alemam</cp:lastModifiedBy>
  <cp:revision>16</cp:revision>
  <dcterms:modified xsi:type="dcterms:W3CDTF">2026-03-13T09:54:46Z</dcterms:modified>
</cp:coreProperties>
</file>