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90" r:id="rId30"/>
    <p:sldId id="284" r:id="rId31"/>
    <p:sldId id="285" r:id="rId32"/>
    <p:sldId id="286" r:id="rId33"/>
    <p:sldId id="287" r:id="rId34"/>
    <p:sldId id="288" r:id="rId35"/>
    <p:sldId id="289" r:id="rId36"/>
  </p:sldIdLst>
  <p:sldSz cx="7772400" cy="10058400"/>
  <p:notesSz cx="6858000" cy="9144000"/>
  <p:embeddedFontLst>
    <p:embeddedFont>
      <p:font typeface="Helvetica Neue" panose="020B0604020202020204" charset="0"/>
      <p:regular r:id="rId38"/>
      <p:bold r:id="rId39"/>
      <p:italic r:id="rId40"/>
      <p:boldItalic r:id="rId41"/>
    </p:embeddedFont>
    <p:embeddedFont>
      <p:font typeface="Open Sans Light" panose="020B0306030504020204" pitchFamily="34" charset="0"/>
      <p:regular r:id="rId42"/>
      <p:bold r:id="rId43"/>
      <p:italic r:id="rId44"/>
      <p:boldItalic r:id="rId45"/>
    </p:embeddedFont>
    <p:embeddedFont>
      <p:font typeface="Open Sans" panose="020B060603050402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38BC5F6-6159-4CF2-BBDA-C664A75A62ED}">
  <a:tblStyle styleId="{F38BC5F6-6159-4CF2-BBDA-C664A75A62E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595" y="62"/>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2cd1c77ac7f_0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2cd1c77ac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g2cd1c77ac7f_0_63: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 name="Google Shape;43;g2cd1c77ac7f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2e7ce9f5b6e_2_59: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2e7ce9f5b6e_2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2abe88b6f23_0_45: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2abe88b6f2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2d29931d42e_0_16: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2d29931d42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e7ce9f5b6e_0_2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e7ce9f5b6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2e7ce9f5b6e_0_7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2e7ce9f5b6e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2e7ce9f5b6e_0_5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2e7ce9f5b6e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e7ce9f5b6e_0_3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e7ce9f5b6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e7ce9f5b6e_0_7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e7ce9f5b6e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e7ce9f5b6e_0_3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e7ce9f5b6e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e7ce9f5b6e_0_6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e7ce9f5b6e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d29931d42e_0_4: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d29931d42e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e7ce9f5b6e_2_22: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e7ce9f5b6e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e7ce9f5b6e_2_30: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e7ce9f5b6e_2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e7ce9f5b6e_2_39: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e7ce9f5b6e_2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e7ce9f5b6e_2_46: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e7ce9f5b6e_2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e7ce9f5b6e_2_52: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e7ce9f5b6e_2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e7ce9f5b6e_2_16: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e7ce9f5b6e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e7ce9f5b6e_0_130: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e7ce9f5b6e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7ce9f5b6e_0_135: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e7ce9f5b6e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e061ad7875_0_98:notes"/>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e061ad7875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e7ce9f5b6e_2_0: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e7ce9f5b6e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e7ce9f5b6e_0_9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7ce9f5b6e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e7ce9f5b6e_0_14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7ce9f5b6e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e7ce9f5b6e_0_15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2e7ce9f5b6e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e7ce9f5b6e_0_15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e7ce9f5b6e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e7ce9f5b6e_0_16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e7ce9f5b6e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e7ce9f5b6e_0_162: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e7ce9f5b6e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74895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2e7ce9f5b6e_0_167: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2e7ce9f5b6e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e7ce9f5b6e_0_17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e7ce9f5b6e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e7ce9f5b6e_0_189: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e7ce9f5b6e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e7ce9f5b6e_0_19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e7ce9f5b6e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e7ce9f5b6e_0_19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e7ce9f5b6e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61866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e7ce9f5b6e_0_195: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e7ce9f5b6e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74020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2B3E4"/>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600">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 name="Google Shape;12;p2"/>
          <p:cNvSpPr txBox="1">
            <a:spLocks noGrp="1"/>
          </p:cNvSpPr>
          <p:nvPr>
            <p:ph type="title" idx="2"/>
          </p:nvPr>
        </p:nvSpPr>
        <p:spPr>
          <a:xfrm>
            <a:off x="264895" y="8409771"/>
            <a:ext cx="7242600" cy="11199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Open Sans Light"/>
              <a:buNone/>
              <a:defRPr sz="3600">
                <a:solidFill>
                  <a:schemeClr val="lt1"/>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3" name="Google Shape;13;p2"/>
          <p:cNvPicPr preferRelativeResize="0"/>
          <p:nvPr/>
        </p:nvPicPr>
        <p:blipFill>
          <a:blip r:embed="rId2">
            <a:alphaModFix/>
          </a:blip>
          <a:stretch>
            <a:fillRect/>
          </a:stretch>
        </p:blipFill>
        <p:spPr>
          <a:xfrm>
            <a:off x="0" y="0"/>
            <a:ext cx="7772401" cy="870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SECTION_HEADER_1">
    <p:bg>
      <p:bgPr>
        <a:solidFill>
          <a:srgbClr val="2D3D49"/>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400"/>
              <a:buFont typeface="Open Sans Light"/>
              <a:buNone/>
              <a:defRPr sz="4400">
                <a:solidFill>
                  <a:schemeClr val="lt1"/>
                </a:solidFill>
                <a:latin typeface="Open Sans Light"/>
                <a:ea typeface="Open Sans Light"/>
                <a:cs typeface="Open Sans Light"/>
                <a:sym typeface="Open Sans Light"/>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pic>
        <p:nvPicPr>
          <p:cNvPr id="16" name="Google Shape;16;p3"/>
          <p:cNvPicPr preferRelativeResize="0"/>
          <p:nvPr/>
        </p:nvPicPr>
        <p:blipFill>
          <a:blip r:embed="rId2">
            <a:alphaModFix/>
          </a:blip>
          <a:stretch>
            <a:fillRect/>
          </a:stretch>
        </p:blipFill>
        <p:spPr>
          <a:xfrm>
            <a:off x="7020199" y="154300"/>
            <a:ext cx="530400" cy="530400"/>
          </a:xfrm>
          <a:prstGeom prst="rect">
            <a:avLst/>
          </a:prstGeom>
          <a:noFill/>
          <a:ln>
            <a:noFill/>
          </a:ln>
        </p:spPr>
      </p:pic>
      <p:pic>
        <p:nvPicPr>
          <p:cNvPr id="17" name="Google Shape;17;p3"/>
          <p:cNvPicPr preferRelativeResize="0"/>
          <p:nvPr/>
        </p:nvPicPr>
        <p:blipFill>
          <a:blip r:embed="rId3">
            <a:alphaModFix/>
          </a:blip>
          <a:stretch>
            <a:fillRect/>
          </a:stretch>
        </p:blipFill>
        <p:spPr>
          <a:xfrm>
            <a:off x="837125" y="4561700"/>
            <a:ext cx="1047750" cy="1524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move slide">
  <p:cSld name="SECTION_HEADER_1_1">
    <p:bg>
      <p:bgPr>
        <a:solidFill>
          <a:schemeClr val="lt1"/>
        </a:solidFill>
        <a:effectLst/>
      </p:bgPr>
    </p:bg>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3200">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p:nvPr/>
        </p:nvSpPr>
        <p:spPr>
          <a:xfrm>
            <a:off x="884150" y="7891976"/>
            <a:ext cx="6004200" cy="17493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600" b="1" i="1">
                <a:solidFill>
                  <a:srgbClr val="15C26B"/>
                </a:solidFill>
                <a:latin typeface="Open Sans"/>
                <a:ea typeface="Open Sans"/>
                <a:cs typeface="Open Sans"/>
                <a:sym typeface="Open Sans"/>
              </a:rPr>
              <a:t>Remove this slide </a:t>
            </a:r>
            <a:endParaRPr sz="3600" b="1" i="1">
              <a:solidFill>
                <a:srgbClr val="15C26B"/>
              </a:solidFill>
              <a:latin typeface="Open Sans"/>
              <a:ea typeface="Open Sans"/>
              <a:cs typeface="Open Sans"/>
              <a:sym typeface="Open Sans"/>
            </a:endParaRPr>
          </a:p>
        </p:txBody>
      </p:sp>
      <p:sp>
        <p:nvSpPr>
          <p:cNvPr id="21" name="Google Shape;21;p4"/>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914400" lvl="1"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2pPr>
            <a:lvl3pPr marL="1371600" lvl="2"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3pPr>
            <a:lvl4pPr marL="1828800" lvl="3"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4pPr>
            <a:lvl5pPr marL="2286000" lvl="4"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5pPr>
            <a:lvl6pPr marL="2743200" lvl="5"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6pPr>
            <a:lvl7pPr marL="3200400" lvl="6"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7pPr>
            <a:lvl8pPr marL="3657600" lvl="7"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8pPr>
            <a:lvl9pPr marL="4114800" lvl="8" indent="-342900" rtl="0">
              <a:spcBef>
                <a:spcPts val="1600"/>
              </a:spcBef>
              <a:spcAft>
                <a:spcPts val="1600"/>
              </a:spcAft>
              <a:buSzPts val="1800"/>
              <a:buFont typeface="Open Sans Light"/>
              <a:buChar char="■"/>
              <a:defRPr sz="1800">
                <a:latin typeface="Open Sans Light"/>
                <a:ea typeface="Open Sans Light"/>
                <a:cs typeface="Open Sans Light"/>
                <a:sym typeface="Open Sans Light"/>
              </a:defRPr>
            </a:lvl9pPr>
          </a:lstStyle>
          <a:p>
            <a:endParaRPr/>
          </a:p>
        </p:txBody>
      </p:sp>
      <p:pic>
        <p:nvPicPr>
          <p:cNvPr id="22" name="Google Shape;22;p4"/>
          <p:cNvPicPr preferRelativeResize="0"/>
          <p:nvPr/>
        </p:nvPicPr>
        <p:blipFill rotWithShape="1">
          <a:blip r:embed="rId2">
            <a:alphaModFix/>
          </a:blip>
          <a:srcRect/>
          <a:stretch/>
        </p:blipFill>
        <p:spPr>
          <a:xfrm>
            <a:off x="7020199" y="154300"/>
            <a:ext cx="530400" cy="5304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fo Slide">
  <p:cSld name="SECTION_HEADER_1_1_2">
    <p:bg>
      <p:bgPr>
        <a:solidFill>
          <a:schemeClr val="lt1"/>
        </a:solidFill>
        <a:effectLst/>
      </p:bgPr>
    </p:bg>
    <p:spTree>
      <p:nvGrpSpPr>
        <p:cNvPr id="1" name="Shape 23"/>
        <p:cNvGrpSpPr/>
        <p:nvPr/>
      </p:nvGrpSpPr>
      <p:grpSpPr>
        <a:xfrm>
          <a:off x="0" y="0"/>
          <a:ext cx="0" cy="0"/>
          <a:chOff x="0" y="0"/>
          <a:chExt cx="0" cy="0"/>
        </a:xfrm>
      </p:grpSpPr>
      <p:sp>
        <p:nvSpPr>
          <p:cNvPr id="24" name="Google Shape;24;p5"/>
          <p:cNvSpPr txBox="1"/>
          <p:nvPr/>
        </p:nvSpPr>
        <p:spPr>
          <a:xfrm>
            <a:off x="0" y="0"/>
            <a:ext cx="7772400" cy="795900"/>
          </a:xfrm>
          <a:prstGeom prst="rect">
            <a:avLst/>
          </a:prstGeom>
          <a:solidFill>
            <a:srgbClr val="DBE2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200" b="1" i="1">
                <a:solidFill>
                  <a:srgbClr val="15C26B"/>
                </a:solidFill>
                <a:latin typeface="Open Sans"/>
                <a:ea typeface="Open Sans"/>
                <a:cs typeface="Open Sans"/>
                <a:sym typeface="Open Sans"/>
              </a:rPr>
              <a:t>Project Information Slide</a:t>
            </a:r>
            <a:endParaRPr sz="2200" b="1" i="1">
              <a:solidFill>
                <a:srgbClr val="15C26B"/>
              </a:solidFill>
              <a:latin typeface="Open Sans"/>
              <a:ea typeface="Open Sans"/>
              <a:cs typeface="Open Sans"/>
              <a:sym typeface="Open Sans"/>
            </a:endParaRPr>
          </a:p>
        </p:txBody>
      </p:sp>
      <p:sp>
        <p:nvSpPr>
          <p:cNvPr id="25" name="Google Shape;25;p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200"/>
              <a:buFont typeface="Open Sans Light"/>
              <a:buNone/>
              <a:defRPr sz="3200">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Open Sans Light"/>
              <a:buChar char="●"/>
              <a:defRPr>
                <a:latin typeface="Open Sans Light"/>
                <a:ea typeface="Open Sans Light"/>
                <a:cs typeface="Open Sans Light"/>
                <a:sym typeface="Open Sans Light"/>
              </a:defRPr>
            </a:lvl1pPr>
            <a:lvl2pPr marL="914400" lvl="1"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2pPr>
            <a:lvl3pPr marL="1371600" lvl="2"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3pPr>
            <a:lvl4pPr marL="1828800" lvl="3"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4pPr>
            <a:lvl5pPr marL="2286000" lvl="4"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5pPr>
            <a:lvl6pPr marL="2743200" lvl="5"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6pPr>
            <a:lvl7pPr marL="3200400" lvl="6"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7pPr>
            <a:lvl8pPr marL="3657600" lvl="7" indent="-342900" rtl="0">
              <a:spcBef>
                <a:spcPts val="1600"/>
              </a:spcBef>
              <a:spcAft>
                <a:spcPts val="0"/>
              </a:spcAft>
              <a:buSzPts val="1800"/>
              <a:buFont typeface="Open Sans Light"/>
              <a:buChar char="○"/>
              <a:defRPr sz="1800">
                <a:latin typeface="Open Sans Light"/>
                <a:ea typeface="Open Sans Light"/>
                <a:cs typeface="Open Sans Light"/>
                <a:sym typeface="Open Sans Light"/>
              </a:defRPr>
            </a:lvl8pPr>
            <a:lvl9pPr marL="4114800" lvl="8" indent="-342900" rtl="0">
              <a:spcBef>
                <a:spcPts val="1600"/>
              </a:spcBef>
              <a:spcAft>
                <a:spcPts val="1600"/>
              </a:spcAft>
              <a:buSzPts val="1800"/>
              <a:buFont typeface="Open Sans Light"/>
              <a:buChar char="■"/>
              <a:defRPr sz="1800">
                <a:latin typeface="Open Sans Light"/>
                <a:ea typeface="Open Sans Light"/>
                <a:cs typeface="Open Sans Light"/>
                <a:sym typeface="Open Sans Ligh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tudent work slide">
  <p:cSld name="SECTION_HEADER_1_1_2_1">
    <p:bg>
      <p:bgPr>
        <a:solidFill>
          <a:schemeClr val="lt1"/>
        </a:solidFill>
        <a:effectLst/>
      </p:bgPr>
    </p:bg>
    <p:spTree>
      <p:nvGrpSpPr>
        <p:cNvPr id="1" name="Shape 27"/>
        <p:cNvGrpSpPr/>
        <p:nvPr/>
      </p:nvGrpSpPr>
      <p:grpSpPr>
        <a:xfrm>
          <a:off x="0" y="0"/>
          <a:ext cx="0" cy="0"/>
          <a:chOff x="0" y="0"/>
          <a:chExt cx="0" cy="0"/>
        </a:xfrm>
      </p:grpSpPr>
      <p:sp>
        <p:nvSpPr>
          <p:cNvPr id="28" name="Google Shape;28;p6"/>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42900" rtl="0">
              <a:spcBef>
                <a:spcPts val="1600"/>
              </a:spcBef>
              <a:spcAft>
                <a:spcPts val="0"/>
              </a:spcAft>
              <a:buSzPts val="1800"/>
              <a:buChar char="○"/>
              <a:defRPr sz="1800"/>
            </a:lvl2pPr>
            <a:lvl3pPr marL="1371600" lvl="2" indent="-342900" rtl="0">
              <a:spcBef>
                <a:spcPts val="1600"/>
              </a:spcBef>
              <a:spcAft>
                <a:spcPts val="0"/>
              </a:spcAft>
              <a:buSzPts val="1800"/>
              <a:buChar char="■"/>
              <a:defRPr sz="1800"/>
            </a:lvl3pPr>
            <a:lvl4pPr marL="1828800" lvl="3" indent="-342900" rtl="0">
              <a:spcBef>
                <a:spcPts val="1600"/>
              </a:spcBef>
              <a:spcAft>
                <a:spcPts val="0"/>
              </a:spcAft>
              <a:buSzPts val="1800"/>
              <a:buChar char="●"/>
              <a:defRPr sz="1800"/>
            </a:lvl4pPr>
            <a:lvl5pPr marL="2286000" lvl="4" indent="-342900" rtl="0">
              <a:spcBef>
                <a:spcPts val="1600"/>
              </a:spcBef>
              <a:spcAft>
                <a:spcPts val="0"/>
              </a:spcAft>
              <a:buSzPts val="1800"/>
              <a:buChar char="○"/>
              <a:defRPr sz="1800"/>
            </a:lvl5pPr>
            <a:lvl6pPr marL="2743200" lvl="5" indent="-342900" rtl="0">
              <a:spcBef>
                <a:spcPts val="1600"/>
              </a:spcBef>
              <a:spcAft>
                <a:spcPts val="0"/>
              </a:spcAft>
              <a:buSzPts val="1800"/>
              <a:buChar char="■"/>
              <a:defRPr sz="1800"/>
            </a:lvl6pPr>
            <a:lvl7pPr marL="3200400" lvl="6" indent="-342900" rtl="0">
              <a:spcBef>
                <a:spcPts val="1600"/>
              </a:spcBef>
              <a:spcAft>
                <a:spcPts val="0"/>
              </a:spcAft>
              <a:buSzPts val="1800"/>
              <a:buChar char="●"/>
              <a:defRPr sz="1800"/>
            </a:lvl7pPr>
            <a:lvl8pPr marL="3657600" lvl="7" indent="-342900" rtl="0">
              <a:spcBef>
                <a:spcPts val="1600"/>
              </a:spcBef>
              <a:spcAft>
                <a:spcPts val="0"/>
              </a:spcAft>
              <a:buSzPts val="1800"/>
              <a:buChar char="○"/>
              <a:defRPr sz="1800"/>
            </a:lvl8pPr>
            <a:lvl9pPr marL="4114800" lvl="8" indent="-342900" rtl="0">
              <a:spcBef>
                <a:spcPts val="1600"/>
              </a:spcBef>
              <a:spcAft>
                <a:spcPts val="1600"/>
              </a:spcAft>
              <a:buSzPts val="1800"/>
              <a:buChar char="■"/>
              <a:defRPr sz="1800"/>
            </a:lvl9pPr>
          </a:lstStyle>
          <a:p>
            <a:endParaRPr/>
          </a:p>
        </p:txBody>
      </p:sp>
      <p:pic>
        <p:nvPicPr>
          <p:cNvPr id="29" name="Google Shape;29;p6"/>
          <p:cNvPicPr preferRelativeResize="0"/>
          <p:nvPr/>
        </p:nvPicPr>
        <p:blipFill rotWithShape="1">
          <a:blip r:embed="rId2">
            <a:alphaModFix/>
          </a:blip>
          <a:srcRect/>
          <a:stretch/>
        </p:blipFill>
        <p:spPr>
          <a:xfrm>
            <a:off x="7020199" y="154300"/>
            <a:ext cx="530400" cy="530400"/>
          </a:xfrm>
          <a:prstGeom prst="rect">
            <a:avLst/>
          </a:prstGeom>
          <a:noFill/>
          <a:ln>
            <a:noFill/>
          </a:ln>
        </p:spPr>
      </p:pic>
      <p:sp>
        <p:nvSpPr>
          <p:cNvPr id="30" name="Google Shape;30;p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2B3E4"/>
              </a:buClr>
              <a:buSzPts val="3200"/>
              <a:buFont typeface="Open Sans Light"/>
              <a:buNone/>
              <a:defRPr sz="3200">
                <a:solidFill>
                  <a:srgbClr val="02B3E4"/>
                </a:solidFill>
                <a:latin typeface="Open Sans Light"/>
                <a:ea typeface="Open Sans Light"/>
                <a:cs typeface="Open Sans Light"/>
                <a:sym typeface="Open Sans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3" name="Google Shape;33;p7"/>
          <p:cNvSpPr txBox="1">
            <a:spLocks noGrp="1"/>
          </p:cNvSpPr>
          <p:nvPr>
            <p:ph type="body" idx="1"/>
          </p:nvPr>
        </p:nvSpPr>
        <p:spPr>
          <a:xfrm>
            <a:off x="264945" y="2253729"/>
            <a:ext cx="7242600" cy="6239700"/>
          </a:xfrm>
          <a:prstGeom prst="rect">
            <a:avLst/>
          </a:prstGeom>
        </p:spPr>
        <p:txBody>
          <a:bodyPr spcFirstLastPara="1" wrap="square" lIns="91425" tIns="91425" rIns="91425" bIns="91425" anchor="t" anchorCtr="0">
            <a:noAutofit/>
          </a:bodyPr>
          <a:lstStyle>
            <a:lvl1pPr marL="457200" lvl="0" indent="-419100" rtl="0">
              <a:spcBef>
                <a:spcPts val="0"/>
              </a:spcBef>
              <a:spcAft>
                <a:spcPts val="0"/>
              </a:spcAft>
              <a:buSzPts val="3000"/>
              <a:buChar char="●"/>
              <a:defRPr sz="3000"/>
            </a:lvl1pPr>
            <a:lvl2pPr marL="914400" lvl="1" indent="-381000" rtl="0">
              <a:spcBef>
                <a:spcPts val="1600"/>
              </a:spcBef>
              <a:spcAft>
                <a:spcPts val="0"/>
              </a:spcAft>
              <a:buSzPts val="2400"/>
              <a:buChar char="○"/>
              <a:defRPr sz="2400"/>
            </a:lvl2pPr>
            <a:lvl3pPr marL="1371600" lvl="2" indent="-342900" rtl="0">
              <a:spcBef>
                <a:spcPts val="1600"/>
              </a:spcBef>
              <a:spcAft>
                <a:spcPts val="0"/>
              </a:spcAft>
              <a:buSzPts val="1800"/>
              <a:buChar char="■"/>
              <a:defRPr sz="1800"/>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Clr>
                <a:srgbClr val="2E3D49"/>
              </a:buClr>
              <a:buSzPts val="3000"/>
              <a:buNone/>
              <a:defRPr sz="3000">
                <a:solidFill>
                  <a:srgbClr val="2E3D49"/>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rgbClr val="525C65"/>
              </a:buClr>
              <a:buSzPts val="1800"/>
              <a:buFont typeface="Open Sans"/>
              <a:buChar char="●"/>
              <a:defRPr sz="1800">
                <a:solidFill>
                  <a:srgbClr val="525C65"/>
                </a:solidFill>
                <a:latin typeface="Open Sans"/>
                <a:ea typeface="Open Sans"/>
                <a:cs typeface="Open Sans"/>
                <a:sym typeface="Open Sans"/>
              </a:defRPr>
            </a:lvl1pPr>
            <a:lvl2pPr marL="914400" lvl="1"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2pPr>
            <a:lvl3pPr marL="1371600" lvl="2"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3pPr>
            <a:lvl4pPr marL="1828800" lvl="3"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4pPr>
            <a:lvl5pPr marL="2286000" lvl="4"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5pPr>
            <a:lvl6pPr marL="2743200" lvl="5"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6pPr>
            <a:lvl7pPr marL="3200400" lvl="6"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7pPr>
            <a:lvl8pPr marL="3657600" lvl="7" indent="-317500" rtl="0">
              <a:lnSpc>
                <a:spcPct val="115000"/>
              </a:lnSpc>
              <a:spcBef>
                <a:spcPts val="1600"/>
              </a:spcBef>
              <a:spcAft>
                <a:spcPts val="0"/>
              </a:spcAft>
              <a:buClr>
                <a:srgbClr val="525C65"/>
              </a:buClr>
              <a:buSzPts val="1400"/>
              <a:buFont typeface="Open Sans"/>
              <a:buChar char="○"/>
              <a:defRPr>
                <a:solidFill>
                  <a:srgbClr val="525C65"/>
                </a:solidFill>
                <a:latin typeface="Open Sans"/>
                <a:ea typeface="Open Sans"/>
                <a:cs typeface="Open Sans"/>
                <a:sym typeface="Open Sans"/>
              </a:defRPr>
            </a:lvl8pPr>
            <a:lvl9pPr marL="4114800" lvl="8" indent="-317500" rtl="0">
              <a:lnSpc>
                <a:spcPct val="115000"/>
              </a:lnSpc>
              <a:spcBef>
                <a:spcPts val="1600"/>
              </a:spcBef>
              <a:spcAft>
                <a:spcPts val="1600"/>
              </a:spcAft>
              <a:buClr>
                <a:srgbClr val="525C65"/>
              </a:buClr>
              <a:buSzPts val="1400"/>
              <a:buFont typeface="Open Sans"/>
              <a:buChar char="■"/>
              <a:defRPr>
                <a:solidFill>
                  <a:srgbClr val="525C65"/>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a:off x="-11" y="964431"/>
            <a:ext cx="32400" cy="931500"/>
          </a:xfrm>
          <a:prstGeom prst="rect">
            <a:avLst/>
          </a:prstGeom>
          <a:solidFill>
            <a:srgbClr val="15C26B"/>
          </a:solidFill>
          <a:ln>
            <a:noFill/>
          </a:ln>
        </p:spPr>
        <p:txBody>
          <a:bodyPr spcFirstLastPara="1" wrap="square" lIns="26775" tIns="26775" rIns="26775" bIns="26775" anchor="ctr" anchorCtr="0">
            <a:noAutofit/>
          </a:bodyPr>
          <a:lstStyle/>
          <a:p>
            <a:pPr marL="0" marR="0" lvl="0" indent="0" algn="ctr" rtl="0">
              <a:lnSpc>
                <a:spcPct val="100000"/>
              </a:lnSpc>
              <a:spcBef>
                <a:spcPts val="0"/>
              </a:spcBef>
              <a:spcAft>
                <a:spcPts val="0"/>
              </a:spcAft>
              <a:buClr>
                <a:srgbClr val="FFFFFF"/>
              </a:buClr>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8.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10.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12.emf"/></Relationships>
</file>

<file path=ppt/slides/_rels/slide2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15.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264945" y="1000171"/>
            <a:ext cx="7242600" cy="111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000"/>
              <a:t>Vulnerable Web Application </a:t>
            </a:r>
            <a:endParaRPr sz="4000"/>
          </a:p>
        </p:txBody>
      </p:sp>
      <p:sp>
        <p:nvSpPr>
          <p:cNvPr id="39" name="Google Shape;39;p8"/>
          <p:cNvSpPr txBox="1">
            <a:spLocks noGrp="1"/>
          </p:cNvSpPr>
          <p:nvPr>
            <p:ph type="title"/>
          </p:nvPr>
        </p:nvSpPr>
        <p:spPr>
          <a:xfrm>
            <a:off x="264950" y="8268001"/>
            <a:ext cx="7242600" cy="1514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000" b="1" i="1" dirty="0" smtClean="0">
                <a:latin typeface="Open Sans"/>
                <a:ea typeface="Open Sans"/>
                <a:cs typeface="Open Sans"/>
                <a:sym typeface="Open Sans"/>
              </a:rPr>
              <a:t>Fatma </a:t>
            </a:r>
            <a:r>
              <a:rPr lang="en-US" sz="4000" b="1" i="1" dirty="0" err="1" smtClean="0">
                <a:latin typeface="Open Sans"/>
                <a:ea typeface="Open Sans"/>
                <a:cs typeface="Open Sans"/>
                <a:sym typeface="Open Sans"/>
              </a:rPr>
              <a:t>agery</a:t>
            </a:r>
            <a:endParaRPr sz="4000" b="1" i="1" dirty="0">
              <a:latin typeface="Open Sans"/>
              <a:ea typeface="Open Sans"/>
              <a:cs typeface="Open Sans"/>
              <a:sym typeface="Open Sans"/>
            </a:endParaRPr>
          </a:p>
          <a:p>
            <a:pPr marL="0" lvl="0" indent="0" algn="ctr" rtl="0">
              <a:spcBef>
                <a:spcPts val="0"/>
              </a:spcBef>
              <a:spcAft>
                <a:spcPts val="0"/>
              </a:spcAft>
              <a:buNone/>
            </a:pPr>
            <a:endParaRPr sz="4000" b="1" i="1" dirty="0">
              <a:latin typeface="Open Sans"/>
              <a:ea typeface="Open Sans"/>
              <a:cs typeface="Open Sans"/>
              <a:sym typeface="Open Sans"/>
            </a:endParaRPr>
          </a:p>
        </p:txBody>
      </p:sp>
      <p:pic>
        <p:nvPicPr>
          <p:cNvPr id="40" name="Google Shape;40;p8"/>
          <p:cNvPicPr preferRelativeResize="0"/>
          <p:nvPr/>
        </p:nvPicPr>
        <p:blipFill>
          <a:blip r:embed="rId3">
            <a:alphaModFix/>
          </a:blip>
          <a:stretch>
            <a:fillRect/>
          </a:stretch>
        </p:blipFill>
        <p:spPr>
          <a:xfrm>
            <a:off x="161450" y="2571750"/>
            <a:ext cx="7449500" cy="5696251"/>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to Use this Template</a:t>
            </a:r>
            <a:endParaRPr/>
          </a:p>
        </p:txBody>
      </p:sp>
      <p:sp>
        <p:nvSpPr>
          <p:cNvPr id="46" name="Google Shape;46;p9"/>
          <p:cNvSpPr txBox="1">
            <a:spLocks noGrp="1"/>
          </p:cNvSpPr>
          <p:nvPr>
            <p:ph type="body" idx="1"/>
          </p:nvPr>
        </p:nvSpPr>
        <p:spPr>
          <a:xfrm>
            <a:off x="264945" y="2253729"/>
            <a:ext cx="7242600" cy="6681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We have provided these slides as a guide to ensure you submit all the required components to complete your project successfully.</a:t>
            </a:r>
            <a:endParaRPr/>
          </a:p>
          <a:p>
            <a:pPr marL="457200" lvl="0" indent="-342900" algn="l" rtl="0">
              <a:spcBef>
                <a:spcPts val="0"/>
              </a:spcBef>
              <a:spcAft>
                <a:spcPts val="0"/>
              </a:spcAft>
              <a:buSzPts val="1800"/>
              <a:buChar char="●"/>
            </a:pPr>
            <a:r>
              <a:rPr lang="en"/>
              <a:t>When presenting your project, remember that these slides are merely a guide. We strongly encourage you to embrace your creative freedom and make changes that reflect your unique vision as long as the required information is present.</a:t>
            </a:r>
            <a:endParaRPr/>
          </a:p>
          <a:p>
            <a:pPr marL="457200" lvl="0" indent="-342900" algn="l" rtl="0">
              <a:spcBef>
                <a:spcPts val="0"/>
              </a:spcBef>
              <a:spcAft>
                <a:spcPts val="0"/>
              </a:spcAft>
              <a:buSzPts val="1800"/>
              <a:buChar char="●"/>
            </a:pPr>
            <a:r>
              <a:rPr lang="en"/>
              <a:t>You can add slides to the template when your answers or screenshots do not fit on the previously provided pages.</a:t>
            </a:r>
            <a:endParaRPr/>
          </a:p>
          <a:p>
            <a:pPr marL="457200" lvl="0" indent="-342900" algn="l" rtl="0">
              <a:spcBef>
                <a:spcPts val="0"/>
              </a:spcBef>
              <a:spcAft>
                <a:spcPts val="0"/>
              </a:spcAft>
              <a:buSzPts val="1800"/>
              <a:buChar char="●"/>
            </a:pPr>
            <a:r>
              <a:rPr lang="en"/>
              <a:t>Delete this and the next slide before submitting your project.</a:t>
            </a:r>
            <a:endParaRPr/>
          </a:p>
          <a:p>
            <a:pPr marL="457200" lvl="0" indent="-342900" algn="l" rtl="0">
              <a:spcBef>
                <a:spcPts val="0"/>
              </a:spcBef>
              <a:spcAft>
                <a:spcPts val="0"/>
              </a:spcAft>
              <a:buSzPts val="1800"/>
              <a:buFont typeface="Open Sans"/>
              <a:buChar char="●"/>
            </a:pPr>
            <a:r>
              <a:rPr lang="en" b="1">
                <a:latin typeface="Open Sans"/>
                <a:ea typeface="Open Sans"/>
                <a:cs typeface="Open Sans"/>
                <a:sym typeface="Open Sans"/>
              </a:rPr>
              <a:t>Remember to add your name and the date to the cover page.</a:t>
            </a:r>
            <a:endParaRPr b="1">
              <a:latin typeface="Open Sans"/>
              <a:ea typeface="Open Sans"/>
              <a:cs typeface="Open Sans"/>
              <a:sym typeface="Open Sans"/>
            </a:endParaRPr>
          </a:p>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Project Scenario</a:t>
            </a:r>
            <a:endParaRPr/>
          </a:p>
        </p:txBody>
      </p:sp>
      <p:sp>
        <p:nvSpPr>
          <p:cNvPr id="52" name="Google Shape;52;p10"/>
          <p:cNvSpPr txBox="1">
            <a:spLocks noGrp="1"/>
          </p:cNvSpPr>
          <p:nvPr>
            <p:ph type="body" idx="1"/>
          </p:nvPr>
        </p:nvSpPr>
        <p:spPr>
          <a:xfrm>
            <a:off x="264950" y="2253725"/>
            <a:ext cx="7242600" cy="7334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a:t>You have been hired by a startup company, USociety, which has received reports from the well-known hacker group Fcity that their customer data was breached. They need you to identify how the attackers got into their system, extracted all of their customer's data, and identify any other security holes that their application might have. This security audit is considered the company's highest priority, and they need your help.</a:t>
            </a:r>
            <a:endParaRPr/>
          </a:p>
          <a:p>
            <a:pPr marL="0" lvl="0" indent="0" algn="l" rtl="0">
              <a:spcBef>
                <a:spcPts val="1200"/>
              </a:spcBef>
              <a:spcAft>
                <a:spcPts val="0"/>
              </a:spcAft>
              <a:buNone/>
            </a:pPr>
            <a:r>
              <a:rPr lang="en"/>
              <a:t>You will need to identify which OWASP Top 10 security issues the vulnerabilities belong to and their severity. You will also correctly match attack vectors to the OWASP Top 10 definition.</a:t>
            </a:r>
            <a:endParaRPr/>
          </a:p>
          <a:p>
            <a:pPr marL="0" lvl="0" indent="0" algn="l" rtl="0">
              <a:spcBef>
                <a:spcPts val="1200"/>
              </a:spcBef>
              <a:spcAft>
                <a:spcPts val="0"/>
              </a:spcAft>
              <a:buNone/>
            </a:pPr>
            <a:r>
              <a:rPr lang="en"/>
              <a:t>You will be given some static code analysis results and a web application. You will conduct a manual web application test to find all vulnerabilities and create write-up documentation to help the development team patch the code. The write-up documentation should clearly outline the steps needed to reproduce the security issue and best practices to support the development team in better understanding the issue.</a:t>
            </a:r>
            <a:endParaRPr/>
          </a:p>
          <a:p>
            <a:pPr marL="0" lvl="0" indent="0" algn="l" rtl="0">
              <a:spcBef>
                <a:spcPts val="1200"/>
              </a:spcBef>
              <a:spcAft>
                <a:spcPts val="0"/>
              </a:spcAft>
              <a:buNone/>
            </a:pPr>
            <a:r>
              <a:rPr lang="en"/>
              <a:t>At the end of this project, you will have the hands-on skills needed to tackle application security. You should be proud of this accomplishment.</a:t>
            </a:r>
            <a:endParaRPr/>
          </a:p>
          <a:p>
            <a:pPr marL="0" lvl="0" indent="0" algn="l" rtl="0">
              <a:spcBef>
                <a:spcPts val="1200"/>
              </a:spcBef>
              <a:spcAft>
                <a:spcPts val="0"/>
              </a:spcAft>
              <a:buNone/>
            </a:pPr>
            <a:endParaRPr/>
          </a:p>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1"/>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 One:</a:t>
            </a:r>
            <a:endParaRPr/>
          </a:p>
          <a:p>
            <a:pPr marL="0" lvl="0" indent="0" algn="l" rtl="0">
              <a:lnSpc>
                <a:spcPct val="150000"/>
              </a:lnSpc>
              <a:spcBef>
                <a:spcPts val="0"/>
              </a:spcBef>
              <a:spcAft>
                <a:spcPts val="0"/>
              </a:spcAft>
              <a:buNone/>
            </a:pPr>
            <a:r>
              <a:rPr lang="en"/>
              <a:t>Static Code Scan</a:t>
            </a:r>
            <a:endParaRPr/>
          </a:p>
        </p:txBody>
      </p:sp>
      <p:sp>
        <p:nvSpPr>
          <p:cNvPr id="58" name="Google Shape;58;p11"/>
          <p:cNvSpPr txBox="1">
            <a:spLocks noGrp="1"/>
          </p:cNvSpPr>
          <p:nvPr>
            <p:ph type="title" idx="4294967295"/>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Digital Project Management</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Static Code Scan</a:t>
            </a:r>
            <a:endParaRPr/>
          </a:p>
        </p:txBody>
      </p:sp>
      <p:sp>
        <p:nvSpPr>
          <p:cNvPr id="64" name="Google Shape;64;p12"/>
          <p:cNvSpPr txBox="1">
            <a:spLocks noGrp="1"/>
          </p:cNvSpPr>
          <p:nvPr>
            <p:ph type="body" idx="1"/>
          </p:nvPr>
        </p:nvSpPr>
        <p:spPr>
          <a:xfrm>
            <a:off x="305275" y="1855676"/>
            <a:ext cx="7242600" cy="7855800"/>
          </a:xfrm>
          <a:prstGeom prst="rect">
            <a:avLst/>
          </a:prstGeom>
        </p:spPr>
        <p:txBody>
          <a:bodyPr spcFirstLastPara="1" wrap="square" lIns="91425" tIns="0" rIns="91425" bIns="0" anchor="t" anchorCtr="0">
            <a:noAutofit/>
          </a:bodyPr>
          <a:lstStyle/>
          <a:p>
            <a:pPr marL="0" lvl="0" indent="0" algn="l" rtl="0">
              <a:spcBef>
                <a:spcPts val="1500"/>
              </a:spcBef>
              <a:spcAft>
                <a:spcPts val="0"/>
              </a:spcAft>
              <a:buNone/>
            </a:pPr>
            <a:r>
              <a:rPr lang="en">
                <a:solidFill>
                  <a:schemeClr val="dk2"/>
                </a:solidFill>
                <a:latin typeface="Open Sans"/>
                <a:ea typeface="Open Sans"/>
                <a:cs typeface="Open Sans"/>
                <a:sym typeface="Open Sans"/>
              </a:rPr>
              <a:t>In this part of the project, your task is to review the results of the static code scan performed on the application code. You need to identify and report comprehensive information for each security issue found in the scan. The identified issues are listed on the following pages.</a:t>
            </a:r>
            <a:endParaRPr>
              <a:solidFill>
                <a:schemeClr val="dk2"/>
              </a:solidFill>
              <a:latin typeface="Open Sans"/>
              <a:ea typeface="Open Sans"/>
              <a:cs typeface="Open Sans"/>
              <a:sym typeface="Open Sans"/>
            </a:endParaRPr>
          </a:p>
          <a:p>
            <a:pPr marL="0" lvl="0" indent="0" algn="l" rtl="0">
              <a:spcBef>
                <a:spcPts val="1500"/>
              </a:spcBef>
              <a:spcAft>
                <a:spcPts val="0"/>
              </a:spcAft>
              <a:buNone/>
            </a:pPr>
            <a:endParaRPr>
              <a:solidFill>
                <a:schemeClr val="dk2"/>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b="1">
                <a:solidFill>
                  <a:schemeClr val="dk2"/>
                </a:solidFill>
                <a:latin typeface="Open Sans"/>
                <a:ea typeface="Open Sans"/>
                <a:cs typeface="Open Sans"/>
                <a:sym typeface="Open Sans"/>
              </a:rPr>
              <a:t>For Each Issue:</a:t>
            </a:r>
            <a:endParaRPr b="1">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Set the Severity Type:</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There are only Critical, High, or Medium vulnerabilities on the slides.</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b="1">
                <a:solidFill>
                  <a:schemeClr val="dk2"/>
                </a:solidFill>
                <a:latin typeface="Open Sans"/>
                <a:ea typeface="Open Sans"/>
                <a:cs typeface="Open Sans"/>
                <a:sym typeface="Open Sans"/>
              </a:rPr>
              <a:t>There is one False Positive</a:t>
            </a:r>
            <a:r>
              <a:rPr lang="en">
                <a:solidFill>
                  <a:schemeClr val="dk2"/>
                </a:solidFill>
                <a:latin typeface="Open Sans"/>
                <a:ea typeface="Open Sans"/>
                <a:cs typeface="Open Sans"/>
                <a:sym typeface="Open Sans"/>
              </a:rPr>
              <a:t> among the issues. </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Be diligent in your assessment because if everything is marked as Critical, then nothing is truly Critical.</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Associate with an OWASP TOP 10 Reference:</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Link each issue to a relevant OWASP TOP 10 category. </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You can refer to either the 2017 or 2021 OWASP TOP 10 lists.</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Provide a High-Level Recommendation:</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Suggest a high-level solution or best practice to address and fix the issue effectively.</a:t>
            </a:r>
            <a:endParaRPr>
              <a:solidFill>
                <a:schemeClr val="dk1"/>
              </a:solidFill>
              <a:highlight>
                <a:srgbClr val="F7F7F7"/>
              </a:highlight>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Issue: B106</a:t>
            </a:r>
            <a:endParaRPr/>
          </a:p>
        </p:txBody>
      </p:sp>
      <p:sp>
        <p:nvSpPr>
          <p:cNvPr id="70" name="Google Shape;70;p13"/>
          <p:cNvSpPr txBox="1"/>
          <p:nvPr/>
        </p:nvSpPr>
        <p:spPr>
          <a:xfrm>
            <a:off x="264950" y="2028825"/>
            <a:ext cx="7242600" cy="3190800"/>
          </a:xfrm>
          <a:prstGeom prst="rect">
            <a:avLst/>
          </a:prstGeom>
          <a:solidFill>
            <a:srgbClr val="2E3D49"/>
          </a:solid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800">
                <a:solidFill>
                  <a:srgbClr val="02B3E4"/>
                </a:solidFill>
              </a:rPr>
              <a:t>&gt;&gt; Issue: [B106:hardcoded_password_funcarg] Possible hardcoded password: 'mysecurepassword'</a:t>
            </a:r>
            <a:endParaRPr sz="1800">
              <a:solidFill>
                <a:srgbClr val="02B3E4"/>
              </a:solidFill>
            </a:endParaRPr>
          </a:p>
          <a:p>
            <a:pPr marL="0" lvl="0" indent="0" algn="l" rtl="0">
              <a:spcBef>
                <a:spcPts val="0"/>
              </a:spcBef>
              <a:spcAft>
                <a:spcPts val="0"/>
              </a:spcAft>
              <a:buClr>
                <a:schemeClr val="dk1"/>
              </a:buClr>
              <a:buSzPts val="1100"/>
              <a:buFont typeface="Arial"/>
              <a:buNone/>
            </a:pPr>
            <a:r>
              <a:rPr lang="en" sz="1800">
                <a:solidFill>
                  <a:srgbClr val="02B3E4"/>
                </a:solidFill>
              </a:rPr>
              <a:t>   Location: SampleCode/init_db.py:14</a:t>
            </a:r>
            <a:endParaRPr sz="1800">
              <a:solidFill>
                <a:srgbClr val="02B3E4"/>
              </a:solidFill>
            </a:endParaRPr>
          </a:p>
          <a:p>
            <a:pPr marL="0" lvl="0" indent="0" algn="l" rtl="0">
              <a:spcBef>
                <a:spcPts val="0"/>
              </a:spcBef>
              <a:spcAft>
                <a:spcPts val="0"/>
              </a:spcAft>
              <a:buClr>
                <a:schemeClr val="dk1"/>
              </a:buClr>
              <a:buSzPts val="1100"/>
              <a:buFont typeface="Arial"/>
              <a:buNone/>
            </a:pPr>
            <a:r>
              <a:rPr lang="en" sz="1800">
                <a:solidFill>
                  <a:srgbClr val="02B3E4"/>
                </a:solidFill>
              </a:rPr>
              <a:t>13	    def open(self):</a:t>
            </a:r>
            <a:endParaRPr sz="1800">
              <a:solidFill>
                <a:srgbClr val="02B3E4"/>
              </a:solidFill>
            </a:endParaRPr>
          </a:p>
          <a:p>
            <a:pPr marL="0" lvl="0" indent="0" algn="l" rtl="0">
              <a:spcBef>
                <a:spcPts val="0"/>
              </a:spcBef>
              <a:spcAft>
                <a:spcPts val="0"/>
              </a:spcAft>
              <a:buClr>
                <a:schemeClr val="dk1"/>
              </a:buClr>
              <a:buSzPts val="1100"/>
              <a:buFont typeface="Arial"/>
              <a:buNone/>
            </a:pPr>
            <a:r>
              <a:rPr lang="en" sz="1800">
                <a:solidFill>
                  <a:srgbClr val="02B3E4"/>
                </a:solidFill>
              </a:rPr>
              <a:t>14	        self.conn = psycopg2.connect(user = "webappuser",</a:t>
            </a:r>
            <a:endParaRPr sz="1800">
              <a:solidFill>
                <a:srgbClr val="02B3E4"/>
              </a:solidFill>
            </a:endParaRPr>
          </a:p>
          <a:p>
            <a:pPr marL="0" lvl="0" indent="0" algn="l" rtl="0">
              <a:spcBef>
                <a:spcPts val="0"/>
              </a:spcBef>
              <a:spcAft>
                <a:spcPts val="0"/>
              </a:spcAft>
              <a:buClr>
                <a:schemeClr val="dk1"/>
              </a:buClr>
              <a:buSzPts val="1100"/>
              <a:buFont typeface="Arial"/>
              <a:buNone/>
            </a:pPr>
            <a:r>
              <a:rPr lang="en" sz="1800">
                <a:solidFill>
                  <a:srgbClr val="02B3E4"/>
                </a:solidFill>
              </a:rPr>
              <a:t>15	                                    password = "mysecurepassword",</a:t>
            </a:r>
            <a:endParaRPr sz="1800">
              <a:solidFill>
                <a:srgbClr val="02B3E4"/>
              </a:solidFill>
            </a:endParaRPr>
          </a:p>
          <a:p>
            <a:pPr marL="0" lvl="0" indent="0" algn="l" rtl="0">
              <a:spcBef>
                <a:spcPts val="0"/>
              </a:spcBef>
              <a:spcAft>
                <a:spcPts val="0"/>
              </a:spcAft>
              <a:buClr>
                <a:schemeClr val="dk1"/>
              </a:buClr>
              <a:buSzPts val="1100"/>
              <a:buFont typeface="Arial"/>
              <a:buNone/>
            </a:pPr>
            <a:r>
              <a:rPr lang="en" sz="1800">
                <a:solidFill>
                  <a:srgbClr val="02B3E4"/>
                </a:solidFill>
              </a:rPr>
              <a:t>16	                                    host = "localhost",</a:t>
            </a:r>
            <a:endParaRPr sz="1800">
              <a:solidFill>
                <a:srgbClr val="02B3E4"/>
              </a:solidFill>
            </a:endParaRPr>
          </a:p>
          <a:p>
            <a:pPr marL="0" lvl="0" indent="0" algn="l" rtl="0">
              <a:spcBef>
                <a:spcPts val="0"/>
              </a:spcBef>
              <a:spcAft>
                <a:spcPts val="0"/>
              </a:spcAft>
              <a:buClr>
                <a:schemeClr val="dk1"/>
              </a:buClr>
              <a:buSzPts val="1100"/>
              <a:buFont typeface="Arial"/>
              <a:buNone/>
            </a:pPr>
            <a:r>
              <a:rPr lang="en" sz="1800">
                <a:solidFill>
                  <a:srgbClr val="02B3E4"/>
                </a:solidFill>
              </a:rPr>
              <a:t>17	                                    port = "5432",</a:t>
            </a:r>
            <a:endParaRPr sz="1800">
              <a:solidFill>
                <a:srgbClr val="02B3E4"/>
              </a:solidFill>
            </a:endParaRPr>
          </a:p>
          <a:p>
            <a:pPr marL="0" lvl="0" indent="0" algn="l" rtl="0">
              <a:spcBef>
                <a:spcPts val="0"/>
              </a:spcBef>
              <a:spcAft>
                <a:spcPts val="0"/>
              </a:spcAft>
              <a:buClr>
                <a:schemeClr val="dk1"/>
              </a:buClr>
              <a:buSzPts val="1100"/>
              <a:buFont typeface="Arial"/>
              <a:buNone/>
            </a:pPr>
            <a:r>
              <a:rPr lang="en" sz="1800">
                <a:solidFill>
                  <a:srgbClr val="02B3E4"/>
                </a:solidFill>
              </a:rPr>
              <a:t>18	                                    database = "website")</a:t>
            </a:r>
            <a:endParaRPr sz="1800">
              <a:solidFill>
                <a:srgbClr val="02B3E4"/>
              </a:solidFill>
            </a:endParaRPr>
          </a:p>
          <a:p>
            <a:pPr marL="0" lvl="0" indent="0" algn="l" rtl="0">
              <a:spcBef>
                <a:spcPts val="0"/>
              </a:spcBef>
              <a:spcAft>
                <a:spcPts val="0"/>
              </a:spcAft>
              <a:buNone/>
            </a:pPr>
            <a:r>
              <a:rPr lang="en" sz="1800">
                <a:solidFill>
                  <a:srgbClr val="02B3E4"/>
                </a:solidFill>
              </a:rPr>
              <a:t>19	        self.cursor = self.conn.cursor()</a:t>
            </a:r>
            <a:endParaRPr sz="1800">
              <a:solidFill>
                <a:srgbClr val="02B3E4"/>
              </a:solidFill>
            </a:endParaRPr>
          </a:p>
        </p:txBody>
      </p:sp>
      <p:graphicFrame>
        <p:nvGraphicFramePr>
          <p:cNvPr id="71" name="Google Shape;71;p13"/>
          <p:cNvGraphicFramePr/>
          <p:nvPr>
            <p:extLst>
              <p:ext uri="{D42A27DB-BD31-4B8C-83A1-F6EECF244321}">
                <p14:modId xmlns:p14="http://schemas.microsoft.com/office/powerpoint/2010/main" val="2400960518"/>
              </p:ext>
            </p:extLst>
          </p:nvPr>
        </p:nvGraphicFramePr>
        <p:xfrm>
          <a:off x="264950" y="5534025"/>
          <a:ext cx="7242600" cy="4380570"/>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Critical</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A07:2021 – Identification and Authentication Failures</a:t>
                      </a:r>
                      <a:r>
                        <a:rPr lang="en-US" sz="1800" dirty="0" smtClean="0"/>
                        <a:t> (or A02:2017 – Broken Authentication)</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486125">
                <a:tc gridSpan="2">
                  <a:txBody>
                    <a:bodyPr/>
                    <a:lstStyle/>
                    <a:p>
                      <a:pPr marL="0" lvl="0" indent="0" algn="l" rtl="0">
                        <a:spcBef>
                          <a:spcPts val="0"/>
                        </a:spcBef>
                        <a:spcAft>
                          <a:spcPts val="0"/>
                        </a:spcAft>
                        <a:buNone/>
                      </a:pPr>
                      <a:r>
                        <a:rPr lang="en-US" sz="1800" b="1" dirty="0" smtClean="0"/>
                        <a:t>Never hardcode credentials in source code.</a:t>
                      </a:r>
                      <a:r>
                        <a:rPr lang="en-US" sz="1800" dirty="0" smtClean="0"/>
                        <a:t> Store secrets securely using environment variables, a secrets management service (like AWS Secrets Manager, </a:t>
                      </a:r>
                      <a:r>
                        <a:rPr lang="en-US" sz="1800" dirty="0" err="1" smtClean="0"/>
                        <a:t>HashiCorp</a:t>
                      </a:r>
                      <a:r>
                        <a:rPr lang="en-US" sz="1800" dirty="0" smtClean="0"/>
                        <a:t> Vault), or encrypted configuration files. Implement a secure credential retrieval mechanism that loads passwords at runtime from these secure sources instead of embedding them directly in the code. Additionally, ensure that all hardcoded credentials are immediately rotated and removed from version control history to prevent exposure.</a:t>
                      </a:r>
                      <a:endParaRPr sz="18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Issue: B108</a:t>
            </a:r>
            <a:endParaRPr/>
          </a:p>
        </p:txBody>
      </p:sp>
      <p:sp>
        <p:nvSpPr>
          <p:cNvPr id="77" name="Google Shape;77;p14"/>
          <p:cNvSpPr txBox="1"/>
          <p:nvPr/>
        </p:nvSpPr>
        <p:spPr>
          <a:xfrm>
            <a:off x="264950" y="2028825"/>
            <a:ext cx="7242600" cy="3190800"/>
          </a:xfrm>
          <a:prstGeom prst="rect">
            <a:avLst/>
          </a:prstGeom>
          <a:solidFill>
            <a:srgbClr val="2E3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02B3E4"/>
                </a:solidFill>
              </a:rPr>
              <a:t>&gt;&gt; Issue:  [B108:hardcoded_tmp_directory] Use of a hardcoded temporary directory.</a:t>
            </a:r>
            <a:endParaRPr sz="1800">
              <a:solidFill>
                <a:srgbClr val="02B3E4"/>
              </a:solidFill>
            </a:endParaRPr>
          </a:p>
          <a:p>
            <a:pPr marL="0" lvl="0" indent="0" algn="l" rtl="0">
              <a:lnSpc>
                <a:spcPct val="115000"/>
              </a:lnSpc>
              <a:spcBef>
                <a:spcPts val="0"/>
              </a:spcBef>
              <a:spcAft>
                <a:spcPts val="0"/>
              </a:spcAft>
              <a:buNone/>
            </a:pPr>
            <a:r>
              <a:rPr lang="en" sz="1800">
                <a:solidFill>
                  <a:srgbClr val="02B3E4"/>
                </a:solidFill>
              </a:rPr>
              <a:t>Location: SampleCode/temp_file.py:19</a:t>
            </a:r>
            <a:endParaRPr sz="1800">
              <a:solidFill>
                <a:srgbClr val="02B3E4"/>
              </a:solidFill>
            </a:endParaRPr>
          </a:p>
          <a:p>
            <a:pPr marL="0" lvl="0" indent="0" algn="l" rtl="0">
              <a:lnSpc>
                <a:spcPct val="115000"/>
              </a:lnSpc>
              <a:spcBef>
                <a:spcPts val="0"/>
              </a:spcBef>
              <a:spcAft>
                <a:spcPts val="0"/>
              </a:spcAft>
              <a:buNone/>
            </a:pPr>
            <a:endParaRPr sz="1800">
              <a:solidFill>
                <a:srgbClr val="02B3E4"/>
              </a:solidFill>
            </a:endParaRPr>
          </a:p>
          <a:p>
            <a:pPr marL="0" lvl="0" indent="0" algn="l" rtl="0">
              <a:spcBef>
                <a:spcPts val="0"/>
              </a:spcBef>
              <a:spcAft>
                <a:spcPts val="0"/>
              </a:spcAft>
              <a:buNone/>
            </a:pPr>
            <a:r>
              <a:rPr lang="en" sz="1800">
                <a:solidFill>
                  <a:srgbClr val="02B3E4"/>
                </a:solidFill>
              </a:rPr>
              <a:t>18 def createTempFile(data):</a:t>
            </a:r>
            <a:endParaRPr sz="1800">
              <a:solidFill>
                <a:srgbClr val="02B3E4"/>
              </a:solidFill>
            </a:endParaRPr>
          </a:p>
          <a:p>
            <a:pPr marL="0" lvl="0" indent="0" algn="l" rtl="0">
              <a:spcBef>
                <a:spcPts val="0"/>
              </a:spcBef>
              <a:spcAft>
                <a:spcPts val="0"/>
              </a:spcAft>
              <a:buNone/>
            </a:pPr>
            <a:r>
              <a:rPr lang="en" sz="1800">
                <a:solidFill>
                  <a:srgbClr val="02B3E4"/>
                </a:solidFill>
              </a:rPr>
              <a:t>19     temp_path = "/tmp/tempfile.txt"</a:t>
            </a:r>
            <a:endParaRPr sz="1800">
              <a:solidFill>
                <a:srgbClr val="02B3E4"/>
              </a:solidFill>
            </a:endParaRPr>
          </a:p>
          <a:p>
            <a:pPr marL="0" lvl="0" indent="0" algn="l" rtl="0">
              <a:spcBef>
                <a:spcPts val="0"/>
              </a:spcBef>
              <a:spcAft>
                <a:spcPts val="0"/>
              </a:spcAft>
              <a:buNone/>
            </a:pPr>
            <a:r>
              <a:rPr lang="en" sz="1800">
                <a:solidFill>
                  <a:srgbClr val="02B3E4"/>
                </a:solidFill>
              </a:rPr>
              <a:t>20     with open(temp_path, 'w') as temp_file:</a:t>
            </a:r>
            <a:endParaRPr sz="1800">
              <a:solidFill>
                <a:srgbClr val="02B3E4"/>
              </a:solidFill>
            </a:endParaRPr>
          </a:p>
          <a:p>
            <a:pPr marL="0" lvl="0" indent="0" algn="l" rtl="0">
              <a:spcBef>
                <a:spcPts val="0"/>
              </a:spcBef>
              <a:spcAft>
                <a:spcPts val="0"/>
              </a:spcAft>
              <a:buNone/>
            </a:pPr>
            <a:r>
              <a:rPr lang="en" sz="1800">
                <a:solidFill>
                  <a:srgbClr val="02B3E4"/>
                </a:solidFill>
              </a:rPr>
              <a:t>21         temp_file.write(data)</a:t>
            </a:r>
            <a:endParaRPr sz="1800">
              <a:solidFill>
                <a:srgbClr val="02B3E4"/>
              </a:solidFill>
            </a:endParaRPr>
          </a:p>
          <a:p>
            <a:pPr marL="63500" marR="63500" lvl="0" indent="0" algn="l" rtl="0">
              <a:lnSpc>
                <a:spcPct val="115000"/>
              </a:lnSpc>
              <a:spcBef>
                <a:spcPts val="0"/>
              </a:spcBef>
              <a:spcAft>
                <a:spcPts val="0"/>
              </a:spcAft>
              <a:buNone/>
            </a:pPr>
            <a:r>
              <a:rPr lang="en" sz="1800">
                <a:solidFill>
                  <a:srgbClr val="02B3E4"/>
                </a:solidFill>
              </a:rPr>
              <a:t>22     return temp_path</a:t>
            </a:r>
            <a:endParaRPr sz="1800">
              <a:solidFill>
                <a:srgbClr val="02B3E4"/>
              </a:solidFill>
            </a:endParaRPr>
          </a:p>
          <a:p>
            <a:pPr marL="0" lvl="0" indent="0" algn="l" rtl="0">
              <a:spcBef>
                <a:spcPts val="0"/>
              </a:spcBef>
              <a:spcAft>
                <a:spcPts val="0"/>
              </a:spcAft>
              <a:buNone/>
            </a:pPr>
            <a:endParaRPr sz="1800">
              <a:solidFill>
                <a:srgbClr val="02B3E4"/>
              </a:solidFill>
            </a:endParaRPr>
          </a:p>
        </p:txBody>
      </p:sp>
      <p:graphicFrame>
        <p:nvGraphicFramePr>
          <p:cNvPr id="78" name="Google Shape;78;p14"/>
          <p:cNvGraphicFramePr/>
          <p:nvPr>
            <p:extLst>
              <p:ext uri="{D42A27DB-BD31-4B8C-83A1-F6EECF244321}">
                <p14:modId xmlns:p14="http://schemas.microsoft.com/office/powerpoint/2010/main" val="4217789802"/>
              </p:ext>
            </p:extLst>
          </p:nvPr>
        </p:nvGraphicFramePr>
        <p:xfrm>
          <a:off x="264945" y="5403510"/>
          <a:ext cx="7242600" cy="4654890"/>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Medium</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A06:2021 – Vulnerable and Outdated Components</a:t>
                      </a:r>
                      <a:r>
                        <a:rPr lang="en-US" sz="1800" dirty="0" smtClean="0"/>
                        <a:t> (or A09:2017 – Using Components with Known Vulnerabilities)</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486125">
                <a:tc gridSpan="2">
                  <a:txBody>
                    <a:bodyPr/>
                    <a:lstStyle/>
                    <a:p>
                      <a:pPr marL="0" lvl="0" indent="0" algn="l" rtl="0">
                        <a:spcBef>
                          <a:spcPts val="0"/>
                        </a:spcBef>
                        <a:spcAft>
                          <a:spcPts val="0"/>
                        </a:spcAft>
                        <a:buNone/>
                      </a:pPr>
                      <a:r>
                        <a:rPr lang="en-US" sz="1800" b="1" dirty="0" smtClean="0"/>
                        <a:t>Avoid hardcoded file paths and use secure temporary file creation methods.</a:t>
                      </a:r>
                      <a:r>
                        <a:rPr lang="en-US" sz="1800" dirty="0" smtClean="0"/>
                        <a:t> Instead of hardcoding "/</a:t>
                      </a:r>
                      <a:r>
                        <a:rPr lang="en-US" sz="1800" dirty="0" err="1" smtClean="0"/>
                        <a:t>tmp</a:t>
                      </a:r>
                      <a:r>
                        <a:rPr lang="en-US" sz="1800" dirty="0" smtClean="0"/>
                        <a:t>/tempfile.txt", use language-specific secure temporary file functions that generate unique, unpredictable filenames in the system's proper temporary directory. In Python, use the </a:t>
                      </a:r>
                      <a:r>
                        <a:rPr lang="en-US" sz="1800" dirty="0" err="1" smtClean="0"/>
                        <a:t>tempfile</a:t>
                      </a:r>
                      <a:r>
                        <a:rPr lang="en-US" sz="1800" dirty="0" smtClean="0"/>
                        <a:t> module which handles race conditions, proper permissions, and cleanup automatically. Additionally, implement proper error handling and file permission controls to prevent unauthorized access to temporary files.</a:t>
                      </a:r>
                      <a:endParaRPr sz="18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Issue: B303</a:t>
            </a:r>
            <a:endParaRPr/>
          </a:p>
        </p:txBody>
      </p:sp>
      <p:sp>
        <p:nvSpPr>
          <p:cNvPr id="84" name="Google Shape;84;p15"/>
          <p:cNvSpPr txBox="1"/>
          <p:nvPr/>
        </p:nvSpPr>
        <p:spPr>
          <a:xfrm>
            <a:off x="264950" y="2028825"/>
            <a:ext cx="7242600" cy="3190800"/>
          </a:xfrm>
          <a:prstGeom prst="rect">
            <a:avLst/>
          </a:prstGeom>
          <a:solidFill>
            <a:srgbClr val="2E3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02B3E4"/>
                </a:solidFill>
              </a:rPr>
              <a:t>&gt;&gt; Issue: [B303:blacklist] Use of insecure MD2, MD4, MD5, or SHA1 hash function.</a:t>
            </a:r>
            <a:endParaRPr sz="1800">
              <a:solidFill>
                <a:srgbClr val="02B3E4"/>
              </a:solidFill>
            </a:endParaRPr>
          </a:p>
          <a:p>
            <a:pPr marL="0" lvl="0" indent="0" algn="l" rtl="0">
              <a:spcBef>
                <a:spcPts val="0"/>
              </a:spcBef>
              <a:spcAft>
                <a:spcPts val="0"/>
              </a:spcAft>
              <a:buNone/>
            </a:pPr>
            <a:r>
              <a:rPr lang="en" sz="1800">
                <a:solidFill>
                  <a:srgbClr val="02B3E4"/>
                </a:solidFill>
              </a:rPr>
              <a:t>   Location: SampleCode/create_customer.py:23</a:t>
            </a:r>
            <a:endParaRPr sz="1800">
              <a:solidFill>
                <a:srgbClr val="02B3E4"/>
              </a:solidFill>
            </a:endParaRPr>
          </a:p>
          <a:p>
            <a:pPr marL="0" lvl="0" indent="0" algn="l" rtl="0">
              <a:spcBef>
                <a:spcPts val="0"/>
              </a:spcBef>
              <a:spcAft>
                <a:spcPts val="0"/>
              </a:spcAft>
              <a:buNone/>
            </a:pPr>
            <a:r>
              <a:rPr lang="en" sz="1800">
                <a:solidFill>
                  <a:srgbClr val="02B3E4"/>
                </a:solidFill>
              </a:rPr>
              <a:t>22	        self.email = email</a:t>
            </a:r>
            <a:endParaRPr sz="1800">
              <a:solidFill>
                <a:srgbClr val="02B3E4"/>
              </a:solidFill>
            </a:endParaRPr>
          </a:p>
          <a:p>
            <a:pPr marL="0" lvl="0" indent="0" algn="l" rtl="0">
              <a:spcBef>
                <a:spcPts val="0"/>
              </a:spcBef>
              <a:spcAft>
                <a:spcPts val="0"/>
              </a:spcAft>
              <a:buNone/>
            </a:pPr>
            <a:r>
              <a:rPr lang="en" sz="1800">
                <a:solidFill>
                  <a:srgbClr val="02B3E4"/>
                </a:solidFill>
              </a:rPr>
              <a:t>23	        self.password = hashlib.md5(password.encode('utf-8')).hexdigest()</a:t>
            </a:r>
            <a:endParaRPr sz="1800">
              <a:solidFill>
                <a:srgbClr val="02B3E4"/>
              </a:solidFill>
            </a:endParaRPr>
          </a:p>
          <a:p>
            <a:pPr marL="0" lvl="0" indent="0" algn="l" rtl="0">
              <a:spcBef>
                <a:spcPts val="0"/>
              </a:spcBef>
              <a:spcAft>
                <a:spcPts val="0"/>
              </a:spcAft>
              <a:buNone/>
            </a:pPr>
            <a:r>
              <a:rPr lang="en" sz="1800">
                <a:solidFill>
                  <a:srgbClr val="02B3E4"/>
                </a:solidFill>
              </a:rPr>
              <a:t>24	        self.banner = safestring.mark_safe(banner)</a:t>
            </a:r>
            <a:endParaRPr sz="1800">
              <a:solidFill>
                <a:srgbClr val="02B3E4"/>
              </a:solidFill>
            </a:endParaRPr>
          </a:p>
        </p:txBody>
      </p:sp>
      <p:graphicFrame>
        <p:nvGraphicFramePr>
          <p:cNvPr id="85" name="Google Shape;85;p15"/>
          <p:cNvGraphicFramePr/>
          <p:nvPr>
            <p:extLst>
              <p:ext uri="{D42A27DB-BD31-4B8C-83A1-F6EECF244321}">
                <p14:modId xmlns:p14="http://schemas.microsoft.com/office/powerpoint/2010/main" val="1017300485"/>
              </p:ext>
            </p:extLst>
          </p:nvPr>
        </p:nvGraphicFramePr>
        <p:xfrm>
          <a:off x="264950" y="5534025"/>
          <a:ext cx="7242600" cy="4380570"/>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dirty="0">
                          <a:solidFill>
                            <a:schemeClr val="dk2"/>
                          </a:solidFill>
                          <a:latin typeface="Open Sans"/>
                          <a:ea typeface="Open Sans"/>
                          <a:cs typeface="Open Sans"/>
                          <a:sym typeface="Open Sans"/>
                        </a:rPr>
                        <a:t>Severity:</a:t>
                      </a:r>
                      <a:endParaRPr sz="1800" b="1" i="1" dirty="0">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High</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A02:2021 – Cryptographic Failures</a:t>
                      </a:r>
                      <a:r>
                        <a:rPr lang="en-US" sz="1800" dirty="0" smtClean="0"/>
                        <a:t> (formerly A3:2017 – Sensitive Data Exposure)</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486125">
                <a:tc gridSpan="2">
                  <a:txBody>
                    <a:bodyPr/>
                    <a:lstStyle/>
                    <a:p>
                      <a:pPr marL="0" lvl="0" indent="0" algn="l" rtl="0">
                        <a:spcBef>
                          <a:spcPts val="0"/>
                        </a:spcBef>
                        <a:spcAft>
                          <a:spcPts val="0"/>
                        </a:spcAft>
                        <a:buNone/>
                      </a:pPr>
                      <a:r>
                        <a:rPr lang="en-US" sz="1600" b="1" dirty="0" smtClean="0"/>
                        <a:t>Replace weak cryptographic hash functions with strong, adaptive hashing algorithms specifically designed for password storage.</a:t>
                      </a:r>
                      <a:r>
                        <a:rPr lang="en-US" sz="1600" dirty="0" smtClean="0"/>
                        <a:t> MD5 is cryptographically broken and vulnerable to collision attacks, and it can be cracked in seconds using modern hardware with rainbow tables. Implement </a:t>
                      </a:r>
                      <a:r>
                        <a:rPr lang="en-US" sz="1600" b="1" dirty="0" err="1" smtClean="0"/>
                        <a:t>bcrypt</a:t>
                      </a:r>
                      <a:r>
                        <a:rPr lang="en-US" sz="1600" b="1" dirty="0" smtClean="0"/>
                        <a:t>, Argon2, PBKDF2, or </a:t>
                      </a:r>
                      <a:r>
                        <a:rPr lang="en-US" sz="1600" b="1" dirty="0" err="1" smtClean="0"/>
                        <a:t>scrypt</a:t>
                      </a:r>
                      <a:r>
                        <a:rPr lang="en-US" sz="1600" dirty="0" smtClean="0"/>
                        <a:t> which include salting and multiple iterations to slow down brute-force attacks. Use established libraries like </a:t>
                      </a:r>
                      <a:r>
                        <a:rPr lang="en-US" sz="1600" dirty="0" err="1" smtClean="0"/>
                        <a:t>bcrypt</a:t>
                      </a:r>
                      <a:r>
                        <a:rPr lang="en-US" sz="1600" dirty="0" smtClean="0"/>
                        <a:t> or </a:t>
                      </a:r>
                      <a:r>
                        <a:rPr lang="en-US" sz="1600" dirty="0" err="1" smtClean="0"/>
                        <a:t>passlib</a:t>
                      </a:r>
                      <a:r>
                        <a:rPr lang="en-US" sz="1600" dirty="0" smtClean="0"/>
                        <a:t> that handle salt generation and storage automatically. Never roll your own cryptography or attempt to "fix" weak algorithms by adding complexity.</a:t>
                      </a:r>
                      <a:endParaRPr sz="16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Issue: B311</a:t>
            </a:r>
            <a:endParaRPr/>
          </a:p>
        </p:txBody>
      </p:sp>
      <p:sp>
        <p:nvSpPr>
          <p:cNvPr id="91" name="Google Shape;91;p16"/>
          <p:cNvSpPr txBox="1"/>
          <p:nvPr/>
        </p:nvSpPr>
        <p:spPr>
          <a:xfrm>
            <a:off x="264950" y="2028825"/>
            <a:ext cx="7242600" cy="3190800"/>
          </a:xfrm>
          <a:prstGeom prst="rect">
            <a:avLst/>
          </a:prstGeom>
          <a:solidFill>
            <a:srgbClr val="2E3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02B3E4"/>
                </a:solidFill>
              </a:rPr>
              <a:t>&gt;&gt; Issue: [B311:blacklist] Standard pseudo-random generators are not suitable for security/cryptographic purposes.</a:t>
            </a:r>
            <a:endParaRPr sz="1800">
              <a:solidFill>
                <a:srgbClr val="02B3E4"/>
              </a:solidFill>
            </a:endParaRPr>
          </a:p>
          <a:p>
            <a:pPr marL="0" lvl="0" indent="0" algn="l" rtl="0">
              <a:spcBef>
                <a:spcPts val="0"/>
              </a:spcBef>
              <a:spcAft>
                <a:spcPts val="0"/>
              </a:spcAft>
              <a:buNone/>
            </a:pPr>
            <a:r>
              <a:rPr lang="en" sz="1800">
                <a:solidFill>
                  <a:srgbClr val="02B3E4"/>
                </a:solidFill>
              </a:rPr>
              <a:t>   Location: SampleCode/init_db.py:40</a:t>
            </a:r>
            <a:endParaRPr sz="1800">
              <a:solidFill>
                <a:srgbClr val="02B3E4"/>
              </a:solidFill>
            </a:endParaRPr>
          </a:p>
          <a:p>
            <a:pPr marL="0" lvl="0" indent="0" algn="l" rtl="0">
              <a:spcBef>
                <a:spcPts val="0"/>
              </a:spcBef>
              <a:spcAft>
                <a:spcPts val="0"/>
              </a:spcAft>
              <a:buNone/>
            </a:pPr>
            <a:r>
              <a:rPr lang="en" sz="1800">
                <a:solidFill>
                  <a:srgbClr val="02B3E4"/>
                </a:solidFill>
              </a:rPr>
              <a:t>39	        letters = string.ascii_lowercase</a:t>
            </a:r>
            <a:endParaRPr sz="1800">
              <a:solidFill>
                <a:srgbClr val="02B3E4"/>
              </a:solidFill>
            </a:endParaRPr>
          </a:p>
          <a:p>
            <a:pPr marL="0" lvl="0" indent="0" algn="l" rtl="0">
              <a:spcBef>
                <a:spcPts val="0"/>
              </a:spcBef>
              <a:spcAft>
                <a:spcPts val="0"/>
              </a:spcAft>
              <a:buNone/>
            </a:pPr>
            <a:r>
              <a:rPr lang="en" sz="1800">
                <a:solidFill>
                  <a:srgbClr val="02B3E4"/>
                </a:solidFill>
              </a:rPr>
              <a:t>40	        result_str = ''.join(random.choice(letters) for i in range(length))</a:t>
            </a:r>
            <a:endParaRPr sz="1800">
              <a:solidFill>
                <a:srgbClr val="02B3E4"/>
              </a:solidFill>
            </a:endParaRPr>
          </a:p>
          <a:p>
            <a:pPr marL="0" lvl="0" indent="0" algn="l" rtl="0">
              <a:spcBef>
                <a:spcPts val="0"/>
              </a:spcBef>
              <a:spcAft>
                <a:spcPts val="0"/>
              </a:spcAft>
              <a:buNone/>
            </a:pPr>
            <a:r>
              <a:rPr lang="en" sz="1800">
                <a:solidFill>
                  <a:srgbClr val="02B3E4"/>
                </a:solidFill>
              </a:rPr>
              <a:t>41	        return result_str</a:t>
            </a:r>
            <a:endParaRPr sz="1800">
              <a:solidFill>
                <a:srgbClr val="02B3E4"/>
              </a:solidFill>
            </a:endParaRPr>
          </a:p>
        </p:txBody>
      </p:sp>
      <p:graphicFrame>
        <p:nvGraphicFramePr>
          <p:cNvPr id="92" name="Google Shape;92;p16"/>
          <p:cNvGraphicFramePr/>
          <p:nvPr>
            <p:extLst>
              <p:ext uri="{D42A27DB-BD31-4B8C-83A1-F6EECF244321}">
                <p14:modId xmlns:p14="http://schemas.microsoft.com/office/powerpoint/2010/main" val="1667784346"/>
              </p:ext>
            </p:extLst>
          </p:nvPr>
        </p:nvGraphicFramePr>
        <p:xfrm>
          <a:off x="264950" y="5534025"/>
          <a:ext cx="7242600" cy="4380570"/>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Medium</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A02:2021 – Cryptographic Failures</a:t>
                      </a:r>
                      <a:r>
                        <a:rPr lang="en-US" sz="1800" dirty="0" smtClean="0"/>
                        <a:t> (formerly A3:2017 – Sensitive Data Exposure)</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486125">
                <a:tc gridSpan="2">
                  <a:txBody>
                    <a:bodyPr/>
                    <a:lstStyle/>
                    <a:p>
                      <a:pPr marL="0" lvl="0" indent="0" algn="l" rtl="0">
                        <a:spcBef>
                          <a:spcPts val="0"/>
                        </a:spcBef>
                        <a:spcAft>
                          <a:spcPts val="0"/>
                        </a:spcAft>
                        <a:buNone/>
                      </a:pPr>
                      <a:r>
                        <a:rPr lang="en-US" sz="1600" b="1" dirty="0" smtClean="0"/>
                        <a:t>Replace </a:t>
                      </a:r>
                      <a:r>
                        <a:rPr lang="en-US" sz="1600" b="1" dirty="0" err="1" smtClean="0"/>
                        <a:t>random.choice</a:t>
                      </a:r>
                      <a:r>
                        <a:rPr lang="en-US" sz="1600" b="1" dirty="0" smtClean="0"/>
                        <a:t>() with a cryptographically secure random generator for any security-sensitive operations.</a:t>
                      </a:r>
                      <a:r>
                        <a:rPr lang="en-US" sz="1600" dirty="0" smtClean="0"/>
                        <a:t> The standard random module is deterministic and predictable, making it vulnerable to brute-force attacks if used for generating passwords, tokens, or session identifiers. Use </a:t>
                      </a:r>
                      <a:r>
                        <a:rPr lang="en-US" sz="1600" dirty="0" err="1" smtClean="0"/>
                        <a:t>secrets.choice</a:t>
                      </a:r>
                      <a:r>
                        <a:rPr lang="en-US" sz="1600" dirty="0" smtClean="0"/>
                        <a:t>() for Python 3.6+ or </a:t>
                      </a:r>
                      <a:r>
                        <a:rPr lang="en-US" sz="1600" dirty="0" err="1" smtClean="0"/>
                        <a:t>random.SystemRandom</a:t>
                      </a:r>
                      <a:r>
                        <a:rPr lang="en-US" sz="1600" dirty="0" smtClean="0"/>
                        <a:t>() for older versions, which leverage operating system sources of entropy. For generating random strings, the secrets module provides dedicated functions like </a:t>
                      </a:r>
                      <a:r>
                        <a:rPr lang="en-US" sz="1600" dirty="0" err="1" smtClean="0"/>
                        <a:t>secrets.token_bytes</a:t>
                      </a:r>
                      <a:r>
                        <a:rPr lang="en-US" sz="1600" dirty="0" smtClean="0"/>
                        <a:t>(), </a:t>
                      </a:r>
                      <a:r>
                        <a:rPr lang="en-US" sz="1600" dirty="0" err="1" smtClean="0"/>
                        <a:t>secrets.token_hex</a:t>
                      </a:r>
                      <a:r>
                        <a:rPr lang="en-US" sz="1600" dirty="0" smtClean="0"/>
                        <a:t>(), and </a:t>
                      </a:r>
                      <a:r>
                        <a:rPr lang="en-US" sz="1600" dirty="0" err="1" smtClean="0"/>
                        <a:t>secrets.token_urlsafe</a:t>
                      </a:r>
                      <a:r>
                        <a:rPr lang="en-US" sz="1600" dirty="0" smtClean="0"/>
                        <a:t>() that are specifically designed for cryptographic security.</a:t>
                      </a:r>
                      <a:endParaRPr sz="16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Issue: B320</a:t>
            </a:r>
            <a:endParaRPr/>
          </a:p>
        </p:txBody>
      </p:sp>
      <p:sp>
        <p:nvSpPr>
          <p:cNvPr id="98" name="Google Shape;98;p17"/>
          <p:cNvSpPr txBox="1"/>
          <p:nvPr/>
        </p:nvSpPr>
        <p:spPr>
          <a:xfrm>
            <a:off x="264950" y="2028825"/>
            <a:ext cx="7242600" cy="3190800"/>
          </a:xfrm>
          <a:prstGeom prst="rect">
            <a:avLst/>
          </a:prstGeom>
          <a:solidFill>
            <a:srgbClr val="2E3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02B3E4"/>
                </a:solidFill>
              </a:rPr>
              <a:t>&gt;&gt; Issue: [B320:blacklist] Using lxml.etree.fromstring to parse untrusted XML data is known to be vulnerable to XML attacks. Replace lxml.etree.fromstring with its defusedxml equivalent function.</a:t>
            </a:r>
            <a:endParaRPr sz="1800">
              <a:solidFill>
                <a:srgbClr val="02B3E4"/>
              </a:solidFill>
            </a:endParaRPr>
          </a:p>
          <a:p>
            <a:pPr marL="0" lvl="0" indent="0" algn="l" rtl="0">
              <a:spcBef>
                <a:spcPts val="0"/>
              </a:spcBef>
              <a:spcAft>
                <a:spcPts val="0"/>
              </a:spcAft>
              <a:buNone/>
            </a:pPr>
            <a:r>
              <a:rPr lang="en" sz="1800">
                <a:solidFill>
                  <a:srgbClr val="02B3E4"/>
                </a:solidFill>
              </a:rPr>
              <a:t>   Location: SampleCode/fix_customer_orders.py:11</a:t>
            </a:r>
            <a:endParaRPr sz="1800">
              <a:solidFill>
                <a:srgbClr val="02B3E4"/>
              </a:solidFill>
            </a:endParaRPr>
          </a:p>
          <a:p>
            <a:pPr marL="0" lvl="0" indent="0" algn="l" rtl="0">
              <a:spcBef>
                <a:spcPts val="0"/>
              </a:spcBef>
              <a:spcAft>
                <a:spcPts val="0"/>
              </a:spcAft>
              <a:buNone/>
            </a:pPr>
            <a:r>
              <a:rPr lang="en" sz="1800">
                <a:solidFill>
                  <a:srgbClr val="02B3E4"/>
                </a:solidFill>
              </a:rPr>
              <a:t>10	def customerOrdersXML():</a:t>
            </a:r>
            <a:endParaRPr sz="1800">
              <a:solidFill>
                <a:srgbClr val="02B3E4"/>
              </a:solidFill>
            </a:endParaRPr>
          </a:p>
          <a:p>
            <a:pPr marL="0" lvl="0" indent="0" algn="l" rtl="0">
              <a:spcBef>
                <a:spcPts val="0"/>
              </a:spcBef>
              <a:spcAft>
                <a:spcPts val="0"/>
              </a:spcAft>
              <a:buNone/>
            </a:pPr>
            <a:r>
              <a:rPr lang="en" sz="1800">
                <a:solidFill>
                  <a:srgbClr val="02B3E4"/>
                </a:solidFill>
              </a:rPr>
              <a:t>11	    root = lxml.etree.fromstring(xmlString)</a:t>
            </a:r>
            <a:endParaRPr sz="1800">
              <a:solidFill>
                <a:srgbClr val="02B3E4"/>
              </a:solidFill>
            </a:endParaRPr>
          </a:p>
          <a:p>
            <a:pPr marL="0" lvl="0" indent="0" algn="l" rtl="0">
              <a:spcBef>
                <a:spcPts val="0"/>
              </a:spcBef>
              <a:spcAft>
                <a:spcPts val="0"/>
              </a:spcAft>
              <a:buNone/>
            </a:pPr>
            <a:r>
              <a:rPr lang="en" sz="1800">
                <a:solidFill>
                  <a:srgbClr val="02B3E4"/>
                </a:solidFill>
              </a:rPr>
              <a:t>12	    root = fromstring(xmlString)</a:t>
            </a:r>
            <a:endParaRPr sz="1800">
              <a:solidFill>
                <a:srgbClr val="02B3E4"/>
              </a:solidFill>
            </a:endParaRPr>
          </a:p>
        </p:txBody>
      </p:sp>
      <p:graphicFrame>
        <p:nvGraphicFramePr>
          <p:cNvPr id="99" name="Google Shape;99;p17"/>
          <p:cNvGraphicFramePr/>
          <p:nvPr>
            <p:extLst>
              <p:ext uri="{D42A27DB-BD31-4B8C-83A1-F6EECF244321}">
                <p14:modId xmlns:p14="http://schemas.microsoft.com/office/powerpoint/2010/main" val="4278308359"/>
              </p:ext>
            </p:extLst>
          </p:nvPr>
        </p:nvGraphicFramePr>
        <p:xfrm>
          <a:off x="264950" y="5534025"/>
          <a:ext cx="7242600" cy="4624410"/>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High</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A05:2021 – Security Misconfiguration</a:t>
                      </a:r>
                      <a:r>
                        <a:rPr lang="en-US" sz="1800" dirty="0" smtClean="0"/>
                        <a:t> (or A4:2017 – XML External Entities)</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486125">
                <a:tc gridSpan="2">
                  <a:txBody>
                    <a:bodyPr/>
                    <a:lstStyle/>
                    <a:p>
                      <a:pPr marL="0" lvl="0" indent="0" algn="l" rtl="0">
                        <a:spcBef>
                          <a:spcPts val="0"/>
                        </a:spcBef>
                        <a:spcAft>
                          <a:spcPts val="0"/>
                        </a:spcAft>
                        <a:buNone/>
                      </a:pPr>
                      <a:r>
                        <a:rPr lang="en-US" sz="1600" b="1" dirty="0" smtClean="0"/>
                        <a:t>Replace </a:t>
                      </a:r>
                      <a:r>
                        <a:rPr lang="en-US" sz="1600" b="1" dirty="0" err="1" smtClean="0"/>
                        <a:t>lxml.etree.fromstring</a:t>
                      </a:r>
                      <a:r>
                        <a:rPr lang="en-US" sz="1600" b="1" dirty="0" smtClean="0"/>
                        <a:t>() with </a:t>
                      </a:r>
                      <a:r>
                        <a:rPr lang="en-US" sz="1600" b="1" dirty="0" err="1" smtClean="0"/>
                        <a:t>defusedxml</a:t>
                      </a:r>
                      <a:r>
                        <a:rPr lang="en-US" sz="1600" b="1" dirty="0" smtClean="0"/>
                        <a:t> equivalents to protect against XML-based attacks.</a:t>
                      </a:r>
                      <a:r>
                        <a:rPr lang="en-US" sz="1600" dirty="0" smtClean="0"/>
                        <a:t> The </a:t>
                      </a:r>
                      <a:r>
                        <a:rPr lang="en-US" sz="1600" dirty="0" err="1" smtClean="0"/>
                        <a:t>lxml</a:t>
                      </a:r>
                      <a:r>
                        <a:rPr lang="en-US" sz="1600" dirty="0" smtClean="0"/>
                        <a:t> library is vulnerable to several XML attack vectors including Billion Laughs (XML bomb), Quadratic Blowup, and External Entity Expansion (XXE) which can lead to denial of service, server-side request forgery, or information disclosure. Install and use the </a:t>
                      </a:r>
                      <a:r>
                        <a:rPr lang="en-US" sz="1600" dirty="0" err="1" smtClean="0"/>
                        <a:t>defusedxml</a:t>
                      </a:r>
                      <a:r>
                        <a:rPr lang="en-US" sz="1600" dirty="0" smtClean="0"/>
                        <a:t> library which provides safe wrappers that disable these dangerous features. For </a:t>
                      </a:r>
                      <a:r>
                        <a:rPr lang="en-US" sz="1600" dirty="0" err="1" smtClean="0"/>
                        <a:t>lxml</a:t>
                      </a:r>
                      <a:r>
                        <a:rPr lang="en-US" sz="1600" dirty="0" smtClean="0"/>
                        <a:t> specifically, use </a:t>
                      </a:r>
                      <a:r>
                        <a:rPr lang="en-US" sz="1600" dirty="0" err="1" smtClean="0"/>
                        <a:t>defusedxml.lxml.fromstring</a:t>
                      </a:r>
                      <a:r>
                        <a:rPr lang="en-US" sz="1600" dirty="0" smtClean="0"/>
                        <a:t>() which maintains the same interface while adding protections. If </a:t>
                      </a:r>
                      <a:r>
                        <a:rPr lang="en-US" sz="1600" dirty="0" err="1" smtClean="0"/>
                        <a:t>defusedxml</a:t>
                      </a:r>
                      <a:r>
                        <a:rPr lang="en-US" sz="1600" dirty="0" smtClean="0"/>
                        <a:t> cannot be used, manually configure </a:t>
                      </a:r>
                      <a:r>
                        <a:rPr lang="en-US" sz="1600" dirty="0" err="1" smtClean="0"/>
                        <a:t>lxml</a:t>
                      </a:r>
                      <a:r>
                        <a:rPr lang="en-US" sz="1600" dirty="0" smtClean="0"/>
                        <a:t> with safe defaults by disabling entity resolution and limiting parser expansion.</a:t>
                      </a:r>
                      <a:endParaRPr sz="16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Issue: B603</a:t>
            </a:r>
            <a:endParaRPr/>
          </a:p>
        </p:txBody>
      </p:sp>
      <p:sp>
        <p:nvSpPr>
          <p:cNvPr id="105" name="Google Shape;105;p18"/>
          <p:cNvSpPr txBox="1"/>
          <p:nvPr/>
        </p:nvSpPr>
        <p:spPr>
          <a:xfrm>
            <a:off x="264950" y="2028825"/>
            <a:ext cx="7242600" cy="3190800"/>
          </a:xfrm>
          <a:prstGeom prst="rect">
            <a:avLst/>
          </a:prstGeom>
          <a:solidFill>
            <a:srgbClr val="2E3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rgbClr val="02B3E4"/>
                </a:solidFill>
              </a:rPr>
              <a:t>&gt;&gt; Issue: [B603:subprocess_without_shell_equals_true] subprocess call - check for execution of untrusted input.</a:t>
            </a:r>
            <a:endParaRPr sz="1800">
              <a:solidFill>
                <a:srgbClr val="02B3E4"/>
              </a:solidFill>
            </a:endParaRPr>
          </a:p>
          <a:p>
            <a:pPr marL="0" lvl="0" indent="0" algn="l" rtl="0">
              <a:spcBef>
                <a:spcPts val="0"/>
              </a:spcBef>
              <a:spcAft>
                <a:spcPts val="0"/>
              </a:spcAft>
              <a:buNone/>
            </a:pPr>
            <a:r>
              <a:rPr lang="en" sz="1800">
                <a:solidFill>
                  <a:srgbClr val="02B3E4"/>
                </a:solidFill>
              </a:rPr>
              <a:t>   Location: SampleCode/onLogin.py:8</a:t>
            </a:r>
            <a:endParaRPr sz="1800">
              <a:solidFill>
                <a:srgbClr val="02B3E4"/>
              </a:solidFill>
            </a:endParaRPr>
          </a:p>
          <a:p>
            <a:pPr marL="0" lvl="0" indent="0" algn="l" rtl="0">
              <a:spcBef>
                <a:spcPts val="0"/>
              </a:spcBef>
              <a:spcAft>
                <a:spcPts val="0"/>
              </a:spcAft>
              <a:buNone/>
            </a:pPr>
            <a:r>
              <a:rPr lang="en" sz="1800">
                <a:solidFill>
                  <a:srgbClr val="02B3E4"/>
                </a:solidFill>
              </a:rPr>
              <a:t>7	    def process(self, user, startupcmd):</a:t>
            </a:r>
            <a:endParaRPr sz="1800">
              <a:solidFill>
                <a:srgbClr val="02B3E4"/>
              </a:solidFill>
            </a:endParaRPr>
          </a:p>
          <a:p>
            <a:pPr marL="0" lvl="0" indent="0" algn="l" rtl="0">
              <a:spcBef>
                <a:spcPts val="0"/>
              </a:spcBef>
              <a:spcAft>
                <a:spcPts val="0"/>
              </a:spcAft>
              <a:buNone/>
            </a:pPr>
            <a:r>
              <a:rPr lang="en" sz="1800">
                <a:solidFill>
                  <a:srgbClr val="02B3E4"/>
                </a:solidFill>
              </a:rPr>
              <a:t>8	        p = subprocess.Popen([startupcmd], stdout=subprocess.PIPE, stderr=subprocess.STDOUT)</a:t>
            </a:r>
            <a:endParaRPr sz="1800">
              <a:solidFill>
                <a:srgbClr val="02B3E4"/>
              </a:solidFill>
            </a:endParaRPr>
          </a:p>
          <a:p>
            <a:pPr marL="0" lvl="0" indent="0" algn="l" rtl="0">
              <a:spcBef>
                <a:spcPts val="0"/>
              </a:spcBef>
              <a:spcAft>
                <a:spcPts val="0"/>
              </a:spcAft>
              <a:buNone/>
            </a:pPr>
            <a:r>
              <a:rPr lang="en" sz="1800">
                <a:solidFill>
                  <a:srgbClr val="02B3E4"/>
                </a:solidFill>
              </a:rPr>
              <a:t>9	        r = p.communicate()[0]</a:t>
            </a:r>
            <a:endParaRPr sz="1800">
              <a:solidFill>
                <a:srgbClr val="02B3E4"/>
              </a:solidFill>
            </a:endParaRPr>
          </a:p>
        </p:txBody>
      </p:sp>
      <p:graphicFrame>
        <p:nvGraphicFramePr>
          <p:cNvPr id="106" name="Google Shape;106;p18"/>
          <p:cNvGraphicFramePr/>
          <p:nvPr>
            <p:extLst>
              <p:ext uri="{D42A27DB-BD31-4B8C-83A1-F6EECF244321}">
                <p14:modId xmlns:p14="http://schemas.microsoft.com/office/powerpoint/2010/main" val="4125888116"/>
              </p:ext>
            </p:extLst>
          </p:nvPr>
        </p:nvGraphicFramePr>
        <p:xfrm>
          <a:off x="264950" y="5534025"/>
          <a:ext cx="7242600" cy="4624410"/>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Critical</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A08:2021 – Software and Data Integrity Failures</a:t>
                      </a:r>
                      <a:r>
                        <a:rPr lang="en-US" sz="1800" dirty="0" smtClean="0"/>
                        <a:t> (or A1:2017 – Injection)</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486125">
                <a:tc gridSpan="2">
                  <a:txBody>
                    <a:bodyPr/>
                    <a:lstStyle/>
                    <a:p>
                      <a:pPr marL="0" lvl="0" indent="0" algn="l" rtl="0">
                        <a:spcBef>
                          <a:spcPts val="0"/>
                        </a:spcBef>
                        <a:spcAft>
                          <a:spcPts val="0"/>
                        </a:spcAft>
                        <a:buNone/>
                      </a:pPr>
                      <a:r>
                        <a:rPr lang="en-US" sz="1600" b="1" dirty="0" smtClean="0"/>
                        <a:t>Never execute system commands with untrusted user input.</a:t>
                      </a:r>
                      <a:r>
                        <a:rPr lang="en-US" sz="1600" dirty="0" smtClean="0"/>
                        <a:t> The code directly passes the </a:t>
                      </a:r>
                      <a:r>
                        <a:rPr lang="en-US" sz="1600" dirty="0" err="1" smtClean="0"/>
                        <a:t>startupcmd</a:t>
                      </a:r>
                      <a:r>
                        <a:rPr lang="en-US" sz="1600" dirty="0" smtClean="0"/>
                        <a:t> parameter from the user to </a:t>
                      </a:r>
                      <a:r>
                        <a:rPr lang="en-US" sz="1600" dirty="0" err="1" smtClean="0"/>
                        <a:t>subprocess.Popen</a:t>
                      </a:r>
                      <a:r>
                        <a:rPr lang="en-US" sz="1600" dirty="0" smtClean="0"/>
                        <a:t>() without any validation, sanitization, or </a:t>
                      </a:r>
                      <a:r>
                        <a:rPr lang="en-US" sz="1600" dirty="0" err="1" smtClean="0"/>
                        <a:t>allowlisting</a:t>
                      </a:r>
                      <a:r>
                        <a:rPr lang="en-US" sz="1600" dirty="0" smtClean="0"/>
                        <a:t>. This creates a </a:t>
                      </a:r>
                      <a:r>
                        <a:rPr lang="en-US" sz="1600" b="1" dirty="0" smtClean="0"/>
                        <a:t>command injection vulnerability</a:t>
                      </a:r>
                      <a:r>
                        <a:rPr lang="en-US" sz="1600" dirty="0" smtClean="0"/>
                        <a:t> where an attacker can execute arbitrary system commands. Instead, avoid system calls entirely if possible. If command execution is absolutely necessary, implement a strict </a:t>
                      </a:r>
                      <a:r>
                        <a:rPr lang="en-US" sz="1600" dirty="0" err="1" smtClean="0"/>
                        <a:t>allowlist</a:t>
                      </a:r>
                      <a:r>
                        <a:rPr lang="en-US" sz="1600" dirty="0" smtClean="0"/>
                        <a:t> of permitted commands and arguments, validate all input against the </a:t>
                      </a:r>
                      <a:r>
                        <a:rPr lang="en-US" sz="1600" dirty="0" err="1" smtClean="0"/>
                        <a:t>allowlist</a:t>
                      </a:r>
                      <a:r>
                        <a:rPr lang="en-US" sz="1600" dirty="0" smtClean="0"/>
                        <a:t>, use absolute paths for executables, and avoid using shell=True. Consider using safer alternatives like Python libraries that provide the same functionality without invoking system commands.</a:t>
                      </a:r>
                      <a:endParaRPr sz="16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9"/>
          <p:cNvSpPr txBox="1">
            <a:spLocks noGrp="1"/>
          </p:cNvSpPr>
          <p:nvPr>
            <p:ph type="title"/>
          </p:nvPr>
        </p:nvSpPr>
        <p:spPr>
          <a:xfrm>
            <a:off x="264950" y="908925"/>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Issue: B703</a:t>
            </a:r>
            <a:endParaRPr/>
          </a:p>
        </p:txBody>
      </p:sp>
      <p:sp>
        <p:nvSpPr>
          <p:cNvPr id="112" name="Google Shape;112;p19"/>
          <p:cNvSpPr txBox="1"/>
          <p:nvPr/>
        </p:nvSpPr>
        <p:spPr>
          <a:xfrm>
            <a:off x="264950" y="2028825"/>
            <a:ext cx="7242600" cy="3190800"/>
          </a:xfrm>
          <a:prstGeom prst="rect">
            <a:avLst/>
          </a:prstGeom>
          <a:solidFill>
            <a:srgbClr val="2E3D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dirty="0">
                <a:solidFill>
                  <a:srgbClr val="02B3E4"/>
                </a:solidFill>
              </a:rPr>
              <a:t>&gt;&gt; Issue: [B703:django_mark_safe] Potential XSS on mark_safe function.</a:t>
            </a:r>
            <a:endParaRPr sz="1800" dirty="0">
              <a:solidFill>
                <a:srgbClr val="02B3E4"/>
              </a:solidFill>
            </a:endParaRPr>
          </a:p>
          <a:p>
            <a:pPr marL="0" lvl="0" indent="0" algn="l" rtl="0">
              <a:spcBef>
                <a:spcPts val="0"/>
              </a:spcBef>
              <a:spcAft>
                <a:spcPts val="0"/>
              </a:spcAft>
              <a:buNone/>
            </a:pPr>
            <a:r>
              <a:rPr lang="en" sz="1800" dirty="0">
                <a:solidFill>
                  <a:srgbClr val="02B3E4"/>
                </a:solidFill>
              </a:rPr>
              <a:t>   Location: SampleCode/create_customer.py:24</a:t>
            </a:r>
            <a:endParaRPr sz="1800" dirty="0">
              <a:solidFill>
                <a:srgbClr val="02B3E4"/>
              </a:solidFill>
            </a:endParaRPr>
          </a:p>
          <a:p>
            <a:pPr marL="0" lvl="0" indent="0" algn="l" rtl="0">
              <a:spcBef>
                <a:spcPts val="0"/>
              </a:spcBef>
              <a:spcAft>
                <a:spcPts val="0"/>
              </a:spcAft>
              <a:buNone/>
            </a:pPr>
            <a:r>
              <a:rPr lang="en" sz="1800" dirty="0">
                <a:solidFill>
                  <a:srgbClr val="02B3E4"/>
                </a:solidFill>
              </a:rPr>
              <a:t>23	        self.password = hashlib.md5(password.encode('utf-8')).hexdigest()</a:t>
            </a:r>
            <a:endParaRPr sz="1800" dirty="0">
              <a:solidFill>
                <a:srgbClr val="02B3E4"/>
              </a:solidFill>
            </a:endParaRPr>
          </a:p>
          <a:p>
            <a:pPr marL="0" lvl="0" indent="0" algn="l" rtl="0">
              <a:spcBef>
                <a:spcPts val="0"/>
              </a:spcBef>
              <a:spcAft>
                <a:spcPts val="0"/>
              </a:spcAft>
              <a:buNone/>
            </a:pPr>
            <a:r>
              <a:rPr lang="en" sz="1800" dirty="0">
                <a:solidFill>
                  <a:srgbClr val="02B3E4"/>
                </a:solidFill>
              </a:rPr>
              <a:t>24	        self.banner = safestring.mark_safe(banner)</a:t>
            </a:r>
            <a:endParaRPr sz="1800" dirty="0">
              <a:solidFill>
                <a:srgbClr val="02B3E4"/>
              </a:solidFill>
            </a:endParaRPr>
          </a:p>
          <a:p>
            <a:pPr marL="0" lvl="0" indent="0" algn="l" rtl="0">
              <a:spcBef>
                <a:spcPts val="0"/>
              </a:spcBef>
              <a:spcAft>
                <a:spcPts val="0"/>
              </a:spcAft>
              <a:buNone/>
            </a:pPr>
            <a:r>
              <a:rPr lang="en" sz="1800" dirty="0">
                <a:solidFill>
                  <a:srgbClr val="02B3E4"/>
                </a:solidFill>
              </a:rPr>
              <a:t>25	</a:t>
            </a:r>
            <a:endParaRPr sz="1800" dirty="0">
              <a:solidFill>
                <a:srgbClr val="02B3E4"/>
              </a:solidFill>
            </a:endParaRPr>
          </a:p>
        </p:txBody>
      </p:sp>
      <p:graphicFrame>
        <p:nvGraphicFramePr>
          <p:cNvPr id="113" name="Google Shape;113;p19"/>
          <p:cNvGraphicFramePr/>
          <p:nvPr>
            <p:extLst>
              <p:ext uri="{D42A27DB-BD31-4B8C-83A1-F6EECF244321}">
                <p14:modId xmlns:p14="http://schemas.microsoft.com/office/powerpoint/2010/main" val="2670630819"/>
              </p:ext>
            </p:extLst>
          </p:nvPr>
        </p:nvGraphicFramePr>
        <p:xfrm>
          <a:off x="264950" y="5534025"/>
          <a:ext cx="7242600" cy="4106250"/>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High</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A03:2021 – Injection</a:t>
                      </a:r>
                      <a:r>
                        <a:rPr lang="en-US" sz="1800" dirty="0" smtClean="0"/>
                        <a:t> (Cross-Site Scripting - XSS)</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486125">
                <a:tc gridSpan="2">
                  <a:txBody>
                    <a:bodyPr/>
                    <a:lstStyle/>
                    <a:p>
                      <a:pPr marL="0" lvl="0" indent="0" algn="l" rtl="0">
                        <a:spcBef>
                          <a:spcPts val="0"/>
                        </a:spcBef>
                        <a:spcAft>
                          <a:spcPts val="0"/>
                        </a:spcAft>
                        <a:buNone/>
                      </a:pPr>
                      <a:r>
                        <a:rPr lang="en-US" sz="1600" b="1" dirty="0" smtClean="0"/>
                        <a:t>Avoid using </a:t>
                      </a:r>
                      <a:r>
                        <a:rPr lang="en-US" sz="1600" b="1" dirty="0" err="1" smtClean="0"/>
                        <a:t>mark_safe</a:t>
                      </a:r>
                      <a:r>
                        <a:rPr lang="en-US" sz="1600" b="1" dirty="0" smtClean="0"/>
                        <a:t>() on untrusted user input.</a:t>
                      </a:r>
                      <a:r>
                        <a:rPr lang="en-US" sz="1600" dirty="0" smtClean="0"/>
                        <a:t> The </a:t>
                      </a:r>
                      <a:r>
                        <a:rPr lang="en-US" sz="1600" dirty="0" err="1" smtClean="0"/>
                        <a:t>mark_safe</a:t>
                      </a:r>
                      <a:r>
                        <a:rPr lang="en-US" sz="1600" dirty="0" smtClean="0"/>
                        <a:t>() function tells Django that a string is safe and should not be escaped, but if the banner variable contains user-controlled data, this creates a </a:t>
                      </a:r>
                      <a:r>
                        <a:rPr lang="en-US" sz="1600" b="1" dirty="0" smtClean="0"/>
                        <a:t>stored XSS vulnerability</a:t>
                      </a:r>
                      <a:r>
                        <a:rPr lang="en-US" sz="1600" dirty="0" smtClean="0"/>
                        <a:t>. Attackers can inject malicious JavaScript that will execute in any user's browser when the banner is displayed. Instead, rely on Django's automatic HTML escaping and only use </a:t>
                      </a:r>
                      <a:r>
                        <a:rPr lang="en-US" sz="1600" dirty="0" err="1" smtClean="0"/>
                        <a:t>mark_safe</a:t>
                      </a:r>
                      <a:r>
                        <a:rPr lang="en-US" sz="1600" dirty="0" smtClean="0"/>
                        <a:t>() when you are </a:t>
                      </a:r>
                      <a:r>
                        <a:rPr lang="en-US" sz="1600" b="1" dirty="0" smtClean="0"/>
                        <a:t>absolutely certain</a:t>
                      </a:r>
                      <a:r>
                        <a:rPr lang="en-US" sz="1600" dirty="0" smtClean="0"/>
                        <a:t> the content is safe and properly sanitized. For user-generated content that requires HTML, use a proper HTML sanitization library like bleach to strip dangerous tags and attributes while allowing safe formatting.</a:t>
                      </a:r>
                      <a:endParaRPr sz="16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Section Two:</a:t>
            </a:r>
            <a:endParaRPr dirty="0"/>
          </a:p>
          <a:p>
            <a:pPr marL="0" lvl="0" indent="0" algn="ctr" rtl="0">
              <a:lnSpc>
                <a:spcPct val="115000"/>
              </a:lnSpc>
              <a:spcBef>
                <a:spcPts val="2400"/>
              </a:spcBef>
              <a:spcAft>
                <a:spcPts val="600"/>
              </a:spcAft>
              <a:buNone/>
            </a:pPr>
            <a:r>
              <a:rPr lang="en" dirty="0"/>
              <a:t>Assess the Web Application</a:t>
            </a:r>
            <a:endParaRPr dirty="0"/>
          </a:p>
        </p:txBody>
      </p:sp>
      <p:sp>
        <p:nvSpPr>
          <p:cNvPr id="119" name="Google Shape;119;p20"/>
          <p:cNvSpPr txBox="1">
            <a:spLocks noGrp="1"/>
          </p:cNvSpPr>
          <p:nvPr>
            <p:ph type="title" idx="4294967295"/>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Digital Project Management</a:t>
            </a:r>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Manually Assess the Web Application and Identify Vulnerabilities</a:t>
            </a:r>
            <a:endParaRPr/>
          </a:p>
        </p:txBody>
      </p:sp>
      <p:sp>
        <p:nvSpPr>
          <p:cNvPr id="125" name="Google Shape;125;p21"/>
          <p:cNvSpPr txBox="1">
            <a:spLocks noGrp="1"/>
          </p:cNvSpPr>
          <p:nvPr>
            <p:ph type="body" idx="1"/>
          </p:nvPr>
        </p:nvSpPr>
        <p:spPr>
          <a:xfrm>
            <a:off x="305275" y="1990175"/>
            <a:ext cx="7242600" cy="77214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solidFill>
                  <a:schemeClr val="dk2"/>
                </a:solidFill>
                <a:latin typeface="Open Sans"/>
                <a:ea typeface="Open Sans"/>
                <a:cs typeface="Open Sans"/>
                <a:sym typeface="Open Sans"/>
              </a:rPr>
              <a:t>There are 13 vulnerabilities present in the web application. You have to manually assess at least 5 of the 13 vulnerabilities present in the application to be able to complete your report. You need to find at least 1 of each type of the following security vulnerabilities:</a:t>
            </a:r>
            <a:endParaRPr>
              <a:solidFill>
                <a:schemeClr val="dk2"/>
              </a:solidFill>
              <a:latin typeface="Open Sans"/>
              <a:ea typeface="Open Sans"/>
              <a:cs typeface="Open Sans"/>
              <a:sym typeface="Open Sans"/>
            </a:endParaRPr>
          </a:p>
          <a:p>
            <a:pPr marL="457200" lvl="0" indent="-298450" algn="l" rtl="0">
              <a:spcBef>
                <a:spcPts val="0"/>
              </a:spcBef>
              <a:spcAft>
                <a:spcPts val="0"/>
              </a:spcAft>
              <a:buClr>
                <a:srgbClr val="0E101A"/>
              </a:buClr>
              <a:buSzPts val="1100"/>
              <a:buFont typeface="Arial"/>
              <a:buChar char="●"/>
            </a:pPr>
            <a:r>
              <a:rPr lang="en">
                <a:solidFill>
                  <a:schemeClr val="dk2"/>
                </a:solidFill>
                <a:latin typeface="Open Sans"/>
                <a:ea typeface="Open Sans"/>
                <a:cs typeface="Open Sans"/>
                <a:sym typeface="Open Sans"/>
              </a:rPr>
              <a:t>Broken Authentication</a:t>
            </a:r>
            <a:endParaRPr>
              <a:solidFill>
                <a:schemeClr val="dk2"/>
              </a:solidFill>
              <a:latin typeface="Open Sans"/>
              <a:ea typeface="Open Sans"/>
              <a:cs typeface="Open Sans"/>
              <a:sym typeface="Open Sans"/>
            </a:endParaRPr>
          </a:p>
          <a:p>
            <a:pPr marL="457200" lvl="0" indent="-298450" algn="l" rtl="0">
              <a:spcBef>
                <a:spcPts val="0"/>
              </a:spcBef>
              <a:spcAft>
                <a:spcPts val="0"/>
              </a:spcAft>
              <a:buClr>
                <a:srgbClr val="0E101A"/>
              </a:buClr>
              <a:buSzPts val="1100"/>
              <a:buFont typeface="Arial"/>
              <a:buChar char="●"/>
            </a:pPr>
            <a:r>
              <a:rPr lang="en">
                <a:solidFill>
                  <a:schemeClr val="dk2"/>
                </a:solidFill>
                <a:latin typeface="Open Sans"/>
                <a:ea typeface="Open Sans"/>
                <a:cs typeface="Open Sans"/>
                <a:sym typeface="Open Sans"/>
              </a:rPr>
              <a:t>XSS</a:t>
            </a:r>
            <a:endParaRPr>
              <a:solidFill>
                <a:schemeClr val="dk2"/>
              </a:solidFill>
              <a:latin typeface="Open Sans"/>
              <a:ea typeface="Open Sans"/>
              <a:cs typeface="Open Sans"/>
              <a:sym typeface="Open Sans"/>
            </a:endParaRPr>
          </a:p>
          <a:p>
            <a:pPr marL="457200" lvl="0" indent="-298450" algn="l" rtl="0">
              <a:spcBef>
                <a:spcPts val="0"/>
              </a:spcBef>
              <a:spcAft>
                <a:spcPts val="0"/>
              </a:spcAft>
              <a:buClr>
                <a:srgbClr val="0E101A"/>
              </a:buClr>
              <a:buSzPts val="1100"/>
              <a:buFont typeface="Arial"/>
              <a:buChar char="●"/>
            </a:pPr>
            <a:r>
              <a:rPr lang="en">
                <a:solidFill>
                  <a:schemeClr val="dk2"/>
                </a:solidFill>
                <a:latin typeface="Open Sans"/>
                <a:ea typeface="Open Sans"/>
                <a:cs typeface="Open Sans"/>
                <a:sym typeface="Open Sans"/>
              </a:rPr>
              <a:t>Broken Access</a:t>
            </a:r>
            <a:endParaRPr>
              <a:solidFill>
                <a:schemeClr val="dk2"/>
              </a:solidFill>
              <a:latin typeface="Open Sans"/>
              <a:ea typeface="Open Sans"/>
              <a:cs typeface="Open Sans"/>
              <a:sym typeface="Open Sans"/>
            </a:endParaRPr>
          </a:p>
          <a:p>
            <a:pPr marL="457200" lvl="0" indent="-298450" algn="l" rtl="0">
              <a:spcBef>
                <a:spcPts val="0"/>
              </a:spcBef>
              <a:spcAft>
                <a:spcPts val="0"/>
              </a:spcAft>
              <a:buClr>
                <a:srgbClr val="0E101A"/>
              </a:buClr>
              <a:buSzPts val="1100"/>
              <a:buFont typeface="Arial"/>
              <a:buChar char="●"/>
            </a:pPr>
            <a:r>
              <a:rPr lang="en">
                <a:solidFill>
                  <a:schemeClr val="dk2"/>
                </a:solidFill>
                <a:latin typeface="Open Sans"/>
                <a:ea typeface="Open Sans"/>
                <a:cs typeface="Open Sans"/>
                <a:sym typeface="Open Sans"/>
              </a:rPr>
              <a:t>Sensitive Data Exposure</a:t>
            </a:r>
            <a:endParaRPr>
              <a:solidFill>
                <a:schemeClr val="dk2"/>
              </a:solidFill>
              <a:latin typeface="Open Sans"/>
              <a:ea typeface="Open Sans"/>
              <a:cs typeface="Open Sans"/>
              <a:sym typeface="Open Sans"/>
            </a:endParaRPr>
          </a:p>
          <a:p>
            <a:pPr marL="457200" lvl="0" indent="-298450" algn="l" rtl="0">
              <a:spcBef>
                <a:spcPts val="0"/>
              </a:spcBef>
              <a:spcAft>
                <a:spcPts val="0"/>
              </a:spcAft>
              <a:buClr>
                <a:srgbClr val="0E101A"/>
              </a:buClr>
              <a:buSzPts val="1100"/>
              <a:buFont typeface="Arial"/>
              <a:buChar char="●"/>
            </a:pPr>
            <a:r>
              <a:rPr lang="en">
                <a:solidFill>
                  <a:schemeClr val="dk2"/>
                </a:solidFill>
                <a:latin typeface="Open Sans"/>
                <a:ea typeface="Open Sans"/>
                <a:cs typeface="Open Sans"/>
                <a:sym typeface="Open Sans"/>
              </a:rPr>
              <a:t>SQLi</a:t>
            </a:r>
            <a:endParaRPr>
              <a:solidFill>
                <a:schemeClr val="dk2"/>
              </a:solidFill>
              <a:latin typeface="Open Sans"/>
              <a:ea typeface="Open Sans"/>
              <a:cs typeface="Open Sans"/>
              <a:sym typeface="Open Sans"/>
            </a:endParaRPr>
          </a:p>
          <a:p>
            <a:pPr marL="457200" lvl="0" indent="0" algn="l" rtl="0">
              <a:spcBef>
                <a:spcPts val="0"/>
              </a:spcBef>
              <a:spcAft>
                <a:spcPts val="0"/>
              </a:spcAft>
              <a:buNone/>
            </a:pPr>
            <a:endParaRPr>
              <a:solidFill>
                <a:schemeClr val="dk2"/>
              </a:solidFill>
              <a:latin typeface="Open Sans"/>
              <a:ea typeface="Open Sans"/>
              <a:cs typeface="Open Sans"/>
              <a:sym typeface="Open Sans"/>
            </a:endParaRPr>
          </a:p>
          <a:p>
            <a:pPr marL="0" lvl="0" indent="0" algn="l" rtl="0">
              <a:spcBef>
                <a:spcPts val="0"/>
              </a:spcBef>
              <a:spcAft>
                <a:spcPts val="0"/>
              </a:spcAft>
              <a:buNone/>
            </a:pPr>
            <a:r>
              <a:rPr lang="en">
                <a:solidFill>
                  <a:schemeClr val="dk2"/>
                </a:solidFill>
                <a:latin typeface="Open Sans"/>
                <a:ea typeface="Open Sans"/>
                <a:cs typeface="Open Sans"/>
                <a:sym typeface="Open Sans"/>
              </a:rPr>
              <a:t>You are not allowed to use any automated scanner, as you can't refer to them in your report.</a:t>
            </a:r>
            <a:endParaRPr>
              <a:solidFill>
                <a:schemeClr val="dk2"/>
              </a:solidFill>
              <a:latin typeface="Open Sans"/>
              <a:ea typeface="Open Sans"/>
              <a:cs typeface="Open Sans"/>
              <a:sym typeface="Open Sans"/>
            </a:endParaRPr>
          </a:p>
          <a:p>
            <a:pPr marL="0" lvl="0" indent="0" algn="l" rtl="0">
              <a:spcBef>
                <a:spcPts val="0"/>
              </a:spcBef>
              <a:spcAft>
                <a:spcPts val="0"/>
              </a:spcAft>
              <a:buNone/>
            </a:pPr>
            <a:endParaRPr>
              <a:solidFill>
                <a:schemeClr val="dk2"/>
              </a:solidFill>
              <a:latin typeface="Open Sans"/>
              <a:ea typeface="Open Sans"/>
              <a:cs typeface="Open Sans"/>
              <a:sym typeface="Open Sans"/>
            </a:endParaRPr>
          </a:p>
          <a:p>
            <a:pPr marL="0" lvl="0" indent="0" algn="l" rtl="0">
              <a:spcBef>
                <a:spcPts val="0"/>
              </a:spcBef>
              <a:spcAft>
                <a:spcPts val="0"/>
              </a:spcAft>
              <a:buNone/>
            </a:pPr>
            <a:r>
              <a:rPr lang="en">
                <a:solidFill>
                  <a:schemeClr val="dk2"/>
                </a:solidFill>
                <a:latin typeface="Open Sans"/>
                <a:ea typeface="Open Sans"/>
                <a:cs typeface="Open Sans"/>
                <a:sym typeface="Open Sans"/>
              </a:rPr>
              <a:t>There is no deliverable in this section, but you need to write a report about the vulnerabilities in the next section!</a:t>
            </a:r>
            <a:endParaRPr>
              <a:solidFill>
                <a:schemeClr val="dk2"/>
              </a:solidFill>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Tools you may need</a:t>
            </a:r>
            <a:endParaRPr/>
          </a:p>
        </p:txBody>
      </p:sp>
      <p:sp>
        <p:nvSpPr>
          <p:cNvPr id="131" name="Google Shape;131;p22"/>
          <p:cNvSpPr txBox="1">
            <a:spLocks noGrp="1"/>
          </p:cNvSpPr>
          <p:nvPr>
            <p:ph type="body" idx="1"/>
          </p:nvPr>
        </p:nvSpPr>
        <p:spPr>
          <a:xfrm>
            <a:off x="305275" y="1990175"/>
            <a:ext cx="7242600" cy="77214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solidFill>
                  <a:schemeClr val="dk2"/>
                </a:solidFill>
                <a:latin typeface="Open Sans"/>
                <a:ea typeface="Open Sans"/>
                <a:cs typeface="Open Sans"/>
                <a:sym typeface="Open Sans"/>
              </a:rPr>
              <a:t>We have provided some Python files available in the /workspace/tools/ directory of the workspace that might be useful. You are only allowed to use these provided scripts because you are not allowed to refer to any other tool, like automated scanners, in the report.</a:t>
            </a:r>
            <a:endParaRPr>
              <a:solidFill>
                <a:schemeClr val="dk2"/>
              </a:solidFill>
              <a:latin typeface="Open Sans"/>
              <a:ea typeface="Open Sans"/>
              <a:cs typeface="Open Sans"/>
              <a:sym typeface="Open Sans"/>
            </a:endParaRPr>
          </a:p>
          <a:p>
            <a:pPr marL="0" lvl="0" indent="0" algn="l" rtl="0">
              <a:spcBef>
                <a:spcPts val="0"/>
              </a:spcBef>
              <a:spcAft>
                <a:spcPts val="0"/>
              </a:spcAft>
              <a:buNone/>
            </a:pP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Use the bruteforce.py tool for brute force attacks.</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Use the performbase64 file to encode/decode a value to Base64:</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Use the hashid.py and checkhash.py files to decode any hash values.</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If you need, you can also refer to the Hashing exercise's workspace present in one of the previous lessons to decode the hash value.   </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You can also find the test-password.txt and test-username.txt in the folder; use these when you need a password or a username list.</a:t>
            </a:r>
            <a:endParaRPr>
              <a:solidFill>
                <a:schemeClr val="dk2"/>
              </a:solidFill>
              <a:latin typeface="Open Sans"/>
              <a:ea typeface="Open Sans"/>
              <a:cs typeface="Open Sans"/>
              <a:sym typeface="Open Sans"/>
            </a:endParaRPr>
          </a:p>
          <a:p>
            <a:pPr marL="0" lvl="0" indent="0" algn="l" rtl="0">
              <a:spcBef>
                <a:spcPts val="0"/>
              </a:spcBef>
              <a:spcAft>
                <a:spcPts val="0"/>
              </a:spcAft>
              <a:buNone/>
            </a:pPr>
            <a:endParaRPr>
              <a:solidFill>
                <a:schemeClr val="dk2"/>
              </a:solidFill>
              <a:latin typeface="Open Sans"/>
              <a:ea typeface="Open Sans"/>
              <a:cs typeface="Open Sans"/>
              <a:sym typeface="Open Sans"/>
            </a:endParaRPr>
          </a:p>
          <a:p>
            <a:pPr marL="0" lvl="0" indent="0" algn="l" rtl="0">
              <a:spcBef>
                <a:spcPts val="0"/>
              </a:spcBef>
              <a:spcAft>
                <a:spcPts val="0"/>
              </a:spcAft>
              <a:buNone/>
            </a:pPr>
            <a:endParaRPr>
              <a:solidFill>
                <a:schemeClr val="dk2"/>
              </a:solidFill>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Instructions</a:t>
            </a:r>
            <a:endParaRPr/>
          </a:p>
        </p:txBody>
      </p:sp>
      <p:sp>
        <p:nvSpPr>
          <p:cNvPr id="137" name="Google Shape;137;p23"/>
          <p:cNvSpPr txBox="1">
            <a:spLocks noGrp="1"/>
          </p:cNvSpPr>
          <p:nvPr>
            <p:ph type="body" idx="1"/>
          </p:nvPr>
        </p:nvSpPr>
        <p:spPr>
          <a:xfrm>
            <a:off x="305275" y="1990175"/>
            <a:ext cx="7242600" cy="7721400"/>
          </a:xfrm>
          <a:prstGeom prst="rect">
            <a:avLst/>
          </a:prstGeom>
        </p:spPr>
        <p:txBody>
          <a:bodyPr spcFirstLastPara="1" wrap="square" lIns="91425" tIns="0" rIns="91425" bIns="0" anchor="t" anchorCtr="0">
            <a:noAutofit/>
          </a:bodyPr>
          <a:lstStyle/>
          <a:p>
            <a:pPr marL="0" lvl="0" indent="0" algn="l" rtl="0">
              <a:spcBef>
                <a:spcPts val="0"/>
              </a:spcBef>
              <a:spcAft>
                <a:spcPts val="0"/>
              </a:spcAft>
              <a:buNone/>
            </a:pPr>
            <a:r>
              <a:rPr lang="en">
                <a:solidFill>
                  <a:schemeClr val="dk2"/>
                </a:solidFill>
                <a:latin typeface="Open Sans"/>
                <a:ea typeface="Open Sans"/>
                <a:cs typeface="Open Sans"/>
                <a:sym typeface="Open Sans"/>
              </a:rPr>
              <a:t>If you go to the </a:t>
            </a:r>
            <a:r>
              <a:rPr lang="en" b="1">
                <a:solidFill>
                  <a:schemeClr val="dk2"/>
                </a:solidFill>
                <a:latin typeface="Open Sans"/>
                <a:ea typeface="Open Sans"/>
                <a:cs typeface="Open Sans"/>
                <a:sym typeface="Open Sans"/>
              </a:rPr>
              <a:t>Web Application Environment page</a:t>
            </a:r>
            <a:r>
              <a:rPr lang="en">
                <a:solidFill>
                  <a:schemeClr val="dk2"/>
                </a:solidFill>
                <a:latin typeface="Open Sans"/>
                <a:ea typeface="Open Sans"/>
                <a:cs typeface="Open Sans"/>
                <a:sym typeface="Open Sans"/>
              </a:rPr>
              <a:t>, you will find a pre-setup environment for you to analyze the web application. Setting up your env is as simple as initiating the application and then using the “Start App” button. To view the website, you will need to click the “Open App” button.</a:t>
            </a:r>
            <a:endParaRPr>
              <a:solidFill>
                <a:schemeClr val="dk2"/>
              </a:solidFill>
              <a:latin typeface="Open Sans"/>
              <a:ea typeface="Open Sans"/>
              <a:cs typeface="Open Sans"/>
              <a:sym typeface="Open Sans"/>
            </a:endParaRPr>
          </a:p>
          <a:p>
            <a:pPr marL="0" lvl="0" indent="0" algn="l" rtl="0">
              <a:spcBef>
                <a:spcPts val="0"/>
              </a:spcBef>
              <a:spcAft>
                <a:spcPts val="0"/>
              </a:spcAft>
              <a:buNone/>
            </a:pPr>
            <a:endParaRPr>
              <a:solidFill>
                <a:schemeClr val="dk2"/>
              </a:solidFill>
              <a:latin typeface="Open Sans"/>
              <a:ea typeface="Open Sans"/>
              <a:cs typeface="Open Sans"/>
              <a:sym typeface="Open Sans"/>
            </a:endParaRPr>
          </a:p>
          <a:p>
            <a:pPr marL="0" lvl="0" indent="0" algn="l" rtl="0">
              <a:spcBef>
                <a:spcPts val="0"/>
              </a:spcBef>
              <a:spcAft>
                <a:spcPts val="0"/>
              </a:spcAft>
              <a:buNone/>
            </a:pPr>
            <a:endParaRPr>
              <a:solidFill>
                <a:schemeClr val="dk2"/>
              </a:solidFill>
              <a:latin typeface="Open Sans"/>
              <a:ea typeface="Open Sans"/>
              <a:cs typeface="Open Sans"/>
              <a:sym typeface="Open Sans"/>
            </a:endParaRPr>
          </a:p>
        </p:txBody>
      </p:sp>
      <p:pic>
        <p:nvPicPr>
          <p:cNvPr id="138" name="Google Shape;138;p23"/>
          <p:cNvPicPr preferRelativeResize="0"/>
          <p:nvPr/>
        </p:nvPicPr>
        <p:blipFill>
          <a:blip r:embed="rId3">
            <a:alphaModFix/>
          </a:blip>
          <a:stretch>
            <a:fillRect/>
          </a:stretch>
        </p:blipFill>
        <p:spPr>
          <a:xfrm>
            <a:off x="449124" y="4015375"/>
            <a:ext cx="6874150" cy="4357500"/>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Tips</a:t>
            </a:r>
            <a:endParaRPr/>
          </a:p>
        </p:txBody>
      </p:sp>
      <p:sp>
        <p:nvSpPr>
          <p:cNvPr id="144" name="Google Shape;144;p24"/>
          <p:cNvSpPr txBox="1">
            <a:spLocks noGrp="1"/>
          </p:cNvSpPr>
          <p:nvPr>
            <p:ph type="body" idx="1"/>
          </p:nvPr>
        </p:nvSpPr>
        <p:spPr>
          <a:xfrm>
            <a:off x="305275" y="1990175"/>
            <a:ext cx="7242600" cy="7721400"/>
          </a:xfrm>
          <a:prstGeom prst="rect">
            <a:avLst/>
          </a:prstGeom>
        </p:spPr>
        <p:txBody>
          <a:bodyPr spcFirstLastPara="1" wrap="square" lIns="91425" tIns="0" rIns="91425" bIns="0" anchor="t" anchorCtr="0">
            <a:noAutofit/>
          </a:bodyPr>
          <a:lstStyle/>
          <a:p>
            <a:pPr marL="457200" lvl="0" indent="-342900" algn="l" rtl="0">
              <a:spcBef>
                <a:spcPts val="1200"/>
              </a:spcBef>
              <a:spcAft>
                <a:spcPts val="0"/>
              </a:spcAft>
              <a:buClr>
                <a:schemeClr val="dk2"/>
              </a:buClr>
              <a:buSzPts val="1800"/>
              <a:buFont typeface="Open Sans"/>
              <a:buAutoNum type="arabicPeriod"/>
            </a:pPr>
            <a:r>
              <a:rPr lang="en" b="1">
                <a:solidFill>
                  <a:schemeClr val="dk2"/>
                </a:solidFill>
                <a:latin typeface="Open Sans"/>
                <a:ea typeface="Open Sans"/>
                <a:cs typeface="Open Sans"/>
                <a:sym typeface="Open Sans"/>
              </a:rPr>
              <a:t>Break into the application: </a:t>
            </a:r>
            <a:r>
              <a:rPr lang="en">
                <a:solidFill>
                  <a:schemeClr val="dk2"/>
                </a:solidFill>
                <a:latin typeface="Open Sans"/>
                <a:ea typeface="Open Sans"/>
                <a:cs typeface="Open Sans"/>
                <a:sym typeface="Open Sans"/>
              </a:rPr>
              <a:t>Start with breaking into the application using the brute force approach.</a:t>
            </a:r>
            <a:br>
              <a:rPr lang="en">
                <a:solidFill>
                  <a:schemeClr val="dk2"/>
                </a:solidFill>
                <a:latin typeface="Open Sans"/>
                <a:ea typeface="Open Sans"/>
                <a:cs typeface="Open Sans"/>
                <a:sym typeface="Open Sans"/>
              </a:rPr>
            </a:b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AutoNum type="arabicPeriod"/>
            </a:pPr>
            <a:r>
              <a:rPr lang="en">
                <a:solidFill>
                  <a:schemeClr val="dk2"/>
                </a:solidFill>
                <a:latin typeface="Open Sans"/>
                <a:ea typeface="Open Sans"/>
                <a:cs typeface="Open Sans"/>
                <a:sym typeface="Open Sans"/>
              </a:rPr>
              <a:t>As soon as you break into the application, explore the different areas in the application to see what vulnerabilities you can find.</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Profile</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Customers</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Users</a:t>
            </a:r>
            <a:br>
              <a:rPr lang="en">
                <a:solidFill>
                  <a:schemeClr val="dk2"/>
                </a:solidFill>
                <a:latin typeface="Open Sans"/>
                <a:ea typeface="Open Sans"/>
                <a:cs typeface="Open Sans"/>
                <a:sym typeface="Open Sans"/>
              </a:rPr>
            </a:b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AutoNum type="arabicPeriod"/>
            </a:pPr>
            <a:r>
              <a:rPr lang="en" b="1">
                <a:solidFill>
                  <a:schemeClr val="dk2"/>
                </a:solidFill>
                <a:latin typeface="Open Sans"/>
                <a:ea typeface="Open Sans"/>
                <a:cs typeface="Open Sans"/>
                <a:sym typeface="Open Sans"/>
              </a:rPr>
              <a:t>Profile Section: </a:t>
            </a:r>
            <a:r>
              <a:rPr lang="en">
                <a:solidFill>
                  <a:schemeClr val="dk2"/>
                </a:solidFill>
                <a:latin typeface="Open Sans"/>
                <a:ea typeface="Open Sans"/>
                <a:cs typeface="Open Sans"/>
                <a:sym typeface="Open Sans"/>
              </a:rPr>
              <a:t>Visit the profile section, and try various measures just like an attacker.</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See if you can abuse the input fields.</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Examine the Cookie to notice any sensitive data.</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Try to elevate your role as an Admin. Remember, it becomes easier to make attacks such as SQLi only after becoming an Admin.</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If you succeed to elevate your role to Admin, it will prove multiple other vulnerabilities.</a:t>
            </a:r>
            <a:endParaRPr>
              <a:solidFill>
                <a:schemeClr val="dk2"/>
              </a:solidFill>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Tips</a:t>
            </a:r>
            <a:endParaRPr/>
          </a:p>
        </p:txBody>
      </p:sp>
      <p:sp>
        <p:nvSpPr>
          <p:cNvPr id="150" name="Google Shape;150;p25"/>
          <p:cNvSpPr txBox="1">
            <a:spLocks noGrp="1"/>
          </p:cNvSpPr>
          <p:nvPr>
            <p:ph type="body" idx="1"/>
          </p:nvPr>
        </p:nvSpPr>
        <p:spPr>
          <a:xfrm>
            <a:off x="305275" y="1990175"/>
            <a:ext cx="7242600" cy="7721400"/>
          </a:xfrm>
          <a:prstGeom prst="rect">
            <a:avLst/>
          </a:prstGeom>
        </p:spPr>
        <p:txBody>
          <a:bodyPr spcFirstLastPara="1" wrap="square" lIns="91425" tIns="0" rIns="91425" bIns="0" anchor="t" anchorCtr="0">
            <a:noAutofit/>
          </a:bodyPr>
          <a:lstStyle/>
          <a:p>
            <a:pPr marL="0" lvl="0" indent="0" algn="l" rtl="0">
              <a:spcBef>
                <a:spcPts val="1200"/>
              </a:spcBef>
              <a:spcAft>
                <a:spcPts val="0"/>
              </a:spcAft>
              <a:buNone/>
            </a:pPr>
            <a:r>
              <a:rPr lang="en">
                <a:solidFill>
                  <a:schemeClr val="dk2"/>
                </a:solidFill>
                <a:latin typeface="Open Sans"/>
                <a:ea typeface="Open Sans"/>
                <a:cs typeface="Open Sans"/>
                <a:sym typeface="Open Sans"/>
              </a:rPr>
              <a:t>4.	 </a:t>
            </a:r>
            <a:r>
              <a:rPr lang="en" b="1">
                <a:solidFill>
                  <a:schemeClr val="dk2"/>
                </a:solidFill>
                <a:latin typeface="Open Sans"/>
                <a:ea typeface="Open Sans"/>
                <a:cs typeface="Open Sans"/>
                <a:sym typeface="Open Sans"/>
              </a:rPr>
              <a:t>Customer Section:</a:t>
            </a:r>
            <a:r>
              <a:rPr lang="en">
                <a:solidFill>
                  <a:schemeClr val="dk2"/>
                </a:solidFill>
                <a:latin typeface="Open Sans"/>
                <a:ea typeface="Open Sans"/>
                <a:cs typeface="Open Sans"/>
                <a:sym typeface="Open Sans"/>
              </a:rPr>
              <a:t> Once you possess the Admin access to the Application, the next thing you would want to do is obtain the details of all the customers.</a:t>
            </a:r>
            <a:endParaRPr>
              <a:solidFill>
                <a:schemeClr val="dk2"/>
              </a:solidFill>
              <a:latin typeface="Open Sans"/>
              <a:ea typeface="Open Sans"/>
              <a:cs typeface="Open Sans"/>
              <a:sym typeface="Open Sans"/>
            </a:endParaRPr>
          </a:p>
          <a:p>
            <a:pPr marL="914400" lvl="1" indent="-342900" algn="l" rtl="0">
              <a:spcBef>
                <a:spcPts val="120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SQLi could be your preferred choice of attack to view customers' details.</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If you can view any customer's details, then you'd look for any sensitive data, such as login credentials.</a:t>
            </a:r>
            <a:endParaRPr>
              <a:solidFill>
                <a:schemeClr val="dk2"/>
              </a:solidFill>
              <a:latin typeface="Open Sans"/>
              <a:ea typeface="Open Sans"/>
              <a:cs typeface="Open Sans"/>
              <a:sym typeface="Open Sans"/>
            </a:endParaRPr>
          </a:p>
          <a:p>
            <a:pPr marL="0" lvl="0" indent="0" algn="l" rtl="0">
              <a:spcBef>
                <a:spcPts val="1200"/>
              </a:spcBef>
              <a:spcAft>
                <a:spcPts val="0"/>
              </a:spcAft>
              <a:buNone/>
            </a:pPr>
            <a:r>
              <a:rPr lang="en">
                <a:solidFill>
                  <a:schemeClr val="dk2"/>
                </a:solidFill>
                <a:latin typeface="Open Sans"/>
                <a:ea typeface="Open Sans"/>
                <a:cs typeface="Open Sans"/>
                <a:sym typeface="Open Sans"/>
              </a:rPr>
              <a:t>5. 	</a:t>
            </a:r>
            <a:r>
              <a:rPr lang="en" b="1">
                <a:solidFill>
                  <a:schemeClr val="dk2"/>
                </a:solidFill>
                <a:latin typeface="Open Sans"/>
                <a:ea typeface="Open Sans"/>
                <a:cs typeface="Open Sans"/>
                <a:sym typeface="Open Sans"/>
              </a:rPr>
              <a:t>Users:</a:t>
            </a:r>
            <a:endParaRPr b="1">
              <a:solidFill>
                <a:schemeClr val="dk2"/>
              </a:solidFill>
              <a:latin typeface="Open Sans"/>
              <a:ea typeface="Open Sans"/>
              <a:cs typeface="Open Sans"/>
              <a:sym typeface="Open Sans"/>
            </a:endParaRPr>
          </a:p>
          <a:p>
            <a:pPr marL="914400" lvl="1" indent="-342900" algn="l" rtl="0">
              <a:spcBef>
                <a:spcPts val="120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As an attacker, your next step would be to fetch sensitive data for all the users.</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AutoNum type="alphaLcPeriod"/>
            </a:pPr>
            <a:r>
              <a:rPr lang="en">
                <a:solidFill>
                  <a:schemeClr val="dk2"/>
                </a:solidFill>
                <a:latin typeface="Open Sans"/>
                <a:ea typeface="Open Sans"/>
                <a:cs typeface="Open Sans"/>
                <a:sym typeface="Open Sans"/>
              </a:rPr>
              <a:t>See if you can abuse the query string params.</a:t>
            </a:r>
            <a:br>
              <a:rPr lang="en">
                <a:solidFill>
                  <a:schemeClr val="dk2"/>
                </a:solidFill>
                <a:latin typeface="Open Sans"/>
                <a:ea typeface="Open Sans"/>
                <a:cs typeface="Open Sans"/>
                <a:sym typeface="Open Sans"/>
              </a:rPr>
            </a:br>
            <a:endParaRPr>
              <a:solidFill>
                <a:schemeClr val="dk2"/>
              </a:solidFill>
              <a:latin typeface="Open Sans"/>
              <a:ea typeface="Open Sans"/>
              <a:cs typeface="Open Sans"/>
              <a:sym typeface="Open Sans"/>
            </a:endParaRPr>
          </a:p>
          <a:p>
            <a:pPr marL="0" lvl="0" indent="0" algn="l" rtl="0">
              <a:spcBef>
                <a:spcPts val="1400"/>
              </a:spcBef>
              <a:spcAft>
                <a:spcPts val="0"/>
              </a:spcAft>
              <a:buNone/>
            </a:pPr>
            <a:r>
              <a:rPr lang="en" b="1">
                <a:solidFill>
                  <a:schemeClr val="dk2"/>
                </a:solidFill>
                <a:latin typeface="Open Sans"/>
                <a:ea typeface="Open Sans"/>
                <a:cs typeface="Open Sans"/>
                <a:sym typeface="Open Sans"/>
              </a:rPr>
              <a:t>Important</a:t>
            </a:r>
            <a:endParaRPr b="1">
              <a:solidFill>
                <a:schemeClr val="dk2"/>
              </a:solidFill>
              <a:latin typeface="Open Sans"/>
              <a:ea typeface="Open Sans"/>
              <a:cs typeface="Open Sans"/>
              <a:sym typeface="Open Sans"/>
            </a:endParaRPr>
          </a:p>
          <a:p>
            <a:pPr marL="0" lvl="0" indent="0" algn="l" rtl="0">
              <a:spcBef>
                <a:spcPts val="1200"/>
              </a:spcBef>
              <a:spcAft>
                <a:spcPts val="1200"/>
              </a:spcAft>
              <a:buNone/>
            </a:pPr>
            <a:r>
              <a:rPr lang="en">
                <a:solidFill>
                  <a:schemeClr val="dk2"/>
                </a:solidFill>
                <a:latin typeface="Open Sans"/>
                <a:ea typeface="Open Sans"/>
                <a:cs typeface="Open Sans"/>
                <a:sym typeface="Open Sans"/>
              </a:rPr>
              <a:t>You might think that you don't need to log or track security items that are "similar". But make sure that you track all of them so that the developer/tester can fix/verify the issue properly.</a:t>
            </a:r>
            <a:endParaRPr>
              <a:solidFill>
                <a:schemeClr val="dk2"/>
              </a:solidFill>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6"/>
          <p:cNvSpPr txBox="1">
            <a:spLocks noGrp="1"/>
          </p:cNvSpPr>
          <p:nvPr>
            <p:ph type="title"/>
          </p:nvPr>
        </p:nvSpPr>
        <p:spPr>
          <a:xfrm>
            <a:off x="264900" y="2160200"/>
            <a:ext cx="7242600" cy="2553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Section Three:</a:t>
            </a:r>
            <a:endParaRPr/>
          </a:p>
          <a:p>
            <a:pPr marL="0" lvl="0" indent="0" algn="l" rtl="0">
              <a:lnSpc>
                <a:spcPct val="150000"/>
              </a:lnSpc>
              <a:spcBef>
                <a:spcPts val="0"/>
              </a:spcBef>
              <a:spcAft>
                <a:spcPts val="0"/>
              </a:spcAft>
              <a:buNone/>
            </a:pPr>
            <a:r>
              <a:rPr lang="en"/>
              <a:t>Security Report</a:t>
            </a:r>
            <a:endParaRPr/>
          </a:p>
        </p:txBody>
      </p:sp>
      <p:sp>
        <p:nvSpPr>
          <p:cNvPr id="156" name="Google Shape;156;p26"/>
          <p:cNvSpPr txBox="1">
            <a:spLocks noGrp="1"/>
          </p:cNvSpPr>
          <p:nvPr>
            <p:ph type="title" idx="4294967295"/>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Digital Project Management</a:t>
            </a: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a:t>Security Report</a:t>
            </a:r>
            <a:endParaRPr/>
          </a:p>
        </p:txBody>
      </p:sp>
      <p:sp>
        <p:nvSpPr>
          <p:cNvPr id="162" name="Google Shape;162;p27"/>
          <p:cNvSpPr txBox="1">
            <a:spLocks noGrp="1"/>
          </p:cNvSpPr>
          <p:nvPr>
            <p:ph type="body" idx="1"/>
          </p:nvPr>
        </p:nvSpPr>
        <p:spPr>
          <a:xfrm>
            <a:off x="305275" y="1990175"/>
            <a:ext cx="7242600" cy="7721400"/>
          </a:xfrm>
          <a:prstGeom prst="rect">
            <a:avLst/>
          </a:prstGeom>
        </p:spPr>
        <p:txBody>
          <a:bodyPr spcFirstLastPara="1" wrap="square" lIns="91425" tIns="0" rIns="91425" bIns="0" anchor="t" anchorCtr="0">
            <a:noAutofit/>
          </a:bodyPr>
          <a:lstStyle/>
          <a:p>
            <a:pPr marL="0" lvl="0" indent="0" algn="l" rtl="0">
              <a:spcBef>
                <a:spcPts val="1500"/>
              </a:spcBef>
              <a:spcAft>
                <a:spcPts val="0"/>
              </a:spcAft>
              <a:buNone/>
            </a:pPr>
            <a:r>
              <a:rPr lang="en">
                <a:solidFill>
                  <a:schemeClr val="dk2"/>
                </a:solidFill>
                <a:latin typeface="Open Sans"/>
                <a:ea typeface="Open Sans"/>
                <a:cs typeface="Open Sans"/>
                <a:sym typeface="Open Sans"/>
              </a:rPr>
              <a:t>In the following slides, you need to provide a detailed report of six different types of vulnerabilities you found in the web application. The slides are named for each issue, so it is clear what to put where. For the walkthrough part, you can add as many slides as you see fit after the slide that identifies the issue.</a:t>
            </a:r>
            <a:endParaRPr>
              <a:solidFill>
                <a:schemeClr val="dk2"/>
              </a:solidFill>
              <a:latin typeface="Open Sans"/>
              <a:ea typeface="Open Sans"/>
              <a:cs typeface="Open Sans"/>
              <a:sym typeface="Open Sans"/>
            </a:endParaRPr>
          </a:p>
          <a:p>
            <a:pPr marL="0" lvl="0" indent="0" algn="l" rtl="0">
              <a:spcBef>
                <a:spcPts val="1500"/>
              </a:spcBef>
              <a:spcAft>
                <a:spcPts val="0"/>
              </a:spcAft>
              <a:buNone/>
            </a:pPr>
            <a:r>
              <a:rPr lang="en">
                <a:solidFill>
                  <a:schemeClr val="dk2"/>
                </a:solidFill>
                <a:latin typeface="Open Sans"/>
                <a:ea typeface="Open Sans"/>
                <a:cs typeface="Open Sans"/>
                <a:sym typeface="Open Sans"/>
              </a:rPr>
              <a:t>Your report has to include at least one finding of these vulnerabilities: Broken Authentication, XSS, Broken Access, Sensitive Data Exposure, SQLi.</a:t>
            </a:r>
            <a:endParaRPr>
              <a:solidFill>
                <a:schemeClr val="dk2"/>
              </a:solidFill>
              <a:latin typeface="Open Sans"/>
              <a:ea typeface="Open Sans"/>
              <a:cs typeface="Open Sans"/>
              <a:sym typeface="Open Sans"/>
            </a:endParaRPr>
          </a:p>
          <a:p>
            <a:pPr marL="0" lvl="0" indent="0" algn="l" rtl="0">
              <a:spcBef>
                <a:spcPts val="1500"/>
              </a:spcBef>
              <a:spcAft>
                <a:spcPts val="0"/>
              </a:spcAft>
              <a:buNone/>
            </a:pPr>
            <a:r>
              <a:rPr lang="en" b="1">
                <a:solidFill>
                  <a:schemeClr val="dk2"/>
                </a:solidFill>
                <a:latin typeface="Open Sans"/>
                <a:ea typeface="Open Sans"/>
                <a:cs typeface="Open Sans"/>
                <a:sym typeface="Open Sans"/>
              </a:rPr>
              <a:t>For each identified issue, include the following components:</a:t>
            </a:r>
            <a:endParaRPr b="1">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Severity: Assign a severity level to the issue. </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OWASP TOP 10 Reference: Specify the relevant OWASP TOP 10 issue reference (can be 2017 or 2021).</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Vulnerability Explanation: Clearly explain the specific vulnerability you discovered in the web application.</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Recommendation: Provide a high-level recommendation on how to fix the issue. This should not be a step-by-step guide but rather a strategic approach to remediation.</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Steps to Reproduce the Issue: Detail the process of replicating the vulnerability. Include:</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A written walkthrough of each step.</a:t>
            </a:r>
            <a:endParaRPr>
              <a:solidFill>
                <a:schemeClr val="dk2"/>
              </a:solidFill>
              <a:latin typeface="Open Sans"/>
              <a:ea typeface="Open Sans"/>
              <a:cs typeface="Open Sans"/>
              <a:sym typeface="Open Sans"/>
            </a:endParaRPr>
          </a:p>
          <a:p>
            <a:pPr marL="914400" lvl="1"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Annotated screenshots to support your explanation.</a:t>
            </a:r>
            <a:endParaRPr>
              <a:solidFill>
                <a:schemeClr val="dk2"/>
              </a:solidFill>
              <a:latin typeface="Open Sans"/>
              <a:ea typeface="Open Sans"/>
              <a:cs typeface="Open Sans"/>
              <a:sym typeface="Open Sans"/>
            </a:endParaRPr>
          </a:p>
          <a:p>
            <a:pPr marL="0" lvl="0" indent="0" algn="l" rtl="0">
              <a:spcBef>
                <a:spcPts val="0"/>
              </a:spcBef>
              <a:spcAft>
                <a:spcPts val="0"/>
              </a:spcAft>
              <a:buNone/>
            </a:pPr>
            <a:endParaRPr>
              <a:solidFill>
                <a:schemeClr val="dk1"/>
              </a:solidFill>
              <a:highlight>
                <a:srgbClr val="F7F7F7"/>
              </a:highlight>
              <a:latin typeface="Open Sans"/>
              <a:ea typeface="Open Sans"/>
              <a:cs typeface="Open Sans"/>
              <a:sym typeface="Open Sans"/>
            </a:endParaRPr>
          </a:p>
          <a:p>
            <a:pPr marL="0" lvl="0" indent="0" algn="l" rtl="0">
              <a:spcBef>
                <a:spcPts val="0"/>
              </a:spcBef>
              <a:spcAft>
                <a:spcPts val="0"/>
              </a:spcAft>
              <a:buNone/>
            </a:pPr>
            <a:endParaRPr>
              <a:solidFill>
                <a:schemeClr val="dk1"/>
              </a:solidFill>
              <a:highlight>
                <a:srgbClr val="F7F7F7"/>
              </a:highlight>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Important Considerations</a:t>
            </a:r>
            <a:endParaRPr/>
          </a:p>
        </p:txBody>
      </p:sp>
      <p:sp>
        <p:nvSpPr>
          <p:cNvPr id="168" name="Google Shape;168;p28"/>
          <p:cNvSpPr txBox="1">
            <a:spLocks noGrp="1"/>
          </p:cNvSpPr>
          <p:nvPr>
            <p:ph type="body" idx="1"/>
          </p:nvPr>
        </p:nvSpPr>
        <p:spPr>
          <a:xfrm>
            <a:off x="305275" y="1990175"/>
            <a:ext cx="7242600" cy="7721400"/>
          </a:xfrm>
          <a:prstGeom prst="rect">
            <a:avLst/>
          </a:prstGeom>
        </p:spPr>
        <p:txBody>
          <a:bodyPr spcFirstLastPara="1" wrap="square" lIns="91425" tIns="0" rIns="91425" bIns="0" anchor="t" anchorCtr="0">
            <a:noAutofit/>
          </a:bodyPr>
          <a:lstStyle/>
          <a:p>
            <a:pPr marL="457200" lvl="0" indent="-342900" algn="l" rtl="0">
              <a:spcBef>
                <a:spcPts val="0"/>
              </a:spcBef>
              <a:spcAft>
                <a:spcPts val="0"/>
              </a:spcAft>
              <a:buClr>
                <a:schemeClr val="dk2"/>
              </a:buClr>
              <a:buSzPts val="1800"/>
              <a:buFont typeface="Open Sans"/>
              <a:buChar char="●"/>
            </a:pPr>
            <a:r>
              <a:rPr lang="en" b="1">
                <a:solidFill>
                  <a:schemeClr val="dk2"/>
                </a:solidFill>
                <a:latin typeface="Open Sans"/>
                <a:ea typeface="Open Sans"/>
                <a:cs typeface="Open Sans"/>
                <a:sym typeface="Open Sans"/>
              </a:rPr>
              <a:t>Accuracy in Severity and OWASP Reference:</a:t>
            </a:r>
            <a:r>
              <a:rPr lang="en">
                <a:solidFill>
                  <a:schemeClr val="dk2"/>
                </a:solidFill>
                <a:latin typeface="Open Sans"/>
                <a:ea typeface="Open Sans"/>
                <a:cs typeface="Open Sans"/>
                <a:sym typeface="Open Sans"/>
              </a:rPr>
              <a:t> Accurately identify the severity and corresponding OWASP TOP 10 reference. Common mistakes include incorrectly assigning severity levels and misidentifying the OWASP category. Remember, not every issue is Critical or High; prioritize accurately to help developers focus their efforts effectively.</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b="1">
                <a:solidFill>
                  <a:schemeClr val="dk2"/>
                </a:solidFill>
                <a:latin typeface="Open Sans"/>
                <a:ea typeface="Open Sans"/>
                <a:cs typeface="Open Sans"/>
                <a:sym typeface="Open Sans"/>
              </a:rPr>
              <a:t>Contextual Vulnerability Description:</a:t>
            </a:r>
            <a:r>
              <a:rPr lang="en">
                <a:solidFill>
                  <a:schemeClr val="dk2"/>
                </a:solidFill>
                <a:latin typeface="Open Sans"/>
                <a:ea typeface="Open Sans"/>
                <a:cs typeface="Open Sans"/>
                <a:sym typeface="Open Sans"/>
              </a:rPr>
              <a:t> Describe the vulnerability as it specifically pertains to the web application you are testing. Do not provide a generic description.</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b="1">
                <a:solidFill>
                  <a:schemeClr val="dk2"/>
                </a:solidFill>
                <a:latin typeface="Open Sans"/>
                <a:ea typeface="Open Sans"/>
                <a:cs typeface="Open Sans"/>
                <a:sym typeface="Open Sans"/>
              </a:rPr>
              <a:t>Detailed Reproduction Steps: </a:t>
            </a:r>
            <a:r>
              <a:rPr lang="en">
                <a:solidFill>
                  <a:schemeClr val="dk2"/>
                </a:solidFill>
                <a:latin typeface="Open Sans"/>
                <a:ea typeface="Open Sans"/>
                <a:cs typeface="Open Sans"/>
                <a:sym typeface="Open Sans"/>
              </a:rPr>
              <a:t>Ensure your steps to reproduce the issue are comprehensive. Use a combination of clear writing and annotated screenshots to guide the reader through the process. Assume the reader may not have advanced security or technical knowledge.</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You are only allowed to use the provided scripts. Using or referring to automated scanners is not an acceptable solution.</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The template slides are named, but they are not necessarily in order!</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There are a total of 13 vulnerabilities on the server. For a standout project, include more than the required 5 vulnerabilities in your report!</a:t>
            </a:r>
            <a:endParaRPr>
              <a:solidFill>
                <a:schemeClr val="dk2"/>
              </a:solidFill>
              <a:latin typeface="Open Sans"/>
              <a:ea typeface="Open Sans"/>
              <a:cs typeface="Open Sans"/>
              <a:sym typeface="Open Sans"/>
            </a:endParaRPr>
          </a:p>
          <a:p>
            <a:pPr marL="457200" lvl="0" indent="-342900" algn="l" rtl="0">
              <a:spcBef>
                <a:spcPts val="0"/>
              </a:spcBef>
              <a:spcAft>
                <a:spcPts val="0"/>
              </a:spcAft>
              <a:buClr>
                <a:schemeClr val="dk2"/>
              </a:buClr>
              <a:buSzPts val="1800"/>
              <a:buFont typeface="Open Sans"/>
              <a:buChar char="●"/>
            </a:pPr>
            <a:r>
              <a:rPr lang="en">
                <a:solidFill>
                  <a:schemeClr val="dk2"/>
                </a:solidFill>
                <a:latin typeface="Open Sans"/>
                <a:ea typeface="Open Sans"/>
                <a:cs typeface="Open Sans"/>
                <a:sym typeface="Open Sans"/>
              </a:rPr>
              <a:t>There is an example slide that uses an imaginary SSRF vulnerability but without the step-by-step walkthrough.</a:t>
            </a:r>
            <a:endParaRPr>
              <a:solidFill>
                <a:schemeClr val="dk2"/>
              </a:solidFill>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Server-Side Request Forgery (SSRF)</a:t>
            </a:r>
            <a:endParaRPr/>
          </a:p>
        </p:txBody>
      </p:sp>
      <p:graphicFrame>
        <p:nvGraphicFramePr>
          <p:cNvPr id="174" name="Google Shape;174;p29"/>
          <p:cNvGraphicFramePr/>
          <p:nvPr/>
        </p:nvGraphicFramePr>
        <p:xfrm>
          <a:off x="264900" y="1990175"/>
          <a:ext cx="7242600" cy="5836705"/>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High</a:t>
                      </a:r>
                      <a:endParaRPr sz="1800" i="1">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A10:2021-Server-Side Request Forgery (SSRF)</a:t>
                      </a:r>
                      <a:endParaRPr sz="1800" i="1">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Vulnerability Explanation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033000">
                <a:tc gridSpan="2">
                  <a:txBody>
                    <a:bodyPr/>
                    <a:lstStyle/>
                    <a:p>
                      <a:pPr marL="0" lvl="0" indent="0" algn="l" rtl="0">
                        <a:spcBef>
                          <a:spcPts val="0"/>
                        </a:spcBef>
                        <a:spcAft>
                          <a:spcPts val="0"/>
                        </a:spcAft>
                        <a:buClr>
                          <a:schemeClr val="dk1"/>
                        </a:buClr>
                        <a:buSzPts val="1100"/>
                        <a:buFont typeface="Arial"/>
                        <a:buNone/>
                      </a:pPr>
                      <a:r>
                        <a:rPr lang="en" sz="1800" i="1">
                          <a:solidFill>
                            <a:schemeClr val="dk2"/>
                          </a:solidFill>
                          <a:latin typeface="Open Sans Light"/>
                          <a:ea typeface="Open Sans Light"/>
                          <a:cs typeface="Open Sans Light"/>
                          <a:sym typeface="Open Sans Light"/>
                        </a:rPr>
                        <a:t>The web application includes a URL preview feature that allows users to input a URL to fetch and display a preview of the linked content. The feature does not properly validate or sanitize user input, allowing an attacker to craft requests to internal systems or third-party services. This can result in the exposure of sensitive internal information, unauthorized access to internal services, and potential exploitation of internal network vulnerabilities.</a:t>
                      </a:r>
                      <a:endParaRPr sz="1800" i="1">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4"/>
                  </a:ext>
                </a:extLst>
              </a:tr>
              <a:tr h="1486125">
                <a:tc gridSpan="2">
                  <a:txBody>
                    <a:bodyPr/>
                    <a:lstStyle/>
                    <a:p>
                      <a:pPr marL="0" lvl="0" indent="0" algn="l" rtl="0">
                        <a:spcBef>
                          <a:spcPts val="0"/>
                        </a:spcBef>
                        <a:spcAft>
                          <a:spcPts val="0"/>
                        </a:spcAft>
                        <a:buClr>
                          <a:schemeClr val="dk1"/>
                        </a:buClr>
                        <a:buSzPts val="1100"/>
                        <a:buFont typeface="Arial"/>
                        <a:buNone/>
                      </a:pPr>
                      <a:r>
                        <a:rPr lang="en" sz="1800" i="1">
                          <a:solidFill>
                            <a:schemeClr val="dk2"/>
                          </a:solidFill>
                          <a:latin typeface="Open Sans Light"/>
                          <a:ea typeface="Open Sans Light"/>
                          <a:cs typeface="Open Sans Light"/>
                          <a:sym typeface="Open Sans Light"/>
                        </a:rPr>
                        <a:t>Implement strict input validation and whitelisting to ensure that only trusted URLs can be accessed and previewed. Use network segmentation to limit the application's ability to make requests to internal resources.</a:t>
                      </a:r>
                      <a:endParaRPr sz="1800" i="1">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175" name="Google Shape;175;p29"/>
          <p:cNvSpPr txBox="1">
            <a:spLocks noGrp="1"/>
          </p:cNvSpPr>
          <p:nvPr>
            <p:ph type="title"/>
          </p:nvPr>
        </p:nvSpPr>
        <p:spPr>
          <a:xfrm>
            <a:off x="104970" y="-4"/>
            <a:ext cx="7242600" cy="111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Open Sans"/>
                <a:ea typeface="Open Sans"/>
                <a:cs typeface="Open Sans"/>
                <a:sym typeface="Open Sans"/>
              </a:rPr>
              <a:t>EXAMPLE FOR THE REPORT</a:t>
            </a:r>
            <a:endParaRPr b="1">
              <a:latin typeface="Open Sans"/>
              <a:ea typeface="Open Sans"/>
              <a:cs typeface="Open Sans"/>
              <a:sym typeface="Open Sans"/>
            </a:endParaRPr>
          </a:p>
        </p:txBody>
      </p:sp>
      <p:sp>
        <p:nvSpPr>
          <p:cNvPr id="176" name="Google Shape;176;p29"/>
          <p:cNvSpPr txBox="1">
            <a:spLocks noGrp="1"/>
          </p:cNvSpPr>
          <p:nvPr>
            <p:ph type="title"/>
          </p:nvPr>
        </p:nvSpPr>
        <p:spPr>
          <a:xfrm>
            <a:off x="264945" y="8697121"/>
            <a:ext cx="7242600" cy="1119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Open Sans"/>
                <a:ea typeface="Open Sans"/>
                <a:cs typeface="Open Sans"/>
                <a:sym typeface="Open Sans"/>
              </a:rPr>
              <a:t>EXAMPLE FOR THE REPORT</a:t>
            </a:r>
            <a:endParaRPr b="1">
              <a:latin typeface="Open Sans"/>
              <a:ea typeface="Open Sans"/>
              <a:cs typeface="Open Sans"/>
              <a:sym typeface="Open Sans"/>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Broken Authentication</a:t>
            </a:r>
            <a:endParaRPr/>
          </a:p>
        </p:txBody>
      </p:sp>
      <p:graphicFrame>
        <p:nvGraphicFramePr>
          <p:cNvPr id="182" name="Google Shape;182;p30"/>
          <p:cNvGraphicFramePr/>
          <p:nvPr>
            <p:extLst>
              <p:ext uri="{D42A27DB-BD31-4B8C-83A1-F6EECF244321}">
                <p14:modId xmlns:p14="http://schemas.microsoft.com/office/powerpoint/2010/main" val="3342097253"/>
              </p:ext>
            </p:extLst>
          </p:nvPr>
        </p:nvGraphicFramePr>
        <p:xfrm>
          <a:off x="264900" y="1990175"/>
          <a:ext cx="7242600" cy="4513825"/>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Critical</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400" b="1" i="0" u="none" strike="noStrike" cap="none" baseline="0" dirty="0" smtClean="0">
                          <a:solidFill>
                            <a:srgbClr val="000000"/>
                          </a:solidFill>
                          <a:latin typeface="Arial"/>
                          <a:ea typeface="Arial"/>
                          <a:cs typeface="Arial"/>
                          <a:sym typeface="Arial"/>
                        </a:rPr>
                        <a:t>A2:2017-Broken Authentication </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Vulnerability Explanation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033000">
                <a:tc gridSpan="2">
                  <a:txBody>
                    <a:bodyPr/>
                    <a:lstStyle/>
                    <a:p>
                      <a:pPr marL="0" lvl="0" indent="0" algn="l" rtl="0">
                        <a:spcBef>
                          <a:spcPts val="0"/>
                        </a:spcBef>
                        <a:spcAft>
                          <a:spcPts val="0"/>
                        </a:spcAft>
                        <a:buClr>
                          <a:schemeClr val="dk1"/>
                        </a:buClr>
                        <a:buSzPts val="1100"/>
                        <a:buFont typeface="Arial"/>
                        <a:buNone/>
                      </a:pPr>
                      <a:r>
                        <a:rPr lang="en-US" sz="1400" b="0" i="0" u="none" strike="noStrike" cap="none" baseline="0" dirty="0" smtClean="0">
                          <a:solidFill>
                            <a:srgbClr val="000000"/>
                          </a:solidFill>
                          <a:latin typeface="Arial"/>
                          <a:ea typeface="Arial"/>
                          <a:cs typeface="Arial"/>
                          <a:sym typeface="Arial"/>
                        </a:rPr>
                        <a:t>Ability to perform brute force attack on the system </a:t>
                      </a:r>
                      <a:endParaRPr sz="1800" b="1" i="1" dirty="0">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4"/>
                  </a:ext>
                </a:extLst>
              </a:tr>
              <a:tr h="1486125">
                <a:tc gridSpan="2">
                  <a:txBody>
                    <a:bodyPr/>
                    <a:lstStyle/>
                    <a:p>
                      <a:pPr marL="0" lvl="0" indent="0" algn="l" rtl="0">
                        <a:spcBef>
                          <a:spcPts val="0"/>
                        </a:spcBef>
                        <a:spcAft>
                          <a:spcPts val="0"/>
                        </a:spcAft>
                        <a:buNone/>
                      </a:pPr>
                      <a:r>
                        <a:rPr lang="en-US" sz="1400" b="0" i="0" u="none" strike="noStrike" cap="none" baseline="0" dirty="0" smtClean="0">
                          <a:solidFill>
                            <a:srgbClr val="000000"/>
                          </a:solidFill>
                          <a:latin typeface="Arial"/>
                          <a:ea typeface="Arial"/>
                          <a:cs typeface="Arial"/>
                          <a:sym typeface="Arial"/>
                        </a:rPr>
                        <a:t>https://owasp.org/www-project-web-security-testing-guide/latest/4-Web_Application_Security_Testing/04-Authentication_Testing/README </a:t>
                      </a:r>
                      <a:endParaRPr sz="18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bl>
          </a:graphicData>
        </a:graphic>
      </p:graphicFrame>
      <p:graphicFrame>
        <p:nvGraphicFramePr>
          <p:cNvPr id="183" name="Google Shape;183;p30"/>
          <p:cNvGraphicFramePr/>
          <p:nvPr/>
        </p:nvGraphicFramePr>
        <p:xfrm>
          <a:off x="264900" y="8428425"/>
          <a:ext cx="7242600" cy="73149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On the following slide(s) provide the steps to reproduce the vulnerability, using a combination of writing and annotated screenshots.</a:t>
                      </a:r>
                      <a:endParaRPr sz="180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1"/>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Broken Authentication</a:t>
            </a:r>
            <a:endParaRPr/>
          </a:p>
        </p:txBody>
      </p:sp>
      <p:graphicFrame>
        <p:nvGraphicFramePr>
          <p:cNvPr id="189" name="Google Shape;189;p31"/>
          <p:cNvGraphicFramePr/>
          <p:nvPr>
            <p:extLst>
              <p:ext uri="{D42A27DB-BD31-4B8C-83A1-F6EECF244321}">
                <p14:modId xmlns:p14="http://schemas.microsoft.com/office/powerpoint/2010/main" val="2723672936"/>
              </p:ext>
            </p:extLst>
          </p:nvPr>
        </p:nvGraphicFramePr>
        <p:xfrm>
          <a:off x="264900" y="1990175"/>
          <a:ext cx="7242600" cy="82293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endParaRPr lang="en-US" sz="1400" b="0" i="0" u="none" strike="noStrike" cap="none" baseline="0" dirty="0" smtClean="0">
                        <a:solidFill>
                          <a:srgbClr val="000000"/>
                        </a:solidFill>
                        <a:latin typeface="Arial"/>
                        <a:ea typeface="Arial"/>
                        <a:cs typeface="Arial"/>
                        <a:sym typeface="Arial"/>
                      </a:endParaRPr>
                    </a:p>
                    <a:p>
                      <a:r>
                        <a:rPr lang="en-US" sz="1400" b="0" i="0" u="none" strike="noStrike" cap="none" baseline="0" dirty="0" smtClean="0">
                          <a:solidFill>
                            <a:srgbClr val="000000"/>
                          </a:solidFill>
                          <a:latin typeface="Arial"/>
                          <a:ea typeface="Arial"/>
                          <a:cs typeface="Arial"/>
                          <a:sym typeface="Arial"/>
                        </a:rPr>
                        <a:t>1- Run a script </a:t>
                      </a:r>
                    </a:p>
                    <a:p>
                      <a:r>
                        <a:rPr lang="en-US" sz="1400" b="0" i="0" u="none" strike="noStrike" cap="none" baseline="0" dirty="0" smtClean="0">
                          <a:solidFill>
                            <a:srgbClr val="000000"/>
                          </a:solidFill>
                          <a:latin typeface="Arial"/>
                          <a:ea typeface="Arial"/>
                          <a:cs typeface="Arial"/>
                          <a:sym typeface="Arial"/>
                        </a:rPr>
                        <a:t>2- Getting login credential </a:t>
                      </a:r>
                      <a:endParaRPr lang="en-US" sz="1400" b="0" i="0" u="none" strike="noStrike" cap="none" baseline="0" dirty="0" smtClean="0">
                        <a:solidFill>
                          <a:srgbClr val="000000"/>
                        </a:solidFill>
                        <a:latin typeface="Arial"/>
                        <a:ea typeface="Arial"/>
                        <a:cs typeface="Arial"/>
                        <a:sym typeface="Aria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 name="Picture 1"/>
          <p:cNvPicPr>
            <a:picLocks noChangeAspect="1"/>
          </p:cNvPicPr>
          <p:nvPr/>
        </p:nvPicPr>
        <p:blipFill>
          <a:blip r:embed="rId3"/>
          <a:stretch>
            <a:fillRect/>
          </a:stretch>
        </p:blipFill>
        <p:spPr>
          <a:xfrm>
            <a:off x="264900" y="2840110"/>
            <a:ext cx="4355026" cy="3491417"/>
          </a:xfrm>
          <a:prstGeom prst="rect">
            <a:avLst/>
          </a:prstGeom>
        </p:spPr>
      </p:pic>
      <p:pic>
        <p:nvPicPr>
          <p:cNvPr id="3" name="Picture 2"/>
          <p:cNvPicPr>
            <a:picLocks noChangeAspect="1"/>
          </p:cNvPicPr>
          <p:nvPr/>
        </p:nvPicPr>
        <p:blipFill>
          <a:blip r:embed="rId4"/>
          <a:stretch>
            <a:fillRect/>
          </a:stretch>
        </p:blipFill>
        <p:spPr>
          <a:xfrm>
            <a:off x="174845" y="6331527"/>
            <a:ext cx="4445081" cy="3687695"/>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2"/>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Cross-Site Scripting (XSS)</a:t>
            </a:r>
            <a:endParaRPr/>
          </a:p>
        </p:txBody>
      </p:sp>
      <p:graphicFrame>
        <p:nvGraphicFramePr>
          <p:cNvPr id="195" name="Google Shape;195;p32"/>
          <p:cNvGraphicFramePr/>
          <p:nvPr>
            <p:extLst>
              <p:ext uri="{D42A27DB-BD31-4B8C-83A1-F6EECF244321}">
                <p14:modId xmlns:p14="http://schemas.microsoft.com/office/powerpoint/2010/main" val="2603647739"/>
              </p:ext>
            </p:extLst>
          </p:nvPr>
        </p:nvGraphicFramePr>
        <p:xfrm>
          <a:off x="264900" y="1990175"/>
          <a:ext cx="7242600" cy="4513825"/>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800" i="1" dirty="0" smtClean="0">
                          <a:solidFill>
                            <a:schemeClr val="dk2"/>
                          </a:solidFill>
                          <a:latin typeface="Open Sans Light"/>
                          <a:ea typeface="Open Sans Light"/>
                          <a:cs typeface="Open Sans Light"/>
                          <a:sym typeface="Open Sans Light"/>
                        </a:rPr>
                        <a:t>high</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400" b="1" i="0" u="none" strike="noStrike" cap="none" baseline="0" dirty="0" smtClean="0">
                          <a:solidFill>
                            <a:srgbClr val="000000"/>
                          </a:solidFill>
                          <a:latin typeface="Arial"/>
                          <a:ea typeface="Arial"/>
                          <a:cs typeface="Arial"/>
                          <a:sym typeface="Arial"/>
                        </a:rPr>
                        <a:t>A7:2017-Cross-Site Scripting </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Vulnerability Explanation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033000">
                <a:tc gridSpan="2">
                  <a:txBody>
                    <a:bodyPr/>
                    <a:lstStyle/>
                    <a:p>
                      <a:pPr marL="0" lvl="0" indent="0" algn="l" rtl="0">
                        <a:spcBef>
                          <a:spcPts val="0"/>
                        </a:spcBef>
                        <a:spcAft>
                          <a:spcPts val="0"/>
                        </a:spcAft>
                        <a:buNone/>
                      </a:pPr>
                      <a:r>
                        <a:rPr lang="en-US" sz="1400" b="0" i="0" u="none" strike="noStrike" cap="none" baseline="0" dirty="0" smtClean="0">
                          <a:solidFill>
                            <a:srgbClr val="000000"/>
                          </a:solidFill>
                          <a:latin typeface="Arial"/>
                          <a:ea typeface="Arial"/>
                          <a:cs typeface="Arial"/>
                          <a:sym typeface="Arial"/>
                        </a:rPr>
                        <a:t>A vulnerability of performing client code injection and scripting </a:t>
                      </a:r>
                      <a:endParaRPr sz="1800" b="1" i="1" dirty="0">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4"/>
                  </a:ext>
                </a:extLst>
              </a:tr>
              <a:tr h="1486125">
                <a:tc gridSpan="2">
                  <a:txBody>
                    <a:bodyPr/>
                    <a:lstStyle/>
                    <a:p>
                      <a:pPr marL="0" lvl="0" indent="0" algn="l" rtl="0">
                        <a:spcBef>
                          <a:spcPts val="0"/>
                        </a:spcBef>
                        <a:spcAft>
                          <a:spcPts val="0"/>
                        </a:spcAft>
                        <a:buNone/>
                      </a:pPr>
                      <a:r>
                        <a:rPr lang="en-US" sz="1400" b="0" i="0" u="none" strike="noStrike" cap="none" baseline="0" dirty="0" smtClean="0">
                          <a:solidFill>
                            <a:srgbClr val="000000"/>
                          </a:solidFill>
                          <a:latin typeface="Arial"/>
                          <a:ea typeface="Arial"/>
                          <a:cs typeface="Arial"/>
                          <a:sym typeface="Arial"/>
                        </a:rPr>
                        <a:t>https://owasp.org/www-project-proactive-controls/v3/en/c5-validate-inputs </a:t>
                      </a:r>
                      <a:endParaRPr sz="18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bl>
          </a:graphicData>
        </a:graphic>
      </p:graphicFrame>
      <p:graphicFrame>
        <p:nvGraphicFramePr>
          <p:cNvPr id="196" name="Google Shape;196;p32"/>
          <p:cNvGraphicFramePr/>
          <p:nvPr/>
        </p:nvGraphicFramePr>
        <p:xfrm>
          <a:off x="264900" y="8428425"/>
          <a:ext cx="7242600" cy="73149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On the following slide(s) provide the steps to reproduce the vulnerability, using a combination of writing and annotated screenshots.</a:t>
                      </a:r>
                      <a:endParaRPr sz="180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3"/>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Cross-Site Scripting (XSS)</a:t>
            </a:r>
            <a:endParaRPr/>
          </a:p>
        </p:txBody>
      </p:sp>
      <p:graphicFrame>
        <p:nvGraphicFramePr>
          <p:cNvPr id="202" name="Google Shape;202;p33"/>
          <p:cNvGraphicFramePr/>
          <p:nvPr>
            <p:extLst>
              <p:ext uri="{D42A27DB-BD31-4B8C-83A1-F6EECF244321}">
                <p14:modId xmlns:p14="http://schemas.microsoft.com/office/powerpoint/2010/main" val="2184790423"/>
              </p:ext>
            </p:extLst>
          </p:nvPr>
        </p:nvGraphicFramePr>
        <p:xfrm>
          <a:off x="264900" y="1990175"/>
          <a:ext cx="7242600" cy="82293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endParaRPr lang="en-US" sz="1400" b="0" i="0" u="none" strike="noStrike" cap="none" baseline="0" dirty="0" smtClean="0">
                        <a:solidFill>
                          <a:srgbClr val="000000"/>
                        </a:solidFill>
                        <a:latin typeface="Arial"/>
                        <a:ea typeface="Arial"/>
                        <a:cs typeface="Arial"/>
                        <a:sym typeface="Arial"/>
                      </a:endParaRPr>
                    </a:p>
                    <a:p>
                      <a:r>
                        <a:rPr lang="en-US" sz="1400" b="0" i="0" u="none" strike="noStrike" cap="none" baseline="0" dirty="0" smtClean="0">
                          <a:solidFill>
                            <a:srgbClr val="000000"/>
                          </a:solidFill>
                          <a:latin typeface="Arial"/>
                          <a:ea typeface="Arial"/>
                          <a:cs typeface="Arial"/>
                          <a:sym typeface="Arial"/>
                        </a:rPr>
                        <a:t>1- Perform normal login </a:t>
                      </a:r>
                    </a:p>
                    <a:p>
                      <a:r>
                        <a:rPr lang="en-US" sz="1400" b="0" i="0" u="none" strike="noStrike" cap="none" baseline="0" dirty="0" smtClean="0">
                          <a:solidFill>
                            <a:srgbClr val="000000"/>
                          </a:solidFill>
                          <a:latin typeface="Arial"/>
                          <a:ea typeface="Arial"/>
                          <a:cs typeface="Arial"/>
                          <a:sym typeface="Arial"/>
                        </a:rPr>
                        <a:t>2- Navigate to profile and insert a script into messages box </a:t>
                      </a:r>
                      <a:endParaRPr lang="en-US" sz="1400" b="0" i="0" u="none" strike="noStrike" cap="none" baseline="0" dirty="0" smtClean="0">
                        <a:solidFill>
                          <a:srgbClr val="000000"/>
                        </a:solidFill>
                        <a:latin typeface="Arial"/>
                        <a:ea typeface="Arial"/>
                        <a:cs typeface="Arial"/>
                        <a:sym typeface="Aria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 name="Picture 1"/>
          <p:cNvPicPr>
            <a:picLocks noChangeAspect="1"/>
          </p:cNvPicPr>
          <p:nvPr/>
        </p:nvPicPr>
        <p:blipFill>
          <a:blip r:embed="rId3"/>
          <a:stretch>
            <a:fillRect/>
          </a:stretch>
        </p:blipFill>
        <p:spPr>
          <a:xfrm>
            <a:off x="264900" y="3657600"/>
            <a:ext cx="7109138" cy="1524000"/>
          </a:xfrm>
          <a:prstGeom prst="rect">
            <a:avLst/>
          </a:prstGeom>
        </p:spPr>
      </p:pic>
      <p:pic>
        <p:nvPicPr>
          <p:cNvPr id="3" name="Picture 2"/>
          <p:cNvPicPr>
            <a:picLocks noChangeAspect="1"/>
          </p:cNvPicPr>
          <p:nvPr/>
        </p:nvPicPr>
        <p:blipFill>
          <a:blip r:embed="rId4"/>
          <a:stretch>
            <a:fillRect/>
          </a:stretch>
        </p:blipFill>
        <p:spPr>
          <a:xfrm>
            <a:off x="-69610" y="5406616"/>
            <a:ext cx="7778157" cy="1557503"/>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4"/>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Broken Access</a:t>
            </a:r>
            <a:endParaRPr/>
          </a:p>
        </p:txBody>
      </p:sp>
      <p:graphicFrame>
        <p:nvGraphicFramePr>
          <p:cNvPr id="208" name="Google Shape;208;p34"/>
          <p:cNvGraphicFramePr/>
          <p:nvPr>
            <p:extLst>
              <p:ext uri="{D42A27DB-BD31-4B8C-83A1-F6EECF244321}">
                <p14:modId xmlns:p14="http://schemas.microsoft.com/office/powerpoint/2010/main" val="3663777218"/>
              </p:ext>
            </p:extLst>
          </p:nvPr>
        </p:nvGraphicFramePr>
        <p:xfrm>
          <a:off x="264900" y="1990175"/>
          <a:ext cx="7242600" cy="4644695"/>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800" i="1" dirty="0" smtClean="0">
                          <a:solidFill>
                            <a:schemeClr val="dk2"/>
                          </a:solidFill>
                          <a:latin typeface="Open Sans Light"/>
                          <a:ea typeface="Open Sans Light"/>
                          <a:cs typeface="Open Sans Light"/>
                          <a:sym typeface="Open Sans Light"/>
                        </a:rPr>
                        <a:t>high</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400" b="1" i="0" u="none" strike="noStrike" cap="none" baseline="0" dirty="0" smtClean="0">
                          <a:solidFill>
                            <a:srgbClr val="000000"/>
                          </a:solidFill>
                          <a:latin typeface="Arial"/>
                          <a:ea typeface="Arial"/>
                          <a:cs typeface="Arial"/>
                          <a:sym typeface="Arial"/>
                        </a:rPr>
                        <a:t>A5:2017-Broken Access Control </a:t>
                      </a:r>
                      <a:br>
                        <a:rPr lang="en-US" sz="1400" b="1" i="0" u="none" strike="noStrike" cap="none" baseline="0" dirty="0" smtClean="0">
                          <a:solidFill>
                            <a:srgbClr val="000000"/>
                          </a:solidFill>
                          <a:latin typeface="Arial"/>
                          <a:ea typeface="Arial"/>
                          <a:cs typeface="Arial"/>
                          <a:sym typeface="Arial"/>
                        </a:rPr>
                      </a:br>
                      <a:r>
                        <a:rPr lang="en-US" sz="1400" b="1" i="0" u="none" strike="noStrike" cap="none" baseline="0" dirty="0" smtClean="0">
                          <a:solidFill>
                            <a:srgbClr val="000000"/>
                          </a:solidFill>
                          <a:latin typeface="Arial"/>
                          <a:ea typeface="Arial"/>
                          <a:cs typeface="Arial"/>
                          <a:sym typeface="Arial"/>
                        </a:rPr>
                        <a:t>System: VWA Web Application </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Vulnerability Explanation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033000">
                <a:tc gridSpan="2">
                  <a:txBody>
                    <a:bodyPr/>
                    <a:lstStyle/>
                    <a:p>
                      <a:pPr marL="0" lvl="0" indent="0" algn="l" rtl="0">
                        <a:spcBef>
                          <a:spcPts val="0"/>
                        </a:spcBef>
                        <a:spcAft>
                          <a:spcPts val="0"/>
                        </a:spcAft>
                        <a:buNone/>
                      </a:pPr>
                      <a:r>
                        <a:rPr lang="en-US" sz="1400" b="0" i="0" u="none" strike="noStrike" cap="none" baseline="0" dirty="0" smtClean="0">
                          <a:solidFill>
                            <a:srgbClr val="000000"/>
                          </a:solidFill>
                          <a:latin typeface="Arial"/>
                          <a:ea typeface="Arial"/>
                          <a:cs typeface="Arial"/>
                          <a:sym typeface="Arial"/>
                        </a:rPr>
                        <a:t>The Cookies can be manipulated to elevate access rights </a:t>
                      </a:r>
                      <a:endParaRPr sz="1800" b="1" i="1" dirty="0">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r h="518650">
                <a:tc gridSpan="2">
                  <a:txBody>
                    <a:bodyPr/>
                    <a:lstStyle/>
                    <a:p>
                      <a:pPr marL="0" lvl="0" indent="0" algn="l" rtl="0">
                        <a:spcBef>
                          <a:spcPts val="0"/>
                        </a:spcBef>
                        <a:spcAft>
                          <a:spcPts val="0"/>
                        </a:spcAft>
                        <a:buNone/>
                      </a:pPr>
                      <a:r>
                        <a:rPr lang="en" sz="1800" b="1" i="1" dirty="0">
                          <a:solidFill>
                            <a:schemeClr val="dk2"/>
                          </a:solidFill>
                          <a:latin typeface="Open Sans"/>
                          <a:ea typeface="Open Sans"/>
                          <a:cs typeface="Open Sans"/>
                          <a:sym typeface="Open Sans"/>
                        </a:rPr>
                        <a:t>Remediation recommendation</a:t>
                      </a:r>
                      <a:endParaRPr sz="1800" b="1" i="1" dirty="0">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4"/>
                  </a:ext>
                </a:extLst>
              </a:tr>
              <a:tr h="1486125">
                <a:tc gridSpan="2">
                  <a:txBody>
                    <a:bodyPr/>
                    <a:lstStyle/>
                    <a:p>
                      <a:pPr marL="0" lvl="0" indent="0" algn="l" rtl="0">
                        <a:spcBef>
                          <a:spcPts val="0"/>
                        </a:spcBef>
                        <a:spcAft>
                          <a:spcPts val="0"/>
                        </a:spcAft>
                        <a:buNone/>
                      </a:pPr>
                      <a:r>
                        <a:rPr lang="en-US" sz="1400" b="0" i="0" u="none" strike="noStrike" cap="none" baseline="0" dirty="0" smtClean="0">
                          <a:solidFill>
                            <a:srgbClr val="000000"/>
                          </a:solidFill>
                          <a:latin typeface="Arial"/>
                          <a:ea typeface="Arial"/>
                          <a:cs typeface="Arial"/>
                          <a:sym typeface="Arial"/>
                        </a:rPr>
                        <a:t>https://owasp.org/www-project-web-security-testing-guide/latest/4-Web_Application_Security_Testing/05-Authorization_Testing/README </a:t>
                      </a:r>
                      <a:endParaRPr sz="18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bl>
          </a:graphicData>
        </a:graphic>
      </p:graphicFrame>
      <p:graphicFrame>
        <p:nvGraphicFramePr>
          <p:cNvPr id="209" name="Google Shape;209;p34"/>
          <p:cNvGraphicFramePr/>
          <p:nvPr/>
        </p:nvGraphicFramePr>
        <p:xfrm>
          <a:off x="264900" y="8428425"/>
          <a:ext cx="7242600" cy="73149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On the following slide(s) provide the steps to reproduce the vulnerability, using a combination of writing and annotated screenshots.</a:t>
                      </a:r>
                      <a:endParaRPr sz="180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Broken Access</a:t>
            </a:r>
            <a:endParaRPr/>
          </a:p>
        </p:txBody>
      </p:sp>
      <p:graphicFrame>
        <p:nvGraphicFramePr>
          <p:cNvPr id="215" name="Google Shape;215;p35"/>
          <p:cNvGraphicFramePr/>
          <p:nvPr>
            <p:extLst>
              <p:ext uri="{D42A27DB-BD31-4B8C-83A1-F6EECF244321}">
                <p14:modId xmlns:p14="http://schemas.microsoft.com/office/powerpoint/2010/main" val="3723189276"/>
              </p:ext>
            </p:extLst>
          </p:nvPr>
        </p:nvGraphicFramePr>
        <p:xfrm>
          <a:off x="264945" y="1612432"/>
          <a:ext cx="7242600" cy="231645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endParaRPr lang="en-US" sz="1400" b="0" i="0" u="none" strike="noStrike" cap="none" baseline="0" dirty="0" smtClean="0">
                        <a:solidFill>
                          <a:srgbClr val="000000"/>
                        </a:solidFill>
                        <a:latin typeface="Arial"/>
                        <a:ea typeface="Arial"/>
                        <a:cs typeface="Arial"/>
                        <a:sym typeface="Arial"/>
                      </a:endParaRPr>
                    </a:p>
                    <a:p>
                      <a:r>
                        <a:rPr lang="en-US" sz="1400" b="0" i="0" u="none" strike="noStrike" cap="none" baseline="0" dirty="0" smtClean="0">
                          <a:solidFill>
                            <a:srgbClr val="000000"/>
                          </a:solidFill>
                          <a:latin typeface="Arial"/>
                          <a:ea typeface="Arial"/>
                          <a:cs typeface="Arial"/>
                          <a:sym typeface="Arial"/>
                        </a:rPr>
                        <a:t>1- Perform normal login </a:t>
                      </a:r>
                    </a:p>
                    <a:p>
                      <a:r>
                        <a:rPr lang="en-US" sz="1400" b="0" i="0" u="none" strike="noStrike" cap="none" baseline="0" dirty="0" smtClean="0">
                          <a:solidFill>
                            <a:srgbClr val="000000"/>
                          </a:solidFill>
                          <a:latin typeface="Arial"/>
                          <a:ea typeface="Arial"/>
                          <a:cs typeface="Arial"/>
                          <a:sym typeface="Arial"/>
                        </a:rPr>
                        <a:t>2- Open developer tools via ‘f12’ and go to cookies tap </a:t>
                      </a:r>
                    </a:p>
                    <a:p>
                      <a:r>
                        <a:rPr lang="en-US" sz="1400" b="0" i="0" u="none" strike="noStrike" cap="none" baseline="0" dirty="0" smtClean="0">
                          <a:solidFill>
                            <a:srgbClr val="000000"/>
                          </a:solidFill>
                          <a:latin typeface="Arial"/>
                          <a:ea typeface="Arial"/>
                          <a:cs typeface="Arial"/>
                          <a:sym typeface="Arial"/>
                        </a:rPr>
                        <a:t>3- Perform base64 decoding of the cookie value which returns the user </a:t>
                      </a:r>
                    </a:p>
                    <a:p>
                      <a:r>
                        <a:rPr lang="en-US" sz="1400" b="0" i="0" u="none" strike="noStrike" cap="none" baseline="0" dirty="0" smtClean="0">
                          <a:solidFill>
                            <a:srgbClr val="000000"/>
                          </a:solidFill>
                          <a:latin typeface="Arial"/>
                          <a:ea typeface="Arial"/>
                          <a:cs typeface="Arial"/>
                          <a:sym typeface="Arial"/>
                        </a:rPr>
                        <a:t>4- Encode ‘1:admin’ via base64 to get the value to be replaced </a:t>
                      </a:r>
                    </a:p>
                    <a:p>
                      <a:endParaRPr lang="en-US" sz="1400" b="0" i="0" u="none" strike="noStrike" cap="none" baseline="0" dirty="0" smtClean="0">
                        <a:solidFill>
                          <a:srgbClr val="000000"/>
                        </a:solidFill>
                        <a:latin typeface="Arial"/>
                        <a:ea typeface="Arial"/>
                        <a:cs typeface="Arial"/>
                        <a:sym typeface="Arial"/>
                      </a:endParaRPr>
                    </a:p>
                    <a:p>
                      <a:r>
                        <a:rPr lang="en-US" sz="1400" b="0" i="0" u="none" strike="noStrike" cap="none" baseline="0" dirty="0" smtClean="0">
                          <a:solidFill>
                            <a:srgbClr val="000000"/>
                          </a:solidFill>
                          <a:latin typeface="Arial"/>
                          <a:ea typeface="Arial"/>
                          <a:cs typeface="Arial"/>
                          <a:sym typeface="Arial"/>
                        </a:rPr>
                        <a:t>5- Place the result in cookie value to gain unauthorized access to ‘users list’ and ‘customers list’ </a:t>
                      </a:r>
                    </a:p>
                    <a:p>
                      <a:endParaRPr lang="en-US" sz="1400" b="0" i="0" u="none" strike="noStrike" cap="none" baseline="0" dirty="0" smtClean="0">
                        <a:solidFill>
                          <a:srgbClr val="000000"/>
                        </a:solidFill>
                        <a:latin typeface="Arial"/>
                        <a:ea typeface="Arial"/>
                        <a:cs typeface="Arial"/>
                        <a:sym typeface="Arial"/>
                      </a:endParaRPr>
                    </a:p>
                    <a:p>
                      <a:endParaRPr lang="en-US" sz="1400" b="0" i="0" u="none" strike="noStrike" cap="none" baseline="0" dirty="0" smtClean="0">
                        <a:solidFill>
                          <a:srgbClr val="000000"/>
                        </a:solidFill>
                        <a:latin typeface="Arial"/>
                        <a:ea typeface="Arial"/>
                        <a:cs typeface="Arial"/>
                        <a:sym typeface="Aria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 name="Picture 1"/>
          <p:cNvPicPr>
            <a:picLocks noChangeAspect="1"/>
          </p:cNvPicPr>
          <p:nvPr/>
        </p:nvPicPr>
        <p:blipFill>
          <a:blip r:embed="rId3"/>
          <a:stretch>
            <a:fillRect/>
          </a:stretch>
        </p:blipFill>
        <p:spPr>
          <a:xfrm>
            <a:off x="559640" y="3644037"/>
            <a:ext cx="6395342" cy="3050361"/>
          </a:xfrm>
          <a:prstGeom prst="rect">
            <a:avLst/>
          </a:prstGeom>
        </p:spPr>
      </p:pic>
      <p:pic>
        <p:nvPicPr>
          <p:cNvPr id="3" name="Picture 2"/>
          <p:cNvPicPr>
            <a:picLocks noChangeAspect="1"/>
          </p:cNvPicPr>
          <p:nvPr/>
        </p:nvPicPr>
        <p:blipFill>
          <a:blip r:embed="rId4"/>
          <a:stretch>
            <a:fillRect/>
          </a:stretch>
        </p:blipFill>
        <p:spPr>
          <a:xfrm>
            <a:off x="559640" y="6884782"/>
            <a:ext cx="7048890" cy="317361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5"/>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Broken Access</a:t>
            </a:r>
            <a:endParaRPr/>
          </a:p>
        </p:txBody>
      </p:sp>
      <p:pic>
        <p:nvPicPr>
          <p:cNvPr id="4" name="Picture 3"/>
          <p:cNvPicPr>
            <a:picLocks noChangeAspect="1"/>
          </p:cNvPicPr>
          <p:nvPr/>
        </p:nvPicPr>
        <p:blipFill>
          <a:blip r:embed="rId3"/>
          <a:stretch>
            <a:fillRect/>
          </a:stretch>
        </p:blipFill>
        <p:spPr>
          <a:xfrm>
            <a:off x="0" y="3318743"/>
            <a:ext cx="6739066" cy="2817936"/>
          </a:xfrm>
          <a:prstGeom prst="rect">
            <a:avLst/>
          </a:prstGeom>
        </p:spPr>
      </p:pic>
    </p:spTree>
    <p:extLst>
      <p:ext uri="{BB962C8B-B14F-4D97-AF65-F5344CB8AC3E}">
        <p14:creationId xmlns:p14="http://schemas.microsoft.com/office/powerpoint/2010/main" val="32015859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6"/>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Sensitive Data Exposure</a:t>
            </a:r>
            <a:endParaRPr/>
          </a:p>
        </p:txBody>
      </p:sp>
      <p:graphicFrame>
        <p:nvGraphicFramePr>
          <p:cNvPr id="221" name="Google Shape;221;p36"/>
          <p:cNvGraphicFramePr/>
          <p:nvPr>
            <p:extLst>
              <p:ext uri="{D42A27DB-BD31-4B8C-83A1-F6EECF244321}">
                <p14:modId xmlns:p14="http://schemas.microsoft.com/office/powerpoint/2010/main" val="1486256793"/>
              </p:ext>
            </p:extLst>
          </p:nvPr>
        </p:nvGraphicFramePr>
        <p:xfrm>
          <a:off x="264900" y="1990175"/>
          <a:ext cx="7242600" cy="4644695"/>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800" i="1" dirty="0" smtClean="0">
                          <a:solidFill>
                            <a:schemeClr val="dk2"/>
                          </a:solidFill>
                          <a:latin typeface="Open Sans Light"/>
                          <a:ea typeface="Open Sans Light"/>
                          <a:cs typeface="Open Sans Light"/>
                          <a:sym typeface="Open Sans Light"/>
                        </a:rPr>
                        <a:t>High</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400" b="1" i="0" u="none" strike="noStrike" cap="none" baseline="0" dirty="0" smtClean="0">
                          <a:solidFill>
                            <a:srgbClr val="000000"/>
                          </a:solidFill>
                          <a:latin typeface="Arial"/>
                          <a:ea typeface="Arial"/>
                          <a:cs typeface="Arial"/>
                          <a:sym typeface="Arial"/>
                        </a:rPr>
                        <a:t>A3:2017-Sensitive Data Exposure </a:t>
                      </a:r>
                    </a:p>
                    <a:p>
                      <a:pPr marL="0" lvl="0" indent="0" algn="l" rtl="0">
                        <a:spcBef>
                          <a:spcPts val="0"/>
                        </a:spcBef>
                        <a:spcAft>
                          <a:spcPts val="0"/>
                        </a:spcAft>
                        <a:buNone/>
                      </a:pPr>
                      <a:r>
                        <a:rPr lang="en-US" sz="1400" b="1" i="0" u="none" strike="noStrike" cap="none" baseline="0" dirty="0" smtClean="0">
                          <a:solidFill>
                            <a:srgbClr val="000000"/>
                          </a:solidFill>
                          <a:latin typeface="Arial"/>
                          <a:ea typeface="Arial"/>
                          <a:cs typeface="Arial"/>
                          <a:sym typeface="Arial"/>
                        </a:rPr>
                        <a:t>System: VWA Web Application </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Vulnerability Explanation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033000">
                <a:tc gridSpan="2">
                  <a:txBody>
                    <a:bodyPr/>
                    <a:lstStyle/>
                    <a:p>
                      <a:pPr marL="0" lvl="0" indent="0" algn="l" rtl="0">
                        <a:spcBef>
                          <a:spcPts val="0"/>
                        </a:spcBef>
                        <a:spcAft>
                          <a:spcPts val="0"/>
                        </a:spcAft>
                        <a:buNone/>
                      </a:pPr>
                      <a:r>
                        <a:rPr lang="en-US" sz="1400" b="0" i="0" u="none" strike="noStrike" cap="none" baseline="0" dirty="0" smtClean="0">
                          <a:solidFill>
                            <a:srgbClr val="000000"/>
                          </a:solidFill>
                          <a:latin typeface="Arial"/>
                          <a:ea typeface="Arial"/>
                          <a:cs typeface="Arial"/>
                          <a:sym typeface="Arial"/>
                        </a:rPr>
                        <a:t>Using an MD5 hash to hash what look like password or something valuable </a:t>
                      </a:r>
                      <a:endParaRPr sz="1800" b="1" i="1" dirty="0">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4"/>
                  </a:ext>
                </a:extLst>
              </a:tr>
              <a:tr h="1486125">
                <a:tc gridSpan="2">
                  <a:txBody>
                    <a:bodyPr/>
                    <a:lstStyle/>
                    <a:p>
                      <a:r>
                        <a:rPr lang="en-US" sz="1400" b="0" i="0" u="none" strike="noStrike" cap="none" baseline="0" dirty="0" smtClean="0">
                          <a:solidFill>
                            <a:srgbClr val="000000"/>
                          </a:solidFill>
                          <a:latin typeface="Arial"/>
                          <a:ea typeface="Arial"/>
                          <a:cs typeface="Arial"/>
                          <a:sym typeface="Arial"/>
                        </a:rPr>
                        <a:t>https://cheatsheetseries.owasp.org/cheatsheets/Password_Storage_Cheat_Sheet.html </a:t>
                      </a:r>
                      <a:endParaRPr sz="18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bl>
          </a:graphicData>
        </a:graphic>
      </p:graphicFrame>
      <p:graphicFrame>
        <p:nvGraphicFramePr>
          <p:cNvPr id="222" name="Google Shape;222;p36"/>
          <p:cNvGraphicFramePr/>
          <p:nvPr/>
        </p:nvGraphicFramePr>
        <p:xfrm>
          <a:off x="264900" y="8428425"/>
          <a:ext cx="7242600" cy="73149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On the following slide(s) provide the steps to reproduce the vulnerability, using a combination of writing and annotated screenshots.</a:t>
                      </a:r>
                      <a:endParaRPr sz="180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Sensitive Data Exposure</a:t>
            </a:r>
            <a:endParaRPr/>
          </a:p>
        </p:txBody>
      </p:sp>
      <p:graphicFrame>
        <p:nvGraphicFramePr>
          <p:cNvPr id="228" name="Google Shape;228;p37"/>
          <p:cNvGraphicFramePr/>
          <p:nvPr>
            <p:extLst>
              <p:ext uri="{D42A27DB-BD31-4B8C-83A1-F6EECF244321}">
                <p14:modId xmlns:p14="http://schemas.microsoft.com/office/powerpoint/2010/main" val="1597718906"/>
              </p:ext>
            </p:extLst>
          </p:nvPr>
        </p:nvGraphicFramePr>
        <p:xfrm>
          <a:off x="264900" y="1990175"/>
          <a:ext cx="7242600" cy="274317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endParaRPr lang="en-US" sz="1400" b="0" i="0" u="none" strike="noStrike" cap="none" baseline="0" dirty="0" smtClean="0">
                        <a:solidFill>
                          <a:srgbClr val="000000"/>
                        </a:solidFill>
                        <a:latin typeface="Arial"/>
                        <a:ea typeface="Arial"/>
                        <a:cs typeface="Arial"/>
                        <a:sym typeface="Arial"/>
                      </a:endParaRPr>
                    </a:p>
                    <a:p>
                      <a:r>
                        <a:rPr lang="en-US" sz="1400" b="0" i="0" u="none" strike="noStrike" cap="none" baseline="0" dirty="0" smtClean="0">
                          <a:solidFill>
                            <a:srgbClr val="000000"/>
                          </a:solidFill>
                          <a:latin typeface="Arial"/>
                          <a:ea typeface="Arial"/>
                          <a:cs typeface="Arial"/>
                          <a:sym typeface="Arial"/>
                        </a:rPr>
                        <a:t>1- Normal login </a:t>
                      </a:r>
                    </a:p>
                    <a:p>
                      <a:r>
                        <a:rPr lang="en-US" sz="1400" b="0" i="0" u="none" strike="noStrike" cap="none" baseline="0" dirty="0" smtClean="0">
                          <a:solidFill>
                            <a:srgbClr val="000000"/>
                          </a:solidFill>
                          <a:latin typeface="Arial"/>
                          <a:ea typeface="Arial"/>
                          <a:cs typeface="Arial"/>
                          <a:sym typeface="Arial"/>
                        </a:rPr>
                        <a:t>2- Escalate privileges to admin which is mentioned in this report </a:t>
                      </a:r>
                    </a:p>
                    <a:p>
                      <a:r>
                        <a:rPr lang="en-US" sz="1400" b="0" i="0" u="none" strike="noStrike" cap="none" baseline="0" dirty="0" smtClean="0">
                          <a:solidFill>
                            <a:srgbClr val="000000"/>
                          </a:solidFill>
                          <a:latin typeface="Arial"/>
                          <a:ea typeface="Arial"/>
                          <a:cs typeface="Arial"/>
                          <a:sym typeface="Arial"/>
                        </a:rPr>
                        <a:t>3- Navigate to customer </a:t>
                      </a:r>
                    </a:p>
                    <a:p>
                      <a:r>
                        <a:rPr lang="en-US" sz="1400" b="0" i="0" u="none" strike="noStrike" cap="none" baseline="0" dirty="0" smtClean="0">
                          <a:solidFill>
                            <a:srgbClr val="000000"/>
                          </a:solidFill>
                          <a:latin typeface="Arial"/>
                          <a:ea typeface="Arial"/>
                          <a:cs typeface="Arial"/>
                          <a:sym typeface="Arial"/>
                        </a:rPr>
                        <a:t>4- Open developer tools </a:t>
                      </a:r>
                    </a:p>
                    <a:p>
                      <a:r>
                        <a:rPr lang="en-US" sz="1400" b="0" i="0" u="none" strike="noStrike" cap="none" baseline="0" dirty="0" smtClean="0">
                          <a:solidFill>
                            <a:srgbClr val="000000"/>
                          </a:solidFill>
                          <a:latin typeface="Arial"/>
                          <a:ea typeface="Arial"/>
                          <a:cs typeface="Arial"/>
                          <a:sym typeface="Arial"/>
                        </a:rPr>
                        <a:t>5- Use debugging tool and got to the scripts in the bottom and add break point </a:t>
                      </a:r>
                    </a:p>
                    <a:p>
                      <a:r>
                        <a:rPr lang="en-US" sz="1400" b="0" i="0" u="none" strike="noStrike" cap="none" baseline="0" dirty="0" smtClean="0">
                          <a:solidFill>
                            <a:srgbClr val="000000"/>
                          </a:solidFill>
                          <a:latin typeface="Arial"/>
                          <a:ea typeface="Arial"/>
                          <a:cs typeface="Arial"/>
                          <a:sym typeface="Arial"/>
                        </a:rPr>
                        <a:t>6- View a customer data </a:t>
                      </a:r>
                    </a:p>
                    <a:p>
                      <a:r>
                        <a:rPr lang="en-US" sz="1400" b="0" i="0" u="none" strike="noStrike" cap="none" baseline="0" dirty="0" smtClean="0">
                          <a:solidFill>
                            <a:srgbClr val="000000"/>
                          </a:solidFill>
                          <a:latin typeface="Arial"/>
                          <a:ea typeface="Arial"/>
                          <a:cs typeface="Arial"/>
                          <a:sym typeface="Arial"/>
                        </a:rPr>
                        <a:t>7- Use the jump button to jump one step until reaching the data </a:t>
                      </a:r>
                    </a:p>
                    <a:p>
                      <a:r>
                        <a:rPr lang="en-US" sz="1400" b="0" i="0" u="none" strike="noStrike" cap="none" baseline="0" dirty="0" smtClean="0">
                          <a:solidFill>
                            <a:srgbClr val="000000"/>
                          </a:solidFill>
                          <a:latin typeface="Arial"/>
                          <a:ea typeface="Arial"/>
                          <a:cs typeface="Arial"/>
                          <a:sym typeface="Arial"/>
                        </a:rPr>
                        <a:t>8- Take the ‘5th’ element which look like a hashed data and copy it </a:t>
                      </a:r>
                    </a:p>
                    <a:p>
                      <a:r>
                        <a:rPr lang="en-US" sz="1400" b="0" i="0" u="none" strike="noStrike" cap="none" baseline="0" dirty="0" smtClean="0">
                          <a:solidFill>
                            <a:srgbClr val="000000"/>
                          </a:solidFill>
                          <a:latin typeface="Arial"/>
                          <a:ea typeface="Arial"/>
                          <a:cs typeface="Arial"/>
                          <a:sym typeface="Arial"/>
                        </a:rPr>
                        <a:t>9- Use the tool </a:t>
                      </a:r>
                      <a:r>
                        <a:rPr lang="en-US" sz="1400" b="0" i="0" u="none" strike="noStrike" cap="none" baseline="0" dirty="0" err="1" smtClean="0">
                          <a:solidFill>
                            <a:srgbClr val="000000"/>
                          </a:solidFill>
                          <a:latin typeface="Arial"/>
                          <a:ea typeface="Arial"/>
                          <a:cs typeface="Arial"/>
                          <a:sym typeface="Arial"/>
                        </a:rPr>
                        <a:t>hashid</a:t>
                      </a:r>
                      <a:r>
                        <a:rPr lang="en-US" sz="1400" b="0" i="0" u="none" strike="noStrike" cap="none" baseline="0" dirty="0" smtClean="0">
                          <a:solidFill>
                            <a:srgbClr val="000000"/>
                          </a:solidFill>
                          <a:latin typeface="Arial"/>
                          <a:ea typeface="Arial"/>
                          <a:cs typeface="Arial"/>
                          <a:sym typeface="Arial"/>
                        </a:rPr>
                        <a:t> to know which hash type is it. </a:t>
                      </a:r>
                    </a:p>
                    <a:p>
                      <a:r>
                        <a:rPr lang="en-US" sz="1400" b="0" i="0" u="none" strike="noStrike" cap="none" baseline="0" dirty="0" smtClean="0">
                          <a:solidFill>
                            <a:srgbClr val="000000"/>
                          </a:solidFill>
                          <a:latin typeface="Arial"/>
                          <a:ea typeface="Arial"/>
                          <a:cs typeface="Arial"/>
                          <a:sym typeface="Arial"/>
                        </a:rPr>
                        <a:t>10- Use the check hash to crack the hash </a:t>
                      </a:r>
                    </a:p>
                    <a:p>
                      <a:endParaRPr lang="en-US" sz="1400" b="0" i="0" u="none" strike="noStrike" cap="none" baseline="0" dirty="0" smtClean="0">
                        <a:solidFill>
                          <a:srgbClr val="000000"/>
                        </a:solidFill>
                        <a:latin typeface="Arial"/>
                        <a:ea typeface="Arial"/>
                        <a:cs typeface="Arial"/>
                        <a:sym typeface="Aria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 name="Picture 1"/>
          <p:cNvPicPr>
            <a:picLocks noChangeAspect="1"/>
          </p:cNvPicPr>
          <p:nvPr/>
        </p:nvPicPr>
        <p:blipFill>
          <a:blip r:embed="rId3"/>
          <a:stretch>
            <a:fillRect/>
          </a:stretch>
        </p:blipFill>
        <p:spPr>
          <a:xfrm>
            <a:off x="1224371" y="4940350"/>
            <a:ext cx="5536647" cy="2602915"/>
          </a:xfrm>
          <a:prstGeom prst="rect">
            <a:avLst/>
          </a:prstGeom>
        </p:spPr>
      </p:pic>
      <p:pic>
        <p:nvPicPr>
          <p:cNvPr id="3" name="Picture 2"/>
          <p:cNvPicPr>
            <a:picLocks noChangeAspect="1"/>
          </p:cNvPicPr>
          <p:nvPr/>
        </p:nvPicPr>
        <p:blipFill>
          <a:blip r:embed="rId4"/>
          <a:stretch>
            <a:fillRect/>
          </a:stretch>
        </p:blipFill>
        <p:spPr>
          <a:xfrm>
            <a:off x="811222" y="7750270"/>
            <a:ext cx="6149955" cy="2413417"/>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8"/>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SQLi</a:t>
            </a:r>
            <a:endParaRPr/>
          </a:p>
        </p:txBody>
      </p:sp>
      <p:graphicFrame>
        <p:nvGraphicFramePr>
          <p:cNvPr id="234" name="Google Shape;234;p38"/>
          <p:cNvGraphicFramePr/>
          <p:nvPr>
            <p:extLst>
              <p:ext uri="{D42A27DB-BD31-4B8C-83A1-F6EECF244321}">
                <p14:modId xmlns:p14="http://schemas.microsoft.com/office/powerpoint/2010/main" val="2923936218"/>
              </p:ext>
            </p:extLst>
          </p:nvPr>
        </p:nvGraphicFramePr>
        <p:xfrm>
          <a:off x="264900" y="1990175"/>
          <a:ext cx="7242600" cy="5409985"/>
        </p:xfrm>
        <a:graphic>
          <a:graphicData uri="http://schemas.openxmlformats.org/drawingml/2006/table">
            <a:tbl>
              <a:tblPr>
                <a:noFill/>
                <a:tableStyleId>{F38BC5F6-6159-4CF2-BBDA-C664A75A62ED}</a:tableStyleId>
              </a:tblPr>
              <a:tblGrid>
                <a:gridCol w="3468850">
                  <a:extLst>
                    <a:ext uri="{9D8B030D-6E8A-4147-A177-3AD203B41FA5}">
                      <a16:colId xmlns:a16="http://schemas.microsoft.com/office/drawing/2014/main" val="20000"/>
                    </a:ext>
                  </a:extLst>
                </a:gridCol>
                <a:gridCol w="3773750">
                  <a:extLst>
                    <a:ext uri="{9D8B030D-6E8A-4147-A177-3AD203B41FA5}">
                      <a16:colId xmlns:a16="http://schemas.microsoft.com/office/drawing/2014/main" val="20001"/>
                    </a:ext>
                  </a:extLst>
                </a:gridCol>
              </a:tblGrid>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Severity:</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 sz="1800" i="1" dirty="0" smtClean="0">
                          <a:solidFill>
                            <a:schemeClr val="dk2"/>
                          </a:solidFill>
                          <a:latin typeface="Open Sans Light"/>
                          <a:ea typeface="Open Sans Light"/>
                          <a:cs typeface="Open Sans Light"/>
                          <a:sym typeface="Open Sans Light"/>
                        </a:rPr>
                        <a:t>HIGH</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0"/>
                  </a:ext>
                </a:extLst>
              </a:tr>
              <a:tr h="478700">
                <a:tc>
                  <a:txBody>
                    <a:bodyPr/>
                    <a:lstStyle/>
                    <a:p>
                      <a:pPr marL="0" lvl="0" indent="0" algn="ctr" rtl="0">
                        <a:spcBef>
                          <a:spcPts val="0"/>
                        </a:spcBef>
                        <a:spcAft>
                          <a:spcPts val="0"/>
                        </a:spcAft>
                        <a:buNone/>
                      </a:pPr>
                      <a:r>
                        <a:rPr lang="en" sz="1800" b="1" i="1">
                          <a:solidFill>
                            <a:schemeClr val="dk2"/>
                          </a:solidFill>
                          <a:latin typeface="Open Sans"/>
                          <a:ea typeface="Open Sans"/>
                          <a:cs typeface="Open Sans"/>
                          <a:sym typeface="Open Sans"/>
                        </a:rPr>
                        <a:t>OWASP TOP 10 reference:</a:t>
                      </a:r>
                      <a:endParaRPr sz="1800" b="1" i="1">
                        <a:solidFill>
                          <a:schemeClr val="dk2"/>
                        </a:solidFill>
                        <a:latin typeface="Open Sans"/>
                        <a:ea typeface="Open Sans"/>
                        <a:cs typeface="Open Sans"/>
                        <a:sym typeface="Open Sans"/>
                      </a:endParaRPr>
                    </a:p>
                  </a:txBody>
                  <a:tcPr marL="91425" marR="91425" marT="91425" marB="91425"/>
                </a:tc>
                <a:tc>
                  <a:txBody>
                    <a:bodyPr/>
                    <a:lstStyle/>
                    <a:p>
                      <a:pPr marL="0" lvl="0" indent="0" algn="l" rtl="0">
                        <a:spcBef>
                          <a:spcPts val="0"/>
                        </a:spcBef>
                        <a:spcAft>
                          <a:spcPts val="0"/>
                        </a:spcAft>
                        <a:buNone/>
                      </a:pPr>
                      <a:r>
                        <a:rPr lang="en-US" sz="1800" b="1" dirty="0" smtClean="0"/>
                        <a:t>A03:2021 – Injection</a:t>
                      </a:r>
                      <a:r>
                        <a:rPr lang="en-US" sz="1800" dirty="0" smtClean="0"/>
                        <a:t> (or A1:2017 – Injection)</a:t>
                      </a:r>
                      <a:br>
                        <a:rPr lang="en-US" sz="1800" dirty="0" smtClean="0"/>
                      </a:br>
                      <a:r>
                        <a:rPr lang="en-US" sz="1400" b="1" i="0" u="none" strike="noStrike" cap="none" baseline="0" dirty="0" smtClean="0">
                          <a:solidFill>
                            <a:srgbClr val="000000"/>
                          </a:solidFill>
                          <a:latin typeface="Arial"/>
                          <a:ea typeface="Arial"/>
                          <a:cs typeface="Arial"/>
                          <a:sym typeface="Arial"/>
                        </a:rPr>
                        <a:t>System: VWA Web Application </a:t>
                      </a:r>
                      <a:endParaRPr sz="1800" i="1" dirty="0">
                        <a:solidFill>
                          <a:schemeClr val="dk2"/>
                        </a:solidFill>
                        <a:latin typeface="Open Sans Light"/>
                        <a:ea typeface="Open Sans Light"/>
                        <a:cs typeface="Open Sans Light"/>
                        <a:sym typeface="Open Sans Light"/>
                      </a:endParaRPr>
                    </a:p>
                  </a:txBody>
                  <a:tcPr marL="91425" marR="91425" marT="91425" marB="91425"/>
                </a:tc>
                <a:extLst>
                  <a:ext uri="{0D108BD9-81ED-4DB2-BD59-A6C34878D82A}">
                    <a16:rowId xmlns:a16="http://schemas.microsoft.com/office/drawing/2014/main" val="10001"/>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Vulnerability Explanation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2"/>
                  </a:ext>
                </a:extLst>
              </a:tr>
              <a:tr h="1033000">
                <a:tc gridSpan="2">
                  <a:txBody>
                    <a:bodyPr/>
                    <a:lstStyle/>
                    <a:p>
                      <a:r>
                        <a:rPr lang="en-US" sz="1400" b="0" i="0" u="none" strike="noStrike" cap="none" baseline="0" dirty="0" smtClean="0">
                          <a:solidFill>
                            <a:srgbClr val="000000"/>
                          </a:solidFill>
                          <a:latin typeface="Arial"/>
                          <a:ea typeface="Arial"/>
                          <a:cs typeface="Arial"/>
                          <a:sym typeface="Arial"/>
                        </a:rPr>
                        <a:t>Ability to display the customers using </a:t>
                      </a:r>
                      <a:r>
                        <a:rPr lang="en-US" sz="1400" b="0" i="0" u="none" strike="noStrike" cap="none" baseline="0" dirty="0" err="1" smtClean="0">
                          <a:solidFill>
                            <a:srgbClr val="000000"/>
                          </a:solidFill>
                          <a:latin typeface="Arial"/>
                          <a:ea typeface="Arial"/>
                          <a:cs typeface="Arial"/>
                          <a:sym typeface="Arial"/>
                        </a:rPr>
                        <a:t>sql</a:t>
                      </a:r>
                      <a:r>
                        <a:rPr lang="en-US" sz="1400" b="0" i="0" u="none" strike="noStrike" cap="none" baseline="0" dirty="0" smtClean="0">
                          <a:solidFill>
                            <a:srgbClr val="000000"/>
                          </a:solidFill>
                          <a:latin typeface="Arial"/>
                          <a:ea typeface="Arial"/>
                          <a:cs typeface="Arial"/>
                          <a:sym typeface="Arial"/>
                        </a:rPr>
                        <a:t> injection in the </a:t>
                      </a:r>
                      <a:r>
                        <a:rPr lang="en-US" sz="1400" b="0" i="0" u="none" strike="noStrike" cap="none" baseline="0" dirty="0" err="1" smtClean="0">
                          <a:solidFill>
                            <a:srgbClr val="000000"/>
                          </a:solidFill>
                          <a:latin typeface="Arial"/>
                          <a:ea typeface="Arial"/>
                          <a:cs typeface="Arial"/>
                          <a:sym typeface="Arial"/>
                        </a:rPr>
                        <a:t>url</a:t>
                      </a:r>
                      <a:r>
                        <a:rPr lang="en-US" sz="1400" b="0" i="0" u="none" strike="noStrike" cap="none" baseline="0" dirty="0" smtClean="0">
                          <a:solidFill>
                            <a:srgbClr val="000000"/>
                          </a:solidFill>
                          <a:latin typeface="Arial"/>
                          <a:ea typeface="Arial"/>
                          <a:cs typeface="Arial"/>
                          <a:sym typeface="Arial"/>
                        </a:rPr>
                        <a:t> </a:t>
                      </a:r>
                    </a:p>
                    <a:p>
                      <a:r>
                        <a:rPr lang="en-US" sz="1400" b="1" i="0" u="none" strike="noStrike" cap="none" baseline="0" dirty="0" smtClean="0">
                          <a:solidFill>
                            <a:srgbClr val="000000"/>
                          </a:solidFill>
                          <a:latin typeface="Arial"/>
                          <a:ea typeface="Arial"/>
                          <a:cs typeface="Arial"/>
                          <a:sym typeface="Arial"/>
                        </a:rPr>
                        <a:t>Vulnerability Walk-thru: </a:t>
                      </a:r>
                      <a:endParaRPr lang="en-US" sz="1400" b="0" i="0" u="none" strike="noStrike" cap="none" baseline="0" dirty="0" smtClean="0">
                        <a:solidFill>
                          <a:srgbClr val="000000"/>
                        </a:solidFill>
                        <a:latin typeface="Arial"/>
                        <a:ea typeface="Arial"/>
                        <a:cs typeface="Arial"/>
                        <a:sym typeface="Arial"/>
                      </a:endParaRPr>
                    </a:p>
                    <a:p>
                      <a:r>
                        <a:rPr lang="en-US" sz="1400" b="0" i="0" u="none" strike="noStrike" cap="none" baseline="0" dirty="0" smtClean="0">
                          <a:solidFill>
                            <a:srgbClr val="000000"/>
                          </a:solidFill>
                          <a:latin typeface="Arial"/>
                          <a:ea typeface="Arial"/>
                          <a:cs typeface="Arial"/>
                          <a:sym typeface="Arial"/>
                        </a:rPr>
                        <a:t>1- Login to the system </a:t>
                      </a:r>
                    </a:p>
                    <a:p>
                      <a:r>
                        <a:rPr lang="en-US" sz="1400" b="0" i="0" u="none" strike="noStrike" cap="none" baseline="0" dirty="0" smtClean="0">
                          <a:solidFill>
                            <a:srgbClr val="000000"/>
                          </a:solidFill>
                          <a:latin typeface="Arial"/>
                          <a:ea typeface="Arial"/>
                          <a:cs typeface="Arial"/>
                          <a:sym typeface="Arial"/>
                        </a:rPr>
                        <a:t>2- Escalate Privileges via cookies </a:t>
                      </a:r>
                    </a:p>
                    <a:p>
                      <a:r>
                        <a:rPr lang="en-US" sz="1400" b="0" i="0" u="none" strike="noStrike" cap="none" baseline="0" dirty="0" smtClean="0">
                          <a:solidFill>
                            <a:srgbClr val="000000"/>
                          </a:solidFill>
                          <a:latin typeface="Arial"/>
                          <a:ea typeface="Arial"/>
                          <a:cs typeface="Arial"/>
                          <a:sym typeface="Arial"/>
                        </a:rPr>
                        <a:t>3- Go to customers tab </a:t>
                      </a:r>
                    </a:p>
                    <a:p>
                      <a:r>
                        <a:rPr lang="en-US" sz="1400" b="0" i="0" u="none" strike="noStrike" cap="none" baseline="0" dirty="0" smtClean="0">
                          <a:solidFill>
                            <a:srgbClr val="000000"/>
                          </a:solidFill>
                          <a:latin typeface="Arial"/>
                          <a:ea typeface="Arial"/>
                          <a:cs typeface="Arial"/>
                          <a:sym typeface="Arial"/>
                        </a:rPr>
                        <a:t>4- Edit the </a:t>
                      </a:r>
                      <a:r>
                        <a:rPr lang="en-US" sz="1400" b="0" i="0" u="none" strike="noStrike" cap="none" baseline="0" dirty="0" err="1" smtClean="0">
                          <a:solidFill>
                            <a:srgbClr val="000000"/>
                          </a:solidFill>
                          <a:latin typeface="Arial"/>
                          <a:ea typeface="Arial"/>
                          <a:cs typeface="Arial"/>
                          <a:sym typeface="Arial"/>
                        </a:rPr>
                        <a:t>url</a:t>
                      </a:r>
                      <a:r>
                        <a:rPr lang="en-US" sz="1400" b="0" i="0" u="none" strike="noStrike" cap="none" baseline="0" dirty="0" smtClean="0">
                          <a:solidFill>
                            <a:srgbClr val="000000"/>
                          </a:solidFill>
                          <a:latin typeface="Arial"/>
                          <a:ea typeface="Arial"/>
                          <a:cs typeface="Arial"/>
                          <a:sym typeface="Arial"/>
                        </a:rPr>
                        <a:t> and add ‘ or 1=’1 to the end of it </a:t>
                      </a:r>
                      <a:endParaRPr lang="en-US" sz="1400" b="0" i="0" u="none" strike="noStrike" cap="none" baseline="0" dirty="0" smtClean="0">
                        <a:solidFill>
                          <a:srgbClr val="000000"/>
                        </a:solidFill>
                        <a:latin typeface="Arial"/>
                        <a:ea typeface="Arial"/>
                        <a:cs typeface="Arial"/>
                        <a:sym typeface="Arial"/>
                      </a:endParaRPr>
                    </a:p>
                  </a:txBody>
                  <a:tcPr marL="91425" marR="91425" marT="91425" marB="91425"/>
                </a:tc>
                <a:tc hMerge="1">
                  <a:txBody>
                    <a:bodyPr/>
                    <a:lstStyle/>
                    <a:p>
                      <a:endParaRPr lang="en-US"/>
                    </a:p>
                  </a:txBody>
                  <a:tcPr/>
                </a:tc>
                <a:extLst>
                  <a:ext uri="{0D108BD9-81ED-4DB2-BD59-A6C34878D82A}">
                    <a16:rowId xmlns:a16="http://schemas.microsoft.com/office/drawing/2014/main" val="10003"/>
                  </a:ext>
                </a:extLst>
              </a:tr>
              <a:tr h="518650">
                <a:tc gridSpan="2">
                  <a:txBody>
                    <a:bodyPr/>
                    <a:lstStyle/>
                    <a:p>
                      <a:pPr marL="0" lvl="0" indent="0" algn="l" rtl="0">
                        <a:spcBef>
                          <a:spcPts val="0"/>
                        </a:spcBef>
                        <a:spcAft>
                          <a:spcPts val="0"/>
                        </a:spcAft>
                        <a:buNone/>
                      </a:pPr>
                      <a:r>
                        <a:rPr lang="en" sz="1800" b="1" i="1">
                          <a:solidFill>
                            <a:schemeClr val="dk2"/>
                          </a:solidFill>
                          <a:latin typeface="Open Sans"/>
                          <a:ea typeface="Open Sans"/>
                          <a:cs typeface="Open Sans"/>
                          <a:sym typeface="Open Sans"/>
                        </a:rPr>
                        <a:t>Remediation recommendation</a:t>
                      </a:r>
                      <a:endParaRPr sz="1800" b="1" i="1">
                        <a:solidFill>
                          <a:schemeClr val="dk2"/>
                        </a:solidFill>
                        <a:latin typeface="Open Sans"/>
                        <a:ea typeface="Open Sans"/>
                        <a:cs typeface="Open Sans"/>
                        <a:sym typeface="Open Sans"/>
                      </a:endParaRPr>
                    </a:p>
                  </a:txBody>
                  <a:tcPr marL="91425" marR="91425" marT="91425" marB="91425"/>
                </a:tc>
                <a:tc hMerge="1">
                  <a:txBody>
                    <a:bodyPr/>
                    <a:lstStyle/>
                    <a:p>
                      <a:endParaRPr lang="en-US"/>
                    </a:p>
                  </a:txBody>
                  <a:tcPr/>
                </a:tc>
                <a:extLst>
                  <a:ext uri="{0D108BD9-81ED-4DB2-BD59-A6C34878D82A}">
                    <a16:rowId xmlns:a16="http://schemas.microsoft.com/office/drawing/2014/main" val="10004"/>
                  </a:ext>
                </a:extLst>
              </a:tr>
              <a:tr h="1486125">
                <a:tc gridSpan="2">
                  <a:txBody>
                    <a:bodyPr/>
                    <a:lstStyle/>
                    <a:p>
                      <a:pPr marL="0" lvl="0" indent="0" algn="l" rtl="0">
                        <a:spcBef>
                          <a:spcPts val="0"/>
                        </a:spcBef>
                        <a:spcAft>
                          <a:spcPts val="0"/>
                        </a:spcAft>
                        <a:buNone/>
                      </a:pPr>
                      <a:r>
                        <a:rPr lang="en-US" sz="1400" b="0" i="0" u="none" strike="noStrike" cap="none" baseline="0" dirty="0" smtClean="0">
                          <a:solidFill>
                            <a:srgbClr val="000000"/>
                          </a:solidFill>
                          <a:latin typeface="Arial"/>
                          <a:ea typeface="Arial"/>
                          <a:cs typeface="Arial"/>
                          <a:sym typeface="Arial"/>
                        </a:rPr>
                        <a:t>https://cheatsheetseries.owasp.org/cheatsheets/Injection_Prevention_Cheat_Sheet.html </a:t>
                      </a:r>
                      <a:endParaRPr sz="1800" i="1" dirty="0">
                        <a:solidFill>
                          <a:schemeClr val="dk2"/>
                        </a:solidFill>
                        <a:latin typeface="Open Sans Light"/>
                        <a:ea typeface="Open Sans Light"/>
                        <a:cs typeface="Open Sans Light"/>
                        <a:sym typeface="Open Sans Light"/>
                      </a:endParaRPr>
                    </a:p>
                  </a:txBody>
                  <a:tcPr marL="91425" marR="91425" marT="91425" marB="91425"/>
                </a:tc>
                <a:tc hMerge="1">
                  <a:txBody>
                    <a:bodyPr/>
                    <a:lstStyle/>
                    <a:p>
                      <a:endParaRPr lang="en-US"/>
                    </a:p>
                  </a:txBody>
                  <a:tcPr/>
                </a:tc>
                <a:extLst>
                  <a:ext uri="{0D108BD9-81ED-4DB2-BD59-A6C34878D82A}">
                    <a16:rowId xmlns:a16="http://schemas.microsoft.com/office/drawing/2014/main" val="10005"/>
                  </a:ext>
                </a:extLst>
              </a:tr>
            </a:tbl>
          </a:graphicData>
        </a:graphic>
      </p:graphicFrame>
      <p:graphicFrame>
        <p:nvGraphicFramePr>
          <p:cNvPr id="235" name="Google Shape;235;p38"/>
          <p:cNvGraphicFramePr/>
          <p:nvPr/>
        </p:nvGraphicFramePr>
        <p:xfrm>
          <a:off x="264900" y="8428425"/>
          <a:ext cx="7242600" cy="73149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pPr marL="0" lvl="0" indent="0" algn="l" rtl="0">
                        <a:spcBef>
                          <a:spcPts val="0"/>
                        </a:spcBef>
                        <a:spcAft>
                          <a:spcPts val="0"/>
                        </a:spcAft>
                        <a:buNone/>
                      </a:pPr>
                      <a:r>
                        <a:rPr lang="en" sz="1800" i="1">
                          <a:solidFill>
                            <a:schemeClr val="dk2"/>
                          </a:solidFill>
                          <a:latin typeface="Open Sans Light"/>
                          <a:ea typeface="Open Sans Light"/>
                          <a:cs typeface="Open Sans Light"/>
                          <a:sym typeface="Open Sans Light"/>
                        </a:rPr>
                        <a:t>On the following slide(s) provide the steps to reproduce the vulnerability, using a combination of writing and annotated screenshots.</a:t>
                      </a:r>
                      <a:endParaRPr sz="1800">
                        <a:solidFill>
                          <a:srgbClr val="525C65"/>
                        </a:solidFill>
                        <a:latin typeface="Open Sans"/>
                        <a:ea typeface="Open Sans"/>
                        <a:cs typeface="Open Sans"/>
                        <a:sym typeface="Open Sans"/>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SQLi</a:t>
            </a:r>
            <a:endParaRPr/>
          </a:p>
        </p:txBody>
      </p:sp>
      <p:graphicFrame>
        <p:nvGraphicFramePr>
          <p:cNvPr id="241" name="Google Shape;241;p39"/>
          <p:cNvGraphicFramePr/>
          <p:nvPr>
            <p:extLst>
              <p:ext uri="{D42A27DB-BD31-4B8C-83A1-F6EECF244321}">
                <p14:modId xmlns:p14="http://schemas.microsoft.com/office/powerpoint/2010/main" val="3161855848"/>
              </p:ext>
            </p:extLst>
          </p:nvPr>
        </p:nvGraphicFramePr>
        <p:xfrm>
          <a:off x="264900" y="1990175"/>
          <a:ext cx="7242600" cy="484629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r>
                        <a:rPr lang="en-US" sz="1800" b="1" dirty="0" smtClean="0"/>
                        <a:t>Step 1: Log in to the Application</a:t>
                      </a:r>
                    </a:p>
                    <a:p>
                      <a:pPr marL="285750" indent="-285750">
                        <a:buFont typeface="Arial" panose="020B0604020202020204" pitchFamily="34" charset="0"/>
                        <a:buChar char="•"/>
                      </a:pPr>
                      <a:r>
                        <a:rPr lang="en-US" sz="1800" dirty="0" smtClean="0"/>
                        <a:t>Navigate to the VWA login page</a:t>
                      </a:r>
                    </a:p>
                    <a:p>
                      <a:pPr marL="285750" indent="-285750">
                        <a:buFont typeface="Arial" panose="020B0604020202020204" pitchFamily="34" charset="0"/>
                        <a:buChar char="•"/>
                      </a:pPr>
                      <a:r>
                        <a:rPr lang="en-US" sz="1800" dirty="0" smtClean="0"/>
                        <a:t>Enter valid credentials (obtained via brute force or cookie manipulation)</a:t>
                      </a:r>
                    </a:p>
                    <a:p>
                      <a:pPr marL="285750" indent="-285750">
                        <a:buFont typeface="Arial" panose="020B0604020202020204" pitchFamily="34" charset="0"/>
                        <a:buChar char="•"/>
                      </a:pPr>
                      <a:r>
                        <a:rPr lang="en-US" sz="1800" dirty="0" smtClean="0"/>
                        <a:t>Click </a:t>
                      </a:r>
                      <a:r>
                        <a:rPr lang="en-US" sz="1800" b="1" dirty="0" smtClean="0"/>
                        <a:t>Login</a:t>
                      </a:r>
                      <a:endParaRPr lang="en-US" sz="1800" dirty="0" smtClean="0"/>
                    </a:p>
                    <a:p>
                      <a:r>
                        <a:rPr lang="en-US" sz="1800" b="1" dirty="0" smtClean="0"/>
                        <a:t>Step 2: Escalate Privileges via Cookie Manipulation</a:t>
                      </a:r>
                    </a:p>
                    <a:p>
                      <a:pPr marL="285750" indent="-285750">
                        <a:buFont typeface="Arial" panose="020B0604020202020204" pitchFamily="34" charset="0"/>
                        <a:buChar char="•"/>
                      </a:pPr>
                      <a:r>
                        <a:rPr lang="en-US" sz="1800" dirty="0" smtClean="0"/>
                        <a:t>Open </a:t>
                      </a:r>
                      <a:r>
                        <a:rPr lang="en-US" sz="1800" b="1" dirty="0" smtClean="0"/>
                        <a:t>Developer Tools</a:t>
                      </a:r>
                      <a:r>
                        <a:rPr lang="en-US" sz="1800" dirty="0" smtClean="0"/>
                        <a:t> (F12) → </a:t>
                      </a:r>
                      <a:r>
                        <a:rPr lang="en-US" sz="1800" b="1" dirty="0" smtClean="0"/>
                        <a:t>Application</a:t>
                      </a:r>
                      <a:r>
                        <a:rPr lang="en-US" sz="1800" dirty="0" smtClean="0"/>
                        <a:t> tab → </a:t>
                      </a:r>
                      <a:r>
                        <a:rPr lang="en-US" sz="1800" b="1" dirty="0" smtClean="0"/>
                        <a:t>Cookies</a:t>
                      </a:r>
                      <a:endParaRPr lang="en-US" sz="1800" dirty="0" smtClean="0"/>
                    </a:p>
                    <a:p>
                      <a:pPr marL="285750" indent="-285750">
                        <a:buFont typeface="Arial" panose="020B0604020202020204" pitchFamily="34" charset="0"/>
                        <a:buChar char="•"/>
                      </a:pPr>
                      <a:r>
                        <a:rPr lang="en-US" sz="1800" dirty="0" smtClean="0"/>
                        <a:t>Copy the current cookie value</a:t>
                      </a:r>
                    </a:p>
                    <a:p>
                      <a:pPr marL="285750" indent="-285750">
                        <a:buFont typeface="Arial" panose="020B0604020202020204" pitchFamily="34" charset="0"/>
                        <a:buChar char="•"/>
                      </a:pPr>
                      <a:r>
                        <a:rPr lang="en-US" sz="1800" dirty="0" smtClean="0"/>
                        <a:t>Decode using Base64 (shows regular user role, e.g., 0:user)</a:t>
                      </a:r>
                    </a:p>
                    <a:p>
                      <a:pPr marL="285750" indent="-285750">
                        <a:buFont typeface="Arial" panose="020B0604020202020204" pitchFamily="34" charset="0"/>
                        <a:buChar char="•"/>
                      </a:pPr>
                      <a:r>
                        <a:rPr lang="en-US" sz="1800" dirty="0" smtClean="0"/>
                        <a:t>Encode 1:admin to Base64</a:t>
                      </a:r>
                    </a:p>
                    <a:p>
                      <a:pPr marL="285750" indent="-285750">
                        <a:buFont typeface="Arial" panose="020B0604020202020204" pitchFamily="34" charset="0"/>
                        <a:buChar char="•"/>
                      </a:pPr>
                      <a:r>
                        <a:rPr lang="en-US" sz="1800" dirty="0" smtClean="0"/>
                        <a:t>Replace the original cookie value with the new encoded value</a:t>
                      </a:r>
                    </a:p>
                    <a:p>
                      <a:pPr marL="285750" indent="-285750">
                        <a:buFont typeface="Arial" panose="020B0604020202020204" pitchFamily="34" charset="0"/>
                        <a:buChar char="•"/>
                      </a:pPr>
                      <a:r>
                        <a:rPr lang="en-US" sz="1800" dirty="0" smtClean="0"/>
                        <a:t>Refresh the page</a:t>
                      </a:r>
                    </a:p>
                    <a:p>
                      <a:r>
                        <a:rPr lang="en-US" sz="1800" b="1" dirty="0" smtClean="0"/>
                        <a:t>Step 3: Navigate to Customers Tab</a:t>
                      </a:r>
                    </a:p>
                    <a:p>
                      <a:pPr marL="285750" indent="-285750">
                        <a:buFont typeface="Arial" panose="020B0604020202020204" pitchFamily="34" charset="0"/>
                        <a:buChar char="•"/>
                      </a:pPr>
                      <a:r>
                        <a:rPr lang="en-US" sz="1800" dirty="0" smtClean="0"/>
                        <a:t>After gaining admin access, click on the </a:t>
                      </a:r>
                      <a:r>
                        <a:rPr lang="en-US" sz="1800" b="1" dirty="0" smtClean="0"/>
                        <a:t>Customers</a:t>
                      </a:r>
                      <a:r>
                        <a:rPr lang="en-US" sz="1800" dirty="0" smtClean="0"/>
                        <a:t> link in the navigation menu</a:t>
                      </a:r>
                    </a:p>
                    <a:p>
                      <a:pPr marL="285750" indent="-285750">
                        <a:buFont typeface="Arial" panose="020B0604020202020204" pitchFamily="34" charset="0"/>
                        <a:buChar char="•"/>
                      </a:pPr>
                      <a:r>
                        <a:rPr lang="en-US" sz="1800" dirty="0" smtClean="0"/>
                        <a:t>The page displays a list of customers (normally showing limited data)</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SQLi</a:t>
            </a:r>
            <a:endParaRPr/>
          </a:p>
        </p:txBody>
      </p:sp>
      <p:graphicFrame>
        <p:nvGraphicFramePr>
          <p:cNvPr id="241" name="Google Shape;241;p39"/>
          <p:cNvGraphicFramePr/>
          <p:nvPr>
            <p:extLst>
              <p:ext uri="{D42A27DB-BD31-4B8C-83A1-F6EECF244321}">
                <p14:modId xmlns:p14="http://schemas.microsoft.com/office/powerpoint/2010/main" val="3743630037"/>
              </p:ext>
            </p:extLst>
          </p:nvPr>
        </p:nvGraphicFramePr>
        <p:xfrm>
          <a:off x="264900" y="1990175"/>
          <a:ext cx="7242600" cy="4023330"/>
        </p:xfrm>
        <a:graphic>
          <a:graphicData uri="http://schemas.openxmlformats.org/drawingml/2006/table">
            <a:tbl>
              <a:tblPr>
                <a:noFill/>
                <a:tableStyleId>{F38BC5F6-6159-4CF2-BBDA-C664A75A62ED}</a:tableStyleId>
              </a:tblPr>
              <a:tblGrid>
                <a:gridCol w="7242600">
                  <a:extLst>
                    <a:ext uri="{9D8B030D-6E8A-4147-A177-3AD203B41FA5}">
                      <a16:colId xmlns:a16="http://schemas.microsoft.com/office/drawing/2014/main" val="20000"/>
                    </a:ext>
                  </a:extLst>
                </a:gridCol>
              </a:tblGrid>
              <a:tr h="595125">
                <a:tc>
                  <a:txBody>
                    <a:bodyPr/>
                    <a:lstStyle/>
                    <a:p>
                      <a:r>
                        <a:rPr lang="en-US" sz="1800" b="1" dirty="0" smtClean="0"/>
                        <a:t>Step 4: Modify the URL to Inject SQL</a:t>
                      </a:r>
                    </a:p>
                    <a:p>
                      <a:pPr marL="285750" indent="-285750">
                        <a:buFont typeface="Arial" panose="020B0604020202020204" pitchFamily="34" charset="0"/>
                        <a:buChar char="•"/>
                      </a:pPr>
                      <a:r>
                        <a:rPr lang="en-US" sz="1800" dirty="0" smtClean="0"/>
                        <a:t>Look at the current URL in the address bar (e.g., http://vwa-app/customers?id=1)</a:t>
                      </a:r>
                    </a:p>
                    <a:p>
                      <a:pPr marL="285750" indent="-285750">
                        <a:buFont typeface="Arial" panose="020B0604020202020204" pitchFamily="34" charset="0"/>
                        <a:buChar char="•"/>
                      </a:pPr>
                      <a:r>
                        <a:rPr lang="en-US" sz="1800" dirty="0" smtClean="0"/>
                        <a:t>Edit the URL by appending a SQL injection payload:</a:t>
                      </a:r>
                    </a:p>
                    <a:p>
                      <a:pPr marL="285750" indent="-285750">
                        <a:buFont typeface="Arial" panose="020B0604020202020204" pitchFamily="34" charset="0"/>
                        <a:buChar char="•"/>
                      </a:pPr>
                      <a:r>
                        <a:rPr lang="en-US" sz="1800" dirty="0" smtClean="0"/>
                        <a:t>text</a:t>
                      </a:r>
                    </a:p>
                    <a:p>
                      <a:pPr marL="285750" indent="-285750">
                        <a:buFont typeface="Arial" panose="020B0604020202020204" pitchFamily="34" charset="0"/>
                        <a:buChar char="•"/>
                      </a:pPr>
                      <a:r>
                        <a:rPr lang="en-US" sz="1800" dirty="0" smtClean="0"/>
                        <a:t>http://vwa-app/customers?id=1' or '1'='1</a:t>
                      </a:r>
                    </a:p>
                    <a:p>
                      <a:pPr marL="285750" indent="-285750">
                        <a:buFont typeface="Arial" panose="020B0604020202020204" pitchFamily="34" charset="0"/>
                        <a:buChar char="•"/>
                      </a:pPr>
                      <a:r>
                        <a:rPr lang="en-US" sz="1800" dirty="0" smtClean="0"/>
                        <a:t>or</a:t>
                      </a:r>
                    </a:p>
                    <a:p>
                      <a:pPr marL="285750" indent="-285750">
                        <a:buFont typeface="Arial" panose="020B0604020202020204" pitchFamily="34" charset="0"/>
                        <a:buChar char="•"/>
                      </a:pPr>
                      <a:r>
                        <a:rPr lang="en-US" sz="1800" dirty="0" smtClean="0"/>
                        <a:t>text</a:t>
                      </a:r>
                    </a:p>
                    <a:p>
                      <a:pPr marL="285750" indent="-285750">
                        <a:buFont typeface="Arial" panose="020B0604020202020204" pitchFamily="34" charset="0"/>
                        <a:buChar char="•"/>
                      </a:pPr>
                      <a:r>
                        <a:rPr lang="en-US" sz="1800" dirty="0" smtClean="0"/>
                        <a:t>http://vwa-app/customers?id=1 or 1=1</a:t>
                      </a:r>
                    </a:p>
                    <a:p>
                      <a:pPr marL="285750" indent="-285750">
                        <a:buFont typeface="Arial" panose="020B0604020202020204" pitchFamily="34" charset="0"/>
                        <a:buChar char="•"/>
                      </a:pPr>
                      <a:r>
                        <a:rPr lang="en-US" sz="1800" dirty="0" smtClean="0"/>
                        <a:t>Press </a:t>
                      </a:r>
                      <a:r>
                        <a:rPr lang="en-US" sz="1800" b="1" dirty="0" smtClean="0"/>
                        <a:t>Enter</a:t>
                      </a:r>
                      <a:r>
                        <a:rPr lang="en-US" sz="1800" dirty="0" smtClean="0"/>
                        <a:t> to load the modified URL</a:t>
                      </a:r>
                    </a:p>
                    <a:p>
                      <a:r>
                        <a:rPr lang="en-US" sz="1800" b="1" dirty="0" smtClean="0"/>
                        <a:t>Step 5: Observe the Results</a:t>
                      </a:r>
                    </a:p>
                    <a:p>
                      <a:pPr marL="285750" indent="-285750">
                        <a:buFont typeface="Arial" panose="020B0604020202020204" pitchFamily="34" charset="0"/>
                        <a:buChar char="•"/>
                      </a:pPr>
                      <a:r>
                        <a:rPr lang="en-US" sz="1800" dirty="0" smtClean="0"/>
                        <a:t>The page now displays </a:t>
                      </a:r>
                      <a:r>
                        <a:rPr lang="en-US" sz="1800" b="1" dirty="0" smtClean="0"/>
                        <a:t>all customer records</a:t>
                      </a:r>
                      <a:r>
                        <a:rPr lang="en-US" sz="1800" dirty="0" smtClean="0"/>
                        <a:t> instead of just one</a:t>
                      </a:r>
                    </a:p>
                    <a:p>
                      <a:pPr marL="285750" indent="-285750">
                        <a:buFont typeface="Arial" panose="020B0604020202020204" pitchFamily="34" charset="0"/>
                        <a:buChar char="•"/>
                      </a:pPr>
                      <a:r>
                        <a:rPr lang="en-US" sz="1800" dirty="0" smtClean="0"/>
                        <a:t>Sensitive data including names, emails, and password hashes are exposed</a:t>
                      </a: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272363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264945" y="870271"/>
            <a:ext cx="7242600" cy="1119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SQLi</a:t>
            </a:r>
            <a:endParaRPr/>
          </a:p>
        </p:txBody>
      </p:sp>
      <p:pic>
        <p:nvPicPr>
          <p:cNvPr id="2" name="Picture 1"/>
          <p:cNvPicPr>
            <a:picLocks noChangeAspect="1"/>
          </p:cNvPicPr>
          <p:nvPr/>
        </p:nvPicPr>
        <p:blipFill>
          <a:blip r:embed="rId3"/>
          <a:stretch>
            <a:fillRect/>
          </a:stretch>
        </p:blipFill>
        <p:spPr>
          <a:xfrm>
            <a:off x="447931" y="6678775"/>
            <a:ext cx="6156101" cy="3073940"/>
          </a:xfrm>
          <a:prstGeom prst="rect">
            <a:avLst/>
          </a:prstGeom>
        </p:spPr>
      </p:pic>
      <p:pic>
        <p:nvPicPr>
          <p:cNvPr id="3" name="Picture 2"/>
          <p:cNvPicPr>
            <a:picLocks noChangeAspect="1"/>
          </p:cNvPicPr>
          <p:nvPr/>
        </p:nvPicPr>
        <p:blipFill>
          <a:blip r:embed="rId4"/>
          <a:stretch>
            <a:fillRect/>
          </a:stretch>
        </p:blipFill>
        <p:spPr>
          <a:xfrm>
            <a:off x="264945" y="3546763"/>
            <a:ext cx="6884670" cy="1961450"/>
          </a:xfrm>
          <a:prstGeom prst="rect">
            <a:avLst/>
          </a:prstGeom>
        </p:spPr>
      </p:pic>
    </p:spTree>
    <p:extLst>
      <p:ext uri="{BB962C8B-B14F-4D97-AF65-F5344CB8AC3E}">
        <p14:creationId xmlns:p14="http://schemas.microsoft.com/office/powerpoint/2010/main" val="1840418670"/>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3537</Words>
  <Application>Microsoft Office PowerPoint</Application>
  <PresentationFormat>Custom</PresentationFormat>
  <Paragraphs>311</Paragraphs>
  <Slides>35</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Helvetica Neue</vt:lpstr>
      <vt:lpstr>Open Sans Light</vt:lpstr>
      <vt:lpstr>Open Sans</vt:lpstr>
      <vt:lpstr>Arial</vt:lpstr>
      <vt:lpstr>Simple Light</vt:lpstr>
      <vt:lpstr>Vulnerable Web Application </vt:lpstr>
      <vt:lpstr>How to Use this Template</vt:lpstr>
      <vt:lpstr>Project Scenario</vt:lpstr>
      <vt:lpstr>Section One: Static Code Scan</vt:lpstr>
      <vt:lpstr>Static Code Scan</vt:lpstr>
      <vt:lpstr>Issue: B106</vt:lpstr>
      <vt:lpstr>Issue: B108</vt:lpstr>
      <vt:lpstr>Issue: B303</vt:lpstr>
      <vt:lpstr>Issue: B311</vt:lpstr>
      <vt:lpstr>Issue: B320</vt:lpstr>
      <vt:lpstr>Issue: B603</vt:lpstr>
      <vt:lpstr>Issue: B703</vt:lpstr>
      <vt:lpstr>Section Two: Assess the Web Application</vt:lpstr>
      <vt:lpstr>Manually Assess the Web Application and Identify Vulnerabilities</vt:lpstr>
      <vt:lpstr>Tools you may need</vt:lpstr>
      <vt:lpstr>Instructions</vt:lpstr>
      <vt:lpstr>Tips</vt:lpstr>
      <vt:lpstr>Tips</vt:lpstr>
      <vt:lpstr>Section Three: Security Report</vt:lpstr>
      <vt:lpstr>Security Report</vt:lpstr>
      <vt:lpstr>Important Considerations</vt:lpstr>
      <vt:lpstr>Server-Side Request Forgery (SSRF)</vt:lpstr>
      <vt:lpstr>Broken Authentication</vt:lpstr>
      <vt:lpstr>Broken Authentication</vt:lpstr>
      <vt:lpstr>Cross-Site Scripting (XSS)</vt:lpstr>
      <vt:lpstr>Cross-Site Scripting (XSS)</vt:lpstr>
      <vt:lpstr>Broken Access</vt:lpstr>
      <vt:lpstr>Broken Access</vt:lpstr>
      <vt:lpstr>Broken Access</vt:lpstr>
      <vt:lpstr>Sensitive Data Exposure</vt:lpstr>
      <vt:lpstr>Sensitive Data Exposure</vt:lpstr>
      <vt:lpstr>SQLi</vt:lpstr>
      <vt:lpstr>SQLi</vt:lpstr>
      <vt:lpstr>SQLi</vt:lpstr>
      <vt:lpstr>SQLi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Vulnerable Web Application </dc:title>
  <cp:lastModifiedBy>Fatma Alzahra Alemam</cp:lastModifiedBy>
  <cp:revision>25</cp:revision>
  <dcterms:modified xsi:type="dcterms:W3CDTF">2026-03-13T17:09:56Z</dcterms:modified>
</cp:coreProperties>
</file>